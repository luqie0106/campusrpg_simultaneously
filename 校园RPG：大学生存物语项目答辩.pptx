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11.fntdata" ContentType="application/x-fontdata"/>
  <Override PartName="/ppt/fonts/font12.fntdata" ContentType="application/x-fontdata"/>
  <Override PartName="/ppt/fonts/font13.fntdata" ContentType="application/x-fontdata"/>
  <Override PartName="/ppt/fonts/font14.fntdata" ContentType="application/x-fontdata"/>
  <Override PartName="/ppt/fonts/font15.fntdata" ContentType="application/x-fontdata"/>
  <Override PartName="/ppt/fonts/font16.fntdata" ContentType="application/x-fontdata"/>
  <Override PartName="/ppt/fonts/font17.fntdata" ContentType="application/x-fontdata"/>
  <Override PartName="/ppt/fonts/font18.fntdata" ContentType="application/x-fontdata"/>
  <Override PartName="/ppt/fonts/font19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media/image27.svg" ContentType="image/svg+xml"/>
  <Override PartName="/ppt/media/image2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12192000" cy="6858000"/>
  <p:notesSz cx="6858000" cy="9144000"/>
  <p:embeddedFontLst>
    <p:embeddedFont>
      <p:font typeface="Calibri" panose="020F0502020204030204"/>
      <p:regular r:id="rId21"/>
      <p:bold r:id="rId22"/>
      <p:italic r:id="rId23"/>
      <p:boldItalic r:id="rId24"/>
    </p:embeddedFont>
    <p:embeddedFont>
      <p:font typeface="Comfortaa"/>
      <p:regular r:id="rId25"/>
      <p:bold r:id="rId26"/>
    </p:embeddedFont>
    <p:embeddedFont>
      <p:font typeface="Inter" panose="02000503000000020004"/>
      <p:regular r:id="rId27"/>
      <p:bold r:id="rId28"/>
      <p:italic r:id="rId29"/>
      <p:boldItalic r:id="rId30"/>
    </p:embeddedFont>
    <p:embeddedFont>
      <p:font typeface="JetBrains Mono Medium" panose="02000009000000000000"/>
      <p:regular r:id="rId31"/>
      <p:bold r:id="rId32"/>
      <p:italic r:id="rId33"/>
      <p:boldItalic r:id="rId34"/>
    </p:embeddedFont>
    <p:embeddedFont>
      <p:font typeface="Inter Medium" panose="02000503000000020004"/>
      <p:regular r:id="rId35"/>
      <p:bold r:id="rId36"/>
      <p:italic r:id="rId37"/>
      <p:boldItalic r:id="rId38"/>
    </p:embeddedFont>
    <p:embeddedFont>
      <p:font typeface="黑体" panose="02010609060101010101" charset="-122"/>
      <p:regular r:id="rId3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000000"/>
          </p15:clr>
        </p15:guide>
        <p15:guide id="2" pos="2886" userDrawn="1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579CC66-B2EF-4C60-BFF7-A1B67CE13D10}" styleName="Table_0">
    <a:wholeTbl>
      <a:tcTxStyle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Style>
        <a:tcBdr/>
        <a:fill>
          <a:solidFill>
            <a:srgbClr val="CFD7E7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FD7E7"/>
          </a:solidFill>
        </a:fill>
      </a:tcStyle>
    </a:band1V>
    <a:band2V>
      <a:tcStyle>
        <a:tcBdr/>
      </a:tcStyle>
    </a:band2V>
    <a:la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01"/>
    <p:restoredTop sz="94653"/>
  </p:normalViewPr>
  <p:slideViewPr>
    <p:cSldViewPr snapToGrid="0" showGuides="1">
      <p:cViewPr varScale="1">
        <p:scale>
          <a:sx n="118" d="100"/>
          <a:sy n="118" d="100"/>
        </p:scale>
        <p:origin x="552" y="-816"/>
      </p:cViewPr>
      <p:guideLst>
        <p:guide orient="horz" pos="2160"/>
        <p:guide pos="288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9" Type="http://schemas.openxmlformats.org/officeDocument/2006/relationships/font" Target="fonts/font19.fntdata"/><Relationship Id="rId38" Type="http://schemas.openxmlformats.org/officeDocument/2006/relationships/font" Target="fonts/font18.fntdata"/><Relationship Id="rId37" Type="http://schemas.openxmlformats.org/officeDocument/2006/relationships/font" Target="fonts/font17.fntdata"/><Relationship Id="rId36" Type="http://schemas.openxmlformats.org/officeDocument/2006/relationships/font" Target="fonts/font16.fntdata"/><Relationship Id="rId35" Type="http://schemas.openxmlformats.org/officeDocument/2006/relationships/font" Target="fonts/font15.fntdata"/><Relationship Id="rId34" Type="http://schemas.openxmlformats.org/officeDocument/2006/relationships/font" Target="fonts/font14.fntdata"/><Relationship Id="rId33" Type="http://schemas.openxmlformats.org/officeDocument/2006/relationships/font" Target="fonts/font13.fntdata"/><Relationship Id="rId32" Type="http://schemas.openxmlformats.org/officeDocument/2006/relationships/font" Target="fonts/font12.fntdata"/><Relationship Id="rId31" Type="http://schemas.openxmlformats.org/officeDocument/2006/relationships/font" Target="fonts/font11.fntdata"/><Relationship Id="rId30" Type="http://schemas.openxmlformats.org/officeDocument/2006/relationships/font" Target="fonts/font10.fntdata"/><Relationship Id="rId3" Type="http://schemas.openxmlformats.org/officeDocument/2006/relationships/slide" Target="slides/slide1.xml"/><Relationship Id="rId29" Type="http://schemas.openxmlformats.org/officeDocument/2006/relationships/font" Target="fonts/font9.fntdata"/><Relationship Id="rId28" Type="http://schemas.openxmlformats.org/officeDocument/2006/relationships/font" Target="fonts/font8.fntdata"/><Relationship Id="rId27" Type="http://schemas.openxmlformats.org/officeDocument/2006/relationships/font" Target="fonts/font7.fntdata"/><Relationship Id="rId26" Type="http://schemas.openxmlformats.org/officeDocument/2006/relationships/font" Target="fonts/font6.fntdata"/><Relationship Id="rId25" Type="http://schemas.openxmlformats.org/officeDocument/2006/relationships/font" Target="fonts/font5.fntdata"/><Relationship Id="rId24" Type="http://schemas.openxmlformats.org/officeDocument/2006/relationships/font" Target="fonts/font4.fntdata"/><Relationship Id="rId23" Type="http://schemas.openxmlformats.org/officeDocument/2006/relationships/font" Target="fonts/font3.fntdata"/><Relationship Id="rId22" Type="http://schemas.openxmlformats.org/officeDocument/2006/relationships/font" Target="fonts/font2.fntdata"/><Relationship Id="rId21" Type="http://schemas.openxmlformats.org/officeDocument/2006/relationships/font" Target="fonts/font1.fntdata"/><Relationship Id="rId20" Type="http://schemas.openxmlformats.org/officeDocument/2006/relationships/tableStyles" Target="tableStyles.xml"/><Relationship Id="rId2" Type="http://schemas.openxmlformats.org/officeDocument/2006/relationships/theme" Target="theme/theme1.xml"/><Relationship Id="rId19" Type="http://schemas.openxmlformats.org/officeDocument/2006/relationships/viewProps" Target="viewProps.xml"/><Relationship Id="rId18" Type="http://schemas.openxmlformats.org/officeDocument/2006/relationships/presProps" Target="presProps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10" name="Google Shape;11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27" name="Google Shape;12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51" name="Google Shape;15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100" b="0" i="0" u="none" strike="noStrike" cap="none" dirty="0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当玩家正在白天的普通小卖部里买东西时，如果后台的 </a:t>
            </a:r>
            <a:r>
              <a:rPr lang="en-GB" altLang="zh-CN" sz="1100" b="0" i="0" u="none" strike="noStrike" cap="none" dirty="0" err="1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GameClock</a:t>
            </a:r>
            <a:r>
              <a:rPr lang="en-GB" altLang="zh-CN" sz="1100" b="0" i="0" u="none" strike="noStrike" cap="none" dirty="0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 </a:t>
            </a:r>
            <a:r>
              <a:rPr lang="zh-CN" altLang="en-US" sz="1100" b="0" i="0" u="none" strike="noStrike" cap="none" dirty="0">
                <a:solidFill>
                  <a:srgbClr val="000000"/>
                </a:solidFill>
                <a:effectLst/>
                <a:latin typeface="Arial" panose="020B0604020202020204"/>
                <a:ea typeface="Arial" panose="020B0604020202020204"/>
                <a:cs typeface="Arial" panose="020B0604020202020204"/>
                <a:sym typeface="Arial" panose="020B0604020202020204"/>
              </a:rPr>
              <a:t>时钟线程刚好把时间推进到了夜晚，此时小卖部逻辑必须关闭。引擎会自动触发“强制驱逐”，把玩家强制踢出商店界面（退回到地图自由探索状态）。</a:t>
            </a:r>
            <a:endParaRPr dirty="0"/>
          </a:p>
        </p:txBody>
      </p:sp>
      <p:sp>
        <p:nvSpPr>
          <p:cNvPr id="166" name="Google Shape;16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191" name="Google Shape;19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07" name="Google Shape;20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23" name="Google Shape;22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39" name="Google Shape;23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55" name="Google Shape;255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273" name="Google Shape;273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03" name="Google Shape;30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sp>
        <p:nvSpPr>
          <p:cNvPr id="319" name="Google Shape;31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matchingName="Title Slid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matchingName="Title and Content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matchingName="Section Header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 panose="020F0502020204030204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matchingName="Two Content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matchingName="Comparison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/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matchingName="Title 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matchingName="Content with Caption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matchingName="Picture with Caption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 panose="020F0502020204030204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matchingName="Title and Vertical Text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matchingName="Vertical Title and Text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 panose="020F0502020204030204"/>
              <a:buNone/>
              <a:defRPr sz="4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 panose="020B0604020202020204"/>
              <a:buChar char="•"/>
              <a:defRPr sz="3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/>
              <a:buChar char="–"/>
              <a:defRPr sz="2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 panose="020B0604020202020204"/>
              <a:buChar char="•"/>
              <a:defRPr sz="24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–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»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 panose="020B0604020202020204"/>
              <a:buChar char="•"/>
              <a:defRPr sz="20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/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</a:fld>
            <a:endParaRPr lang="en-US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6.xml"/><Relationship Id="rId8" Type="http://schemas.openxmlformats.org/officeDocument/2006/relationships/tags" Target="../tags/tag5.xml"/><Relationship Id="rId7" Type="http://schemas.openxmlformats.org/officeDocument/2006/relationships/tags" Target="../tags/tag4.xml"/><Relationship Id="rId6" Type="http://schemas.openxmlformats.org/officeDocument/2006/relationships/tags" Target="../tags/tag3.xml"/><Relationship Id="rId5" Type="http://schemas.openxmlformats.org/officeDocument/2006/relationships/image" Target="../media/image4.png"/><Relationship Id="rId4" Type="http://schemas.openxmlformats.org/officeDocument/2006/relationships/tags" Target="../tags/tag2.xml"/><Relationship Id="rId3" Type="http://schemas.openxmlformats.org/officeDocument/2006/relationships/image" Target="../media/image3.png"/><Relationship Id="rId2" Type="http://schemas.openxmlformats.org/officeDocument/2006/relationships/tags" Target="../tags/tag1.xml"/><Relationship Id="rId15" Type="http://schemas.openxmlformats.org/officeDocument/2006/relationships/notesSlide" Target="../notesSlides/notesSlide2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6.png"/><Relationship Id="rId12" Type="http://schemas.openxmlformats.org/officeDocument/2006/relationships/tags" Target="../tags/tag8.xml"/><Relationship Id="rId11" Type="http://schemas.openxmlformats.org/officeDocument/2006/relationships/image" Target="../media/image5.png"/><Relationship Id="rId10" Type="http://schemas.openxmlformats.org/officeDocument/2006/relationships/tags" Target="../tags/tag7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tags" Target="../tags/tag14.xml"/><Relationship Id="rId8" Type="http://schemas.openxmlformats.org/officeDocument/2006/relationships/tags" Target="../tags/tag13.xml"/><Relationship Id="rId7" Type="http://schemas.openxmlformats.org/officeDocument/2006/relationships/tags" Target="../tags/tag12.xml"/><Relationship Id="rId6" Type="http://schemas.openxmlformats.org/officeDocument/2006/relationships/image" Target="../media/image12.png"/><Relationship Id="rId5" Type="http://schemas.openxmlformats.org/officeDocument/2006/relationships/tags" Target="../tags/tag11.xml"/><Relationship Id="rId4" Type="http://schemas.openxmlformats.org/officeDocument/2006/relationships/image" Target="../media/image11.png"/><Relationship Id="rId3" Type="http://schemas.openxmlformats.org/officeDocument/2006/relationships/tags" Target="../tags/tag10.xml"/><Relationship Id="rId2" Type="http://schemas.openxmlformats.org/officeDocument/2006/relationships/image" Target="../media/image10.png"/><Relationship Id="rId19" Type="http://schemas.openxmlformats.org/officeDocument/2006/relationships/notesSlide" Target="../notesSlides/notesSlide4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5.png"/><Relationship Id="rId16" Type="http://schemas.openxmlformats.org/officeDocument/2006/relationships/tags" Target="../tags/tag19.xml"/><Relationship Id="rId15" Type="http://schemas.openxmlformats.org/officeDocument/2006/relationships/image" Target="../media/image14.png"/><Relationship Id="rId14" Type="http://schemas.openxmlformats.org/officeDocument/2006/relationships/tags" Target="../tags/tag18.xml"/><Relationship Id="rId13" Type="http://schemas.openxmlformats.org/officeDocument/2006/relationships/image" Target="../media/image13.png"/><Relationship Id="rId12" Type="http://schemas.openxmlformats.org/officeDocument/2006/relationships/tags" Target="../tags/tag17.xml"/><Relationship Id="rId11" Type="http://schemas.openxmlformats.org/officeDocument/2006/relationships/tags" Target="../tags/tag16.xml"/><Relationship Id="rId10" Type="http://schemas.openxmlformats.org/officeDocument/2006/relationships/tags" Target="../tags/tag15.xml"/><Relationship Id="rId1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16.png"/><Relationship Id="rId1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tags" Target="../tags/tag25.xml"/><Relationship Id="rId8" Type="http://schemas.openxmlformats.org/officeDocument/2006/relationships/tags" Target="../tags/tag24.xml"/><Relationship Id="rId7" Type="http://schemas.openxmlformats.org/officeDocument/2006/relationships/tags" Target="../tags/tag23.xml"/><Relationship Id="rId6" Type="http://schemas.openxmlformats.org/officeDocument/2006/relationships/image" Target="../media/image19.png"/><Relationship Id="rId5" Type="http://schemas.openxmlformats.org/officeDocument/2006/relationships/tags" Target="../tags/tag22.xml"/><Relationship Id="rId4" Type="http://schemas.openxmlformats.org/officeDocument/2006/relationships/image" Target="../media/image18.png"/><Relationship Id="rId3" Type="http://schemas.openxmlformats.org/officeDocument/2006/relationships/tags" Target="../tags/tag21.xml"/><Relationship Id="rId21" Type="http://schemas.openxmlformats.org/officeDocument/2006/relationships/notesSlide" Target="../notesSlides/notesSlide6.xml"/><Relationship Id="rId20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19" Type="http://schemas.openxmlformats.org/officeDocument/2006/relationships/image" Target="../media/image23.png"/><Relationship Id="rId18" Type="http://schemas.openxmlformats.org/officeDocument/2006/relationships/tags" Target="../tags/tag31.xml"/><Relationship Id="rId17" Type="http://schemas.openxmlformats.org/officeDocument/2006/relationships/image" Target="../media/image22.png"/><Relationship Id="rId16" Type="http://schemas.openxmlformats.org/officeDocument/2006/relationships/tags" Target="../tags/tag30.xml"/><Relationship Id="rId15" Type="http://schemas.openxmlformats.org/officeDocument/2006/relationships/image" Target="../media/image21.png"/><Relationship Id="rId14" Type="http://schemas.openxmlformats.org/officeDocument/2006/relationships/tags" Target="../tags/tag29.xml"/><Relationship Id="rId13" Type="http://schemas.openxmlformats.org/officeDocument/2006/relationships/image" Target="../media/image20.png"/><Relationship Id="rId12" Type="http://schemas.openxmlformats.org/officeDocument/2006/relationships/tags" Target="../tags/tag28.xml"/><Relationship Id="rId11" Type="http://schemas.openxmlformats.org/officeDocument/2006/relationships/tags" Target="../tags/tag27.xml"/><Relationship Id="rId10" Type="http://schemas.openxmlformats.org/officeDocument/2006/relationships/tags" Target="../tags/tag26.xml"/><Relationship Id="rId1" Type="http://schemas.openxmlformats.org/officeDocument/2006/relationships/tags" Target="../tags/tag20.xml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37.xml"/><Relationship Id="rId8" Type="http://schemas.openxmlformats.org/officeDocument/2006/relationships/tags" Target="../tags/tag36.xml"/><Relationship Id="rId7" Type="http://schemas.openxmlformats.org/officeDocument/2006/relationships/tags" Target="../tags/tag35.xml"/><Relationship Id="rId6" Type="http://schemas.openxmlformats.org/officeDocument/2006/relationships/tags" Target="../tags/tag34.xml"/><Relationship Id="rId5" Type="http://schemas.openxmlformats.org/officeDocument/2006/relationships/image" Target="../media/image4.png"/><Relationship Id="rId4" Type="http://schemas.openxmlformats.org/officeDocument/2006/relationships/tags" Target="../tags/tag33.xml"/><Relationship Id="rId3" Type="http://schemas.openxmlformats.org/officeDocument/2006/relationships/image" Target="../media/image3.png"/><Relationship Id="rId21" Type="http://schemas.openxmlformats.org/officeDocument/2006/relationships/notesSlide" Target="../notesSlides/notesSlide7.xml"/><Relationship Id="rId20" Type="http://schemas.openxmlformats.org/officeDocument/2006/relationships/slideLayout" Target="../slideLayouts/slideLayout1.xml"/><Relationship Id="rId2" Type="http://schemas.openxmlformats.org/officeDocument/2006/relationships/tags" Target="../tags/tag32.xml"/><Relationship Id="rId19" Type="http://schemas.openxmlformats.org/officeDocument/2006/relationships/image" Target="../media/image29.svg"/><Relationship Id="rId18" Type="http://schemas.openxmlformats.org/officeDocument/2006/relationships/image" Target="../media/image28.png"/><Relationship Id="rId17" Type="http://schemas.openxmlformats.org/officeDocument/2006/relationships/tags" Target="../tags/tag41.xml"/><Relationship Id="rId16" Type="http://schemas.openxmlformats.org/officeDocument/2006/relationships/image" Target="../media/image27.svg"/><Relationship Id="rId15" Type="http://schemas.openxmlformats.org/officeDocument/2006/relationships/image" Target="../media/image26.png"/><Relationship Id="rId14" Type="http://schemas.openxmlformats.org/officeDocument/2006/relationships/tags" Target="../tags/tag40.xml"/><Relationship Id="rId13" Type="http://schemas.openxmlformats.org/officeDocument/2006/relationships/image" Target="../media/image25.png"/><Relationship Id="rId12" Type="http://schemas.openxmlformats.org/officeDocument/2006/relationships/tags" Target="../tags/tag39.xml"/><Relationship Id="rId11" Type="http://schemas.openxmlformats.org/officeDocument/2006/relationships/image" Target="../media/image24.png"/><Relationship Id="rId10" Type="http://schemas.openxmlformats.org/officeDocument/2006/relationships/tags" Target="../tags/tag38.xml"/><Relationship Id="rId1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8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9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tags" Target="../tags/tag47.xml"/><Relationship Id="rId8" Type="http://schemas.openxmlformats.org/officeDocument/2006/relationships/tags" Target="../tags/tag46.xml"/><Relationship Id="rId7" Type="http://schemas.openxmlformats.org/officeDocument/2006/relationships/tags" Target="../tags/tag45.xml"/><Relationship Id="rId6" Type="http://schemas.openxmlformats.org/officeDocument/2006/relationships/tags" Target="../tags/tag44.xml"/><Relationship Id="rId5" Type="http://schemas.openxmlformats.org/officeDocument/2006/relationships/image" Target="../media/image38.png"/><Relationship Id="rId4" Type="http://schemas.openxmlformats.org/officeDocument/2006/relationships/tags" Target="../tags/tag43.xml"/><Relationship Id="rId3" Type="http://schemas.openxmlformats.org/officeDocument/2006/relationships/image" Target="../media/image37.png"/><Relationship Id="rId2" Type="http://schemas.openxmlformats.org/officeDocument/2006/relationships/tags" Target="../tags/tag42.xml"/><Relationship Id="rId15" Type="http://schemas.openxmlformats.org/officeDocument/2006/relationships/notesSlide" Target="../notesSlides/notesSlide10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40.png"/><Relationship Id="rId12" Type="http://schemas.openxmlformats.org/officeDocument/2006/relationships/tags" Target="../tags/tag49.xml"/><Relationship Id="rId11" Type="http://schemas.openxmlformats.org/officeDocument/2006/relationships/image" Target="../media/image39.png"/><Relationship Id="rId10" Type="http://schemas.openxmlformats.org/officeDocument/2006/relationships/tags" Target="../tags/tag48.xml"/><Relationship Id="rId1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11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44.png"/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image" Target="../media/image41.pn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2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45.png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3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4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50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85;p13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410845" y="3984625"/>
            <a:ext cx="11370945" cy="83502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2086292" y="1403350"/>
            <a:ext cx="8201025" cy="828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1E40AF"/>
                </a:solidFill>
                <a:latin typeface="Comfortaa"/>
                <a:ea typeface="Comfortaa"/>
                <a:cs typeface="Comfortaa"/>
                <a:sym typeface="Comfortaa"/>
              </a:rPr>
              <a:t>《</a:t>
            </a:r>
            <a:r>
              <a:rPr lang="en-US" sz="4800" b="1" i="0" u="none" strike="noStrike" cap="none" dirty="0" err="1">
                <a:solidFill>
                  <a:srgbClr val="1E40AF"/>
                </a:solidFill>
                <a:latin typeface="Comfortaa"/>
                <a:ea typeface="Comfortaa"/>
                <a:cs typeface="Comfortaa"/>
                <a:sym typeface="Comfortaa"/>
              </a:rPr>
              <a:t>校园RPG：</a:t>
            </a:r>
            <a:r>
              <a:rPr lang="en-US" sz="4800" b="1" i="0" u="none" strike="noStrike" cap="none" dirty="0" err="1">
                <a:solidFill>
                  <a:srgbClr val="06B6D4"/>
                </a:solidFill>
                <a:latin typeface="Comfortaa"/>
                <a:ea typeface="Comfortaa"/>
                <a:cs typeface="Comfortaa"/>
                <a:sym typeface="Comfortaa"/>
              </a:rPr>
              <a:t>大学生存物语</a:t>
            </a:r>
            <a:r>
              <a:rPr lang="en-US" sz="4800" b="1" i="0" u="none" strike="noStrike" cap="none" dirty="0">
                <a:solidFill>
                  <a:srgbClr val="1E40AF"/>
                </a:solidFill>
                <a:latin typeface="Comfortaa"/>
                <a:ea typeface="Comfortaa"/>
                <a:cs typeface="Comfortaa"/>
                <a:sym typeface="Comfortaa"/>
              </a:rPr>
              <a:t>》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802640" y="4198620"/>
            <a:ext cx="2611120" cy="245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答辩汇报人</a:t>
            </a:r>
            <a:r>
              <a:rPr lang="en-US" sz="1600" b="0" i="0" u="none" strike="noStrike" cap="none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陆辰睿 (组长</a:t>
            </a:r>
            <a:r>
              <a:rPr lang="en-US" sz="12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)</a:t>
            </a:r>
            <a:endParaRPr lang="en-US" sz="12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3357245" y="4198620"/>
            <a:ext cx="3169285" cy="245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课程名称</a:t>
            </a:r>
            <a:r>
              <a:rPr 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1" i="0" u="none" strike="noStrike" cap="none" dirty="0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C++</a:t>
            </a:r>
            <a:r>
              <a:rPr lang="en-US" sz="1600" b="1" i="0" u="none" strike="noStrike" cap="none" dirty="0" err="1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面向对象程序设计</a:t>
            </a:r>
            <a:endParaRPr sz="1600" dirty="0"/>
          </a:p>
        </p:txBody>
      </p:sp>
      <p:sp>
        <p:nvSpPr>
          <p:cNvPr id="90" name="Google Shape;90;p13"/>
          <p:cNvSpPr txBox="1"/>
          <p:nvPr/>
        </p:nvSpPr>
        <p:spPr>
          <a:xfrm>
            <a:off x="6457950" y="4198620"/>
            <a:ext cx="1900237" cy="245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指导教师</a:t>
            </a:r>
            <a:r>
              <a:rPr lang="en-US" sz="1600" b="0" i="0" u="none" strike="noStrike" cap="none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蒋敏 老师</a:t>
            </a:r>
            <a:endParaRPr lang="en-US" sz="16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91" name="Google Shape;91;p13"/>
          <p:cNvSpPr txBox="1"/>
          <p:nvPr/>
        </p:nvSpPr>
        <p:spPr>
          <a:xfrm>
            <a:off x="8467725" y="4198620"/>
            <a:ext cx="2839720" cy="2457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汇报日期</a:t>
            </a:r>
            <a:r>
              <a:rPr lang="en-US" sz="1600" b="0" i="0" u="none" strike="noStrike" cap="none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2026年7月</a:t>
            </a:r>
            <a:endParaRPr lang="en-US" sz="16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528060" y="2484120"/>
            <a:ext cx="542163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基于</a:t>
            </a:r>
            <a:r>
              <a:rPr lang="en-US" altLang="zh-CN" sz="20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C++20</a:t>
            </a:r>
            <a:r>
              <a:rPr lang="zh-CN" altLang="en-US" sz="20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与</a:t>
            </a:r>
            <a:r>
              <a:rPr lang="en-US" altLang="zh-CN" sz="20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Qt6</a:t>
            </a:r>
            <a:r>
              <a:rPr lang="zh-CN" altLang="en-US" sz="2000"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的面向对象课程设计</a:t>
            </a:r>
            <a:endParaRPr lang="zh-CN" altLang="en-US" sz="2000"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4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>
            <p:custDataLst>
              <p:tags r:id="rId2"/>
            </p:custDataLst>
          </p:nvPr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>
            <p:custDataLst>
              <p:tags r:id="rId4"/>
            </p:custDataLst>
          </p:nvPr>
        </p:nvPicPr>
        <p:blipFill rotWithShape="1">
          <a:blip r:embed="rId5"/>
          <a:srcRect/>
          <a:stretch>
            <a:fillRect/>
          </a:stretch>
        </p:blipFill>
        <p:spPr>
          <a:xfrm>
            <a:off x="6286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4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项目初衷与重构蜕变</a:t>
            </a:r>
            <a:endParaRPr lang="en-US" sz="285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01" name="Google Shape;101;p14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FROM CONSOLE TO MODERN GRAPHICS GUI</a:t>
            </a:r>
            <a:endParaRPr lang="en-US" sz="1350" b="0" i="0" u="none" strike="noStrike" cap="none">
              <a:solidFill>
                <a:srgbClr val="0891B2"/>
              </a:solidFill>
              <a:latin typeface="JetBrains Mono Medium" panose="02000009000000000000"/>
              <a:ea typeface="JetBrains Mono Medium" panose="02000009000000000000"/>
              <a:cs typeface="JetBrains Mono Medium" panose="02000009000000000000"/>
              <a:sym typeface="JetBrains Mono Medium" panose="02000009000000000000"/>
            </a:endParaRPr>
          </a:p>
        </p:txBody>
      </p:sp>
      <p:sp>
        <p:nvSpPr>
          <p:cNvPr id="102" name="Google Shape;102;p14"/>
          <p:cNvSpPr txBox="1"/>
          <p:nvPr>
            <p:custDataLst>
              <p:tags r:id="rId6"/>
            </p:custDataLst>
          </p:nvPr>
        </p:nvSpPr>
        <p:spPr>
          <a:xfrm>
            <a:off x="1247775" y="1767780"/>
            <a:ext cx="458057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项目背景与题材</a:t>
            </a:r>
            <a:endParaRPr lang="en-US" sz="18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03" name="Google Shape;103;p14"/>
          <p:cNvSpPr txBox="1"/>
          <p:nvPr>
            <p:custDataLst>
              <p:tags r:id="rId7"/>
            </p:custDataLst>
          </p:nvPr>
        </p:nvSpPr>
        <p:spPr>
          <a:xfrm>
            <a:off x="866775" y="2696388"/>
            <a:ext cx="4743450" cy="24618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本作是一款极具校园情怀与代入感的</a:t>
            </a:r>
            <a:r>
              <a:rPr lang="en-US" sz="20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RPG 生存游戏。玩家将扮演在校大学生，真实体验涵盖“打怪、消费、生存”的多重日常。精心模拟的多样校园生活机制，极大增强了游戏的沉浸感与真实性。</a:t>
            </a:r>
            <a:endParaRPr sz="2000" dirty="0"/>
          </a:p>
        </p:txBody>
      </p:sp>
      <p:sp>
        <p:nvSpPr>
          <p:cNvPr id="104" name="Google Shape;104;p14"/>
          <p:cNvSpPr txBox="1"/>
          <p:nvPr>
            <p:custDataLst>
              <p:tags r:id="rId8"/>
            </p:custDataLst>
          </p:nvPr>
        </p:nvSpPr>
        <p:spPr>
          <a:xfrm>
            <a:off x="6905625" y="1767780"/>
            <a:ext cx="464058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图形重构与跃迁</a:t>
            </a:r>
            <a:endParaRPr lang="en-US" sz="18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05" name="Google Shape;105;p14"/>
          <p:cNvSpPr txBox="1"/>
          <p:nvPr>
            <p:custDataLst>
              <p:tags r:id="rId9"/>
            </p:custDataLst>
          </p:nvPr>
        </p:nvSpPr>
        <p:spPr>
          <a:xfrm>
            <a:off x="6537325" y="2696448"/>
            <a:ext cx="4743450" cy="29546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项目设计之初为基于纯控制台的黑框字符游戏，后经联合技术攻坚，平滑升级为基于</a:t>
            </a:r>
            <a:r>
              <a:rPr lang="en-US" sz="20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Qt6 </a:t>
            </a:r>
            <a:r>
              <a:rPr lang="en-US" sz="20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框架的高性能</a:t>
            </a:r>
            <a:r>
              <a:rPr lang="en-US" sz="20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2D </a:t>
            </a:r>
            <a:r>
              <a:rPr lang="en-US" sz="20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像素俯视角图形系统。底层不仅深度体现了</a:t>
            </a:r>
            <a:r>
              <a:rPr lang="en-US" sz="20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C++ </a:t>
            </a:r>
            <a:r>
              <a:rPr lang="en-US" sz="20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的三大支柱（封装、继承、多态</a:t>
            </a:r>
            <a:r>
              <a:rPr lang="en-US" sz="20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），</a:t>
            </a:r>
            <a:r>
              <a:rPr lang="en-US" sz="20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且做到了业务逻辑的完全复用</a:t>
            </a:r>
            <a:r>
              <a:rPr lang="en-US" sz="20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2000" dirty="0"/>
          </a:p>
        </p:txBody>
      </p:sp>
      <p:pic>
        <p:nvPicPr>
          <p:cNvPr id="106" name="Google Shape;106;p14" descr="image.png"/>
          <p:cNvPicPr preferRelativeResize="0"/>
          <p:nvPr>
            <p:custDataLst>
              <p:tags r:id="rId10"/>
            </p:custDataLst>
          </p:nvPr>
        </p:nvPicPr>
        <p:blipFill rotWithShape="1">
          <a:blip r:embed="rId11"/>
          <a:srcRect/>
          <a:stretch>
            <a:fillRect/>
          </a:stretch>
        </p:blipFill>
        <p:spPr>
          <a:xfrm>
            <a:off x="866775" y="1805880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4" descr="image.png"/>
          <p:cNvPicPr preferRelativeResize="0"/>
          <p:nvPr>
            <p:custDataLst>
              <p:tags r:id="rId12"/>
            </p:custDataLst>
          </p:nvPr>
        </p:nvPicPr>
        <p:blipFill rotWithShape="1">
          <a:blip r:embed="rId13"/>
          <a:srcRect/>
          <a:stretch>
            <a:fillRect/>
          </a:stretch>
        </p:blipFill>
        <p:spPr>
          <a:xfrm>
            <a:off x="6581775" y="1805880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5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246489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5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游戏特色与核心玩法</a:t>
            </a:r>
            <a:endParaRPr lang="en-US" sz="285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15" name="Google Shape;115;p15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IMMERSIVE CAMPUS EXPLORATION GAMEPLAY</a:t>
            </a:r>
            <a:endParaRPr lang="en-US" sz="1350" b="0" i="0" u="none" strike="noStrike" cap="none">
              <a:solidFill>
                <a:srgbClr val="0891B2"/>
              </a:solidFill>
              <a:latin typeface="JetBrains Mono Medium" panose="02000009000000000000"/>
              <a:ea typeface="JetBrains Mono Medium" panose="02000009000000000000"/>
              <a:cs typeface="JetBrains Mono Medium" panose="02000009000000000000"/>
              <a:sym typeface="JetBrains Mono Medium" panose="02000009000000000000"/>
            </a:endParaRPr>
          </a:p>
        </p:txBody>
      </p:sp>
      <p:sp>
        <p:nvSpPr>
          <p:cNvPr id="118" name="Google Shape;118;p15"/>
          <p:cNvSpPr txBox="1"/>
          <p:nvPr/>
        </p:nvSpPr>
        <p:spPr>
          <a:xfrm>
            <a:off x="1222375" y="1390620"/>
            <a:ext cx="5485507" cy="1246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自由跑图系统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：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8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支持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WASD </a:t>
            </a:r>
            <a:r>
              <a:rPr lang="en-US" sz="18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极速响应，通过自研定时器融合键盘事件拦截，实现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60FPS </a:t>
            </a:r>
            <a:r>
              <a:rPr lang="en-US" sz="18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顺滑的地图探索与场景无缝切换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800" dirty="0"/>
          </a:p>
        </p:txBody>
      </p:sp>
      <p:sp>
        <p:nvSpPr>
          <p:cNvPr id="119" name="Google Shape;119;p15"/>
          <p:cNvSpPr txBox="1"/>
          <p:nvPr/>
        </p:nvSpPr>
        <p:spPr>
          <a:xfrm>
            <a:off x="1222375" y="2840960"/>
            <a:ext cx="5485507" cy="83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真实昼夜交替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：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8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后台独立时钟推进机制。NPC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8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行为随系统时间动态更新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800"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1222375" y="3820765"/>
            <a:ext cx="5485507" cy="83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双态经济结构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：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白天小卖部出售标准的补血、增益装备；深夜触发地下“</a:t>
            </a:r>
            <a:r>
              <a:rPr lang="en-US" sz="18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暗影黑市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”，</a:t>
            </a:r>
            <a:r>
              <a:rPr lang="en-US" sz="18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解锁绝版隐藏道具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800" dirty="0"/>
          </a:p>
        </p:txBody>
      </p:sp>
      <p:sp>
        <p:nvSpPr>
          <p:cNvPr id="121" name="Google Shape;121;p15"/>
          <p:cNvSpPr txBox="1"/>
          <p:nvPr/>
        </p:nvSpPr>
        <p:spPr>
          <a:xfrm>
            <a:off x="1222375" y="4916140"/>
            <a:ext cx="5485507" cy="830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硬核回合战斗</a:t>
            </a:r>
            <a:r>
              <a:rPr lang="en-US" sz="1800" b="1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：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8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基于轻量状态机的行为判定，集成装备道具实时响应与数值成长算法</a:t>
            </a:r>
            <a:r>
              <a:rPr lang="en-US" sz="18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800" dirty="0"/>
          </a:p>
        </p:txBody>
      </p:sp>
      <p:pic>
        <p:nvPicPr>
          <p:cNvPr id="122" name="Google Shape;122;p15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1473200"/>
            <a:ext cx="396875" cy="263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5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19125" y="3009265"/>
            <a:ext cx="349250" cy="288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Google Shape;124;p15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71500" y="3939540"/>
            <a:ext cx="397510" cy="30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6" descr="image.png"/>
          <p:cNvPicPr preferRelativeResize="0"/>
          <p:nvPr>
            <p:custDataLst>
              <p:tags r:id="rId1"/>
            </p:custDataLst>
          </p:nvPr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1472505"/>
            <a:ext cx="3524250" cy="3243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1" name="Google Shape;131;p16" descr="image.png"/>
          <p:cNvPicPr preferRelativeResize="0"/>
          <p:nvPr>
            <p:custDataLst>
              <p:tags r:id="rId3"/>
            </p:custDataLst>
          </p:nvPr>
        </p:nvPicPr>
        <p:blipFill rotWithShape="1">
          <a:blip r:embed="rId4"/>
          <a:srcRect/>
          <a:stretch>
            <a:fillRect/>
          </a:stretch>
        </p:blipFill>
        <p:spPr>
          <a:xfrm>
            <a:off x="4333875" y="1472505"/>
            <a:ext cx="3524250" cy="32431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2" name="Google Shape;132;p16" descr="image.png"/>
          <p:cNvPicPr preferRelativeResize="0"/>
          <p:nvPr>
            <p:custDataLst>
              <p:tags r:id="rId5"/>
            </p:custDataLst>
          </p:nvPr>
        </p:nvPicPr>
        <p:blipFill rotWithShape="1">
          <a:blip r:embed="rId6"/>
          <a:srcRect/>
          <a:stretch>
            <a:fillRect/>
          </a:stretch>
        </p:blipFill>
        <p:spPr>
          <a:xfrm>
            <a:off x="8096250" y="1472505"/>
            <a:ext cx="3524250" cy="32431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MVC 彻底解耦的底层架构</a:t>
            </a:r>
            <a:endParaRPr lang="en-US" sz="285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34" name="Google Shape;134;p16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5" name="Google Shape;135;p16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ARCHITECTURE: DECOUPLING MODEL, VIEW AND CONTROLLER</a:t>
            </a:r>
            <a:endParaRPr lang="en-US" sz="1350" b="0" i="0" u="none" strike="noStrike" cap="none">
              <a:solidFill>
                <a:srgbClr val="0891B2"/>
              </a:solidFill>
              <a:latin typeface="JetBrains Mono Medium" panose="02000009000000000000"/>
              <a:ea typeface="JetBrains Mono Medium" panose="02000009000000000000"/>
              <a:cs typeface="JetBrains Mono Medium" panose="02000009000000000000"/>
              <a:sym typeface="JetBrains Mono Medium" panose="02000009000000000000"/>
            </a:endParaRPr>
          </a:p>
        </p:txBody>
      </p:sp>
      <p:sp>
        <p:nvSpPr>
          <p:cNvPr id="136" name="Google Shape;136;p16"/>
          <p:cNvSpPr/>
          <p:nvPr/>
        </p:nvSpPr>
        <p:spPr>
          <a:xfrm>
            <a:off x="581025" y="3075012"/>
            <a:ext cx="3505200" cy="381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37" name="Google Shape;137;p16"/>
          <p:cNvSpPr txBox="1"/>
          <p:nvPr>
            <p:custDataLst>
              <p:tags r:id="rId7"/>
            </p:custDataLst>
          </p:nvPr>
        </p:nvSpPr>
        <p:spPr>
          <a:xfrm>
            <a:off x="819150" y="2282130"/>
            <a:ext cx="318039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Model (数据模型层)</a:t>
            </a:r>
            <a:endParaRPr lang="en-US" sz="15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38" name="Google Shape;138;p16"/>
          <p:cNvSpPr txBox="1"/>
          <p:nvPr>
            <p:custDataLst>
              <p:tags r:id="rId8"/>
            </p:custDataLst>
          </p:nvPr>
        </p:nvSpPr>
        <p:spPr>
          <a:xfrm>
            <a:off x="819150" y="2682180"/>
            <a:ext cx="3028950" cy="1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由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GameEngine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及纯业务逻辑类（</a:t>
            </a:r>
            <a:r>
              <a:rPr lang="en-US" sz="1600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Character</a:t>
            </a: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、Map、GameClock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等）组成。独立编译，内部不引入任何界面组件代码，做到彻底的数据逻辑内聚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600" dirty="0"/>
          </a:p>
        </p:txBody>
      </p:sp>
      <p:sp>
        <p:nvSpPr>
          <p:cNvPr id="139" name="Google Shape;139;p16"/>
          <p:cNvSpPr/>
          <p:nvPr/>
        </p:nvSpPr>
        <p:spPr>
          <a:xfrm>
            <a:off x="4343400" y="3075012"/>
            <a:ext cx="3505200" cy="381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0" name="Google Shape;140;p16"/>
          <p:cNvSpPr txBox="1"/>
          <p:nvPr>
            <p:custDataLst>
              <p:tags r:id="rId9"/>
            </p:custDataLst>
          </p:nvPr>
        </p:nvSpPr>
        <p:spPr>
          <a:xfrm>
            <a:off x="4581525" y="2282130"/>
            <a:ext cx="318039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View (图形渲染层)</a:t>
            </a:r>
            <a:endParaRPr lang="en-US" sz="15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41" name="Google Shape;141;p16"/>
          <p:cNvSpPr txBox="1"/>
          <p:nvPr>
            <p:custDataLst>
              <p:tags r:id="rId10"/>
            </p:custDataLst>
          </p:nvPr>
        </p:nvSpPr>
        <p:spPr>
          <a:xfrm>
            <a:off x="4581525" y="2682180"/>
            <a:ext cx="3028950" cy="196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基于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Qt6 Graphics View </a:t>
            </a: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框架。由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QGraphicsScene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对瓦片、障碍物、玩家进行坐标映射与高性能绘制，完全通过信号槽接收数据变化</a:t>
            </a:r>
            <a:r>
              <a:rPr lang="en-US" sz="105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dirty="0"/>
          </a:p>
        </p:txBody>
      </p:sp>
      <p:sp>
        <p:nvSpPr>
          <p:cNvPr id="142" name="Google Shape;142;p16"/>
          <p:cNvSpPr/>
          <p:nvPr/>
        </p:nvSpPr>
        <p:spPr>
          <a:xfrm>
            <a:off x="8105775" y="3075012"/>
            <a:ext cx="3505200" cy="381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43" name="Google Shape;143;p16"/>
          <p:cNvSpPr txBox="1"/>
          <p:nvPr>
            <p:custDataLst>
              <p:tags r:id="rId11"/>
            </p:custDataLst>
          </p:nvPr>
        </p:nvSpPr>
        <p:spPr>
          <a:xfrm>
            <a:off x="8343900" y="2282130"/>
            <a:ext cx="318039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Controller (控制调度)</a:t>
            </a:r>
            <a:endParaRPr lang="en-US" sz="15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44" name="Google Shape;144;p16"/>
          <p:cNvSpPr txBox="1"/>
          <p:nvPr>
            <p:custDataLst>
              <p:tags r:id="rId12"/>
            </p:custDataLst>
          </p:nvPr>
        </p:nvSpPr>
        <p:spPr>
          <a:xfrm>
            <a:off x="8343900" y="2682180"/>
            <a:ext cx="3028950" cy="1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封装键鼠硬件操作，实现状态判定。将用户交互转化为事件指令传入核心模型，同时起到逻辑响应主线程的分发媒介作用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600" dirty="0"/>
          </a:p>
        </p:txBody>
      </p:sp>
      <p:pic>
        <p:nvPicPr>
          <p:cNvPr id="145" name="Google Shape;145;p16" descr="image.png"/>
          <p:cNvPicPr preferRelativeResize="0"/>
          <p:nvPr/>
        </p:nvPicPr>
        <p:blipFill rotWithShape="1">
          <a:blip r:embed="rId13"/>
          <a:srcRect/>
          <a:stretch>
            <a:fillRect/>
          </a:stretch>
        </p:blipFill>
        <p:spPr>
          <a:xfrm>
            <a:off x="457835" y="5277485"/>
            <a:ext cx="313690" cy="304165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6"/>
          <p:cNvSpPr txBox="1"/>
          <p:nvPr/>
        </p:nvSpPr>
        <p:spPr>
          <a:xfrm>
            <a:off x="953135" y="5196840"/>
            <a:ext cx="10657840" cy="615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解耦优势：</a:t>
            </a:r>
            <a:r>
              <a:rPr lang="zh-CN" altLang="en-US" sz="20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得益于标准的</a:t>
            </a:r>
            <a:r>
              <a:rPr lang="en-US" altLang="zh-CN" sz="20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MVC</a:t>
            </a:r>
            <a:r>
              <a:rPr lang="zh-CN" altLang="en-US" sz="20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设计模式，核心游戏逻辑可无缝外接</a:t>
            </a:r>
            <a:r>
              <a:rPr lang="en-US" altLang="zh-CN" sz="20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“</a:t>
            </a:r>
            <a:r>
              <a:rPr lang="zh-CN" altLang="en-US" sz="20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纯控制台文本版</a:t>
            </a:r>
            <a:r>
              <a:rPr lang="en-US" altLang="zh-CN" sz="20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”</a:t>
            </a:r>
            <a:r>
              <a:rPr lang="zh-CN" altLang="en-US" sz="20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与</a:t>
            </a:r>
            <a:r>
              <a:rPr lang="en-US" altLang="zh-CN" sz="20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“</a:t>
            </a:r>
            <a:r>
              <a:rPr lang="zh-CN" altLang="en-US" sz="20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现代图形</a:t>
            </a:r>
            <a:r>
              <a:rPr lang="en-US" altLang="zh-CN" sz="20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Qt</a:t>
            </a:r>
            <a:r>
              <a:rPr lang="zh-CN" altLang="en-US" sz="20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版</a:t>
            </a:r>
            <a:r>
              <a:rPr lang="en-US" altLang="zh-CN" sz="20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”</a:t>
            </a:r>
            <a:r>
              <a:rPr lang="zh-CN" altLang="en-US" sz="20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双向运行</a:t>
            </a:r>
            <a:endParaRPr lang="zh-CN" altLang="en-US" sz="20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pic>
        <p:nvPicPr>
          <p:cNvPr id="147" name="Google Shape;147;p16" descr="image.png"/>
          <p:cNvPicPr preferRelativeResize="0"/>
          <p:nvPr>
            <p:custDataLst>
              <p:tags r:id="rId14"/>
            </p:custDataLst>
          </p:nvPr>
        </p:nvPicPr>
        <p:blipFill rotWithShape="1">
          <a:blip r:embed="rId15"/>
          <a:srcRect/>
          <a:stretch>
            <a:fillRect/>
          </a:stretch>
        </p:blipFill>
        <p:spPr>
          <a:xfrm>
            <a:off x="819150" y="1748730"/>
            <a:ext cx="2667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6" descr="image.png"/>
          <p:cNvPicPr preferRelativeResize="0"/>
          <p:nvPr>
            <p:custDataLst>
              <p:tags r:id="rId16"/>
            </p:custDataLst>
          </p:nvPr>
        </p:nvPicPr>
        <p:blipFill rotWithShape="1">
          <a:blip r:embed="rId17"/>
          <a:srcRect/>
          <a:stretch>
            <a:fillRect/>
          </a:stretch>
        </p:blipFill>
        <p:spPr>
          <a:xfrm>
            <a:off x="4581525" y="1748730"/>
            <a:ext cx="3810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3" name="Google Shape;153;p17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159096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17"/>
          <p:cNvSpPr txBox="1"/>
          <p:nvPr/>
        </p:nvSpPr>
        <p:spPr>
          <a:xfrm>
            <a:off x="714375" y="476250"/>
            <a:ext cx="5400675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2D 瓦片地图与物理防穿模</a:t>
            </a:r>
            <a:endParaRPr lang="en-US" sz="285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57" name="Google Shape;157;p17"/>
          <p:cNvSpPr txBox="1"/>
          <p:nvPr/>
        </p:nvSpPr>
        <p:spPr>
          <a:xfrm>
            <a:off x="771525" y="967680"/>
            <a:ext cx="508635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MAP RENDERING &amp; COLLISION SYSTEM</a:t>
            </a:r>
            <a:endParaRPr lang="en-US" sz="1350" b="0" i="0" u="none" strike="noStrike" cap="none">
              <a:solidFill>
                <a:srgbClr val="0891B2"/>
              </a:solidFill>
              <a:latin typeface="JetBrains Mono Medium" panose="02000009000000000000"/>
              <a:ea typeface="JetBrains Mono Medium" panose="02000009000000000000"/>
              <a:cs typeface="JetBrains Mono Medium" panose="02000009000000000000"/>
              <a:sym typeface="JetBrains Mono Medium" panose="02000009000000000000"/>
            </a:endParaRPr>
          </a:p>
        </p:txBody>
      </p:sp>
      <p:sp>
        <p:nvSpPr>
          <p:cNvPr id="158" name="Google Shape;158;p17"/>
          <p:cNvSpPr txBox="1"/>
          <p:nvPr/>
        </p:nvSpPr>
        <p:spPr>
          <a:xfrm>
            <a:off x="564357" y="1288851"/>
            <a:ext cx="5550693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000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5" b="1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数据驱动解析</a:t>
            </a:r>
            <a:endParaRPr dirty="0"/>
          </a:p>
        </p:txBody>
      </p:sp>
      <p:sp>
        <p:nvSpPr>
          <p:cNvPr id="159" name="Google Shape;159;p17"/>
          <p:cNvSpPr txBox="1"/>
          <p:nvPr/>
        </p:nvSpPr>
        <p:spPr>
          <a:xfrm>
            <a:off x="714375" y="1580057"/>
            <a:ext cx="5286375" cy="590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通过地图加载器，代码可动态解析外部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JSON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瓦片文件，将贴图图块信息映射至二维网格。极大地增强了后续扩展新地图关卡的便捷性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dirty="0"/>
          </a:p>
        </p:txBody>
      </p:sp>
      <p:sp>
        <p:nvSpPr>
          <p:cNvPr id="160" name="Google Shape;160;p17"/>
          <p:cNvSpPr txBox="1"/>
          <p:nvPr/>
        </p:nvSpPr>
        <p:spPr>
          <a:xfrm>
            <a:off x="628650" y="2213971"/>
            <a:ext cx="5550693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4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5" b="1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高效防穿模机制</a:t>
            </a:r>
            <a:endParaRPr dirty="0"/>
          </a:p>
        </p:txBody>
      </p:sp>
      <p:sp>
        <p:nvSpPr>
          <p:cNvPr id="161" name="Google Shape;161;p17"/>
          <p:cNvSpPr txBox="1"/>
          <p:nvPr/>
        </p:nvSpPr>
        <p:spPr>
          <a:xfrm>
            <a:off x="628650" y="2370587"/>
            <a:ext cx="5286375" cy="5013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抛弃粗暴的坐标硬编码判定，利用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QGraphicsItem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的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Bounding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Rect（包围盒）计算建立物理障碍物阻挡层，完美防御角色意外越界的恶性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Bug。</a:t>
            </a:r>
            <a:endParaRPr lang="en-US" sz="1200" b="0" i="0" u="none" strike="noStrike" cap="none" dirty="0">
              <a:solidFill>
                <a:srgbClr val="475569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 dirty="0">
                <a:solidFill>
                  <a:srgbClr val="475569"/>
                </a:solidFill>
                <a:latin typeface="Inter" panose="02000503000000020004"/>
              </a:rPr>
              <a:t>基于 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Bounding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Rect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</a:t>
            </a:r>
            <a:r>
              <a:rPr lang="zh-CN" altLang="en-US" sz="1200" dirty="0">
                <a:solidFill>
                  <a:srgbClr val="475569"/>
                </a:solidFill>
                <a:latin typeface="Inter" panose="02000503000000020004"/>
              </a:rPr>
              <a:t>动态缩减的“脚部滑动碰撞”算法</a:t>
            </a:r>
            <a:endParaRPr lang="zh-CN" altLang="en-US" sz="1200" dirty="0">
              <a:solidFill>
                <a:srgbClr val="475569"/>
              </a:solidFill>
              <a:latin typeface="Inter" panose="02000503000000020004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qreal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spriteW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=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playerSize.width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();</a:t>
            </a:r>
            <a:endParaRPr lang="en-GB" sz="1200" dirty="0">
              <a:solidFill>
                <a:srgbClr val="475569"/>
              </a:solidFill>
              <a:latin typeface="Inter" panose="02000503000000020004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qreal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spriteH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=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playerSize.height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();</a:t>
            </a:r>
            <a:endParaRPr lang="en-GB" sz="1200" dirty="0">
              <a:solidFill>
                <a:srgbClr val="475569"/>
              </a:solidFill>
              <a:latin typeface="Inter" panose="02000503000000020004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 dirty="0">
                <a:solidFill>
                  <a:srgbClr val="475569"/>
                </a:solidFill>
                <a:latin typeface="Inter" panose="02000503000000020004"/>
              </a:rPr>
              <a:t>抛弃全身碰撞，动态计算缩小后的“脚部碰撞箱”</a:t>
            </a:r>
            <a:endParaRPr lang="zh-CN" altLang="en-US" sz="1200" dirty="0">
              <a:solidFill>
                <a:srgbClr val="475569"/>
              </a:solidFill>
              <a:latin typeface="Inter" panose="02000503000000020004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 dirty="0">
                <a:solidFill>
                  <a:srgbClr val="475569"/>
                </a:solidFill>
                <a:latin typeface="Inter" panose="02000503000000020004"/>
              </a:rPr>
              <a:t>确保角色在 </a:t>
            </a:r>
            <a:r>
              <a:rPr lang="en-US" altLang="zh-CN" sz="1200" dirty="0">
                <a:solidFill>
                  <a:srgbClr val="475569"/>
                </a:solidFill>
                <a:latin typeface="Inter" panose="02000503000000020004"/>
              </a:rPr>
              <a:t>1</a:t>
            </a:r>
            <a:r>
              <a:rPr lang="zh-CN" altLang="en-US" sz="1200" dirty="0">
                <a:solidFill>
                  <a:srgbClr val="475569"/>
                </a:solidFill>
                <a:latin typeface="Inter" panose="02000503000000020004"/>
              </a:rPr>
              <a:t>格</a:t>
            </a:r>
            <a:r>
              <a:rPr lang="en-US" altLang="zh-CN" sz="1200" dirty="0">
                <a:solidFill>
                  <a:srgbClr val="475569"/>
                </a:solidFill>
                <a:latin typeface="Inter" panose="02000503000000020004"/>
              </a:rPr>
              <a:t>(16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px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) </a:t>
            </a:r>
            <a:r>
              <a:rPr lang="zh-CN" altLang="en-US" sz="1200" dirty="0">
                <a:solidFill>
                  <a:srgbClr val="475569"/>
                </a:solidFill>
                <a:latin typeface="Inter" panose="02000503000000020004"/>
              </a:rPr>
              <a:t>的狭窄走廊中不会因为肩部蹭墙而卡死</a:t>
            </a:r>
            <a:endParaRPr lang="zh-CN" altLang="en-US" sz="1200" dirty="0">
              <a:solidFill>
                <a:srgbClr val="475569"/>
              </a:solidFill>
              <a:latin typeface="Inter" panose="02000503000000020004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qreal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colOffsetX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=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spriteW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* 10.0 / 32.0;</a:t>
            </a:r>
            <a:endParaRPr lang="en-GB" sz="1200" dirty="0">
              <a:solidFill>
                <a:srgbClr val="475569"/>
              </a:solidFill>
              <a:latin typeface="Inter" panose="02000503000000020004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qreal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colOffsetY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=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spriteH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* 20.0 / 32.0;</a:t>
            </a:r>
            <a:endParaRPr lang="en-GB" sz="1200" dirty="0">
              <a:solidFill>
                <a:srgbClr val="475569"/>
              </a:solidFill>
              <a:latin typeface="Inter" panose="02000503000000020004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qreal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colWidth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  =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spriteW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* 12.0 / 32.0;</a:t>
            </a:r>
            <a:endParaRPr lang="en-GB" sz="1200" dirty="0">
              <a:solidFill>
                <a:srgbClr val="475569"/>
              </a:solidFill>
              <a:latin typeface="Inter" panose="02000503000000020004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200" dirty="0">
                <a:solidFill>
                  <a:srgbClr val="475569"/>
                </a:solidFill>
                <a:latin typeface="Inter" panose="02000503000000020004"/>
              </a:rPr>
              <a:t>辅助函数：利用引擎提取坐标底层的四个顶点，检测是否均在 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Walkable </a:t>
            </a:r>
            <a:r>
              <a:rPr lang="zh-CN" altLang="en-US" sz="1200" dirty="0">
                <a:solidFill>
                  <a:srgbClr val="475569"/>
                </a:solidFill>
                <a:latin typeface="Inter" panose="02000503000000020004"/>
              </a:rPr>
              <a:t>网格内</a:t>
            </a:r>
            <a:endParaRPr lang="zh-CN" altLang="en-US" sz="1200" dirty="0">
              <a:solidFill>
                <a:srgbClr val="475569"/>
              </a:solidFill>
              <a:latin typeface="Inter" panose="02000503000000020004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auto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checkWalkable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= [&amp;](&lt;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qreal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tx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,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qreal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ty&gt;) {</a:t>
            </a:r>
            <a:endParaRPr lang="en-GB" sz="1200" dirty="0">
              <a:solidFill>
                <a:srgbClr val="475569"/>
              </a:solidFill>
              <a:latin typeface="Inter" panose="02000503000000020004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    // ... </a:t>
            </a:r>
            <a:r>
              <a:rPr lang="zh-CN" altLang="en-US" sz="1200" dirty="0">
                <a:solidFill>
                  <a:srgbClr val="475569"/>
                </a:solidFill>
                <a:latin typeface="Inter" panose="02000503000000020004"/>
              </a:rPr>
              <a:t>坐标到网格顶点的换算 </a:t>
            </a:r>
            <a:r>
              <a:rPr lang="en-US" altLang="zh-CN" sz="1200" dirty="0">
                <a:solidFill>
                  <a:srgbClr val="475569"/>
                </a:solidFill>
                <a:latin typeface="Inter" panose="02000503000000020004"/>
              </a:rPr>
              <a:t>...</a:t>
            </a:r>
            <a:endParaRPr lang="en-US" altLang="zh-CN" sz="1200" dirty="0">
              <a:solidFill>
                <a:srgbClr val="475569"/>
              </a:solidFill>
              <a:latin typeface="Inter" panose="02000503000000020004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1200" dirty="0">
                <a:solidFill>
                  <a:srgbClr val="475569"/>
                </a:solidFill>
                <a:latin typeface="Inter" panose="02000503000000020004"/>
              </a:rPr>
              <a:t>    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return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mapSys.isWalkable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(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tlX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,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tlY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) &amp;&amp;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mapSys.isWalkable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(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brX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, </a:t>
            </a:r>
            <a:r>
              <a:rPr lang="en-GB" sz="1200" dirty="0" err="1">
                <a:solidFill>
                  <a:srgbClr val="475569"/>
                </a:solidFill>
                <a:latin typeface="Inter" panose="02000503000000020004"/>
              </a:rPr>
              <a:t>brY</a:t>
            </a: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);</a:t>
            </a:r>
            <a:endParaRPr lang="en-GB" sz="1200" dirty="0">
              <a:solidFill>
                <a:srgbClr val="475569"/>
              </a:solidFill>
              <a:latin typeface="Inter" panose="02000503000000020004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475569"/>
                </a:solidFill>
                <a:latin typeface="Inter" panose="02000503000000020004"/>
              </a:rPr>
              <a:t>};</a:t>
            </a:r>
            <a:endParaRPr lang="en-GB" sz="1200" dirty="0">
              <a:solidFill>
                <a:srgbClr val="475569"/>
              </a:solidFill>
              <a:latin typeface="Inter" panose="02000503000000020004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475569"/>
              </a:solidFill>
              <a:latin typeface="Inter" panose="02000503000000020004"/>
            </a:endParaRPr>
          </a:p>
        </p:txBody>
      </p:sp>
      <p:pic>
        <p:nvPicPr>
          <p:cNvPr id="3" name="图片 2" descr="图片包含 表格&#10;&#10;AI 生成的内容可能不正确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9215" y="390392"/>
            <a:ext cx="4916798" cy="3561191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6266815" y="4428490"/>
            <a:ext cx="5093335" cy="2157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dirty="0">
                <a:solidFill>
                  <a:srgbClr val="475569"/>
                </a:solidFill>
                <a:latin typeface="Inter" panose="02000503000000020004"/>
                <a:sym typeface="+mn-ea"/>
              </a:rPr>
              <a:t>分轴独立判定：实现贴墙时顺滑溜边，彻底解决越界与卡死 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Bug</a:t>
            </a:r>
            <a:endParaRPr lang="en-GB" dirty="0">
              <a:solidFill>
                <a:srgbClr val="475569"/>
              </a:solidFill>
              <a:latin typeface="Inter" panose="02000503000000020004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if (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nextX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 != player-&gt;x() &amp;&amp; 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checkWalkable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(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nextX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, player-&gt;y())) 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finalX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 = 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nextX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;</a:t>
            </a:r>
            <a:endParaRPr lang="en-GB" dirty="0">
              <a:solidFill>
                <a:srgbClr val="475569"/>
              </a:solidFill>
              <a:latin typeface="Inter" panose="02000503000000020004"/>
            </a:endParaRPr>
          </a:p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if (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nextY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 != player-&gt;y() &amp;&amp; 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checkWalkable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(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finalX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, 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nextY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)) 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finalY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 = </a:t>
            </a:r>
            <a:r>
              <a:rPr lang="en-GB" dirty="0" err="1">
                <a:solidFill>
                  <a:srgbClr val="475569"/>
                </a:solidFill>
                <a:latin typeface="Inter" panose="02000503000000020004"/>
                <a:sym typeface="+mn-ea"/>
              </a:rPr>
              <a:t>nextY</a:t>
            </a:r>
            <a:r>
              <a:rPr lang="en-GB" dirty="0">
                <a:solidFill>
                  <a:srgbClr val="475569"/>
                </a:solidFill>
                <a:latin typeface="Inter" panose="02000503000000020004"/>
                <a:sym typeface="+mn-ea"/>
              </a:rPr>
              <a:t>;</a:t>
            </a:r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8" descr="image.png"/>
          <p:cNvPicPr preferRelativeResize="0"/>
          <p:nvPr>
            <p:custDataLst>
              <p:tags r:id="rId1"/>
            </p:custDataLst>
          </p:nvPr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1472505"/>
            <a:ext cx="3524250" cy="31364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8" descr="image.png"/>
          <p:cNvPicPr preferRelativeResize="0"/>
          <p:nvPr>
            <p:custDataLst>
              <p:tags r:id="rId3"/>
            </p:custDataLst>
          </p:nvPr>
        </p:nvPicPr>
        <p:blipFill rotWithShape="1">
          <a:blip r:embed="rId4"/>
          <a:srcRect/>
          <a:stretch>
            <a:fillRect/>
          </a:stretch>
        </p:blipFill>
        <p:spPr>
          <a:xfrm>
            <a:off x="4333875" y="1472505"/>
            <a:ext cx="3524250" cy="31364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8" descr="image.png"/>
          <p:cNvPicPr preferRelativeResize="0"/>
          <p:nvPr>
            <p:custDataLst>
              <p:tags r:id="rId5"/>
            </p:custDataLst>
          </p:nvPr>
        </p:nvPicPr>
        <p:blipFill rotWithShape="1">
          <a:blip r:embed="rId6"/>
          <a:srcRect/>
          <a:stretch>
            <a:fillRect/>
          </a:stretch>
        </p:blipFill>
        <p:spPr>
          <a:xfrm>
            <a:off x="8096250" y="1472505"/>
            <a:ext cx="3524250" cy="3136403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18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动态时钟驱动的校园环境</a:t>
            </a:r>
            <a:endParaRPr lang="en-US" sz="285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73" name="Google Shape;173;p18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4" name="Google Shape;174;p18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TIME TICK ENGINE &amp; DAY-NIGHT SYSTEMS</a:t>
            </a:r>
            <a:endParaRPr lang="en-US" sz="1350" b="0" i="0" u="none" strike="noStrike" cap="none">
              <a:solidFill>
                <a:srgbClr val="0891B2"/>
              </a:solidFill>
              <a:latin typeface="JetBrains Mono Medium" panose="02000009000000000000"/>
              <a:ea typeface="JetBrains Mono Medium" panose="02000009000000000000"/>
              <a:cs typeface="JetBrains Mono Medium" panose="02000009000000000000"/>
              <a:sym typeface="JetBrains Mono Medium" panose="02000009000000000000"/>
            </a:endParaRPr>
          </a:p>
        </p:txBody>
      </p:sp>
      <p:sp>
        <p:nvSpPr>
          <p:cNvPr id="175" name="Google Shape;175;p18"/>
          <p:cNvSpPr/>
          <p:nvPr/>
        </p:nvSpPr>
        <p:spPr>
          <a:xfrm>
            <a:off x="581025" y="3021657"/>
            <a:ext cx="3505200" cy="381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6" name="Google Shape;176;p18"/>
          <p:cNvSpPr txBox="1"/>
          <p:nvPr>
            <p:custDataLst>
              <p:tags r:id="rId7"/>
            </p:custDataLst>
          </p:nvPr>
        </p:nvSpPr>
        <p:spPr>
          <a:xfrm>
            <a:off x="819150" y="2282130"/>
            <a:ext cx="318039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时钟驱动引擎</a:t>
            </a:r>
            <a:endParaRPr lang="en-US" sz="15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77" name="Google Shape;177;p18"/>
          <p:cNvSpPr txBox="1"/>
          <p:nvPr>
            <p:custDataLst>
              <p:tags r:id="rId8"/>
            </p:custDataLst>
          </p:nvPr>
        </p:nvSpPr>
        <p:spPr>
          <a:xfrm>
            <a:off x="819150" y="2682180"/>
            <a:ext cx="3028950" cy="1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采用高性能独立后台进程控制游戏时间的流转，精准划分早、晚两个核心战略阶段，为全天候任务逻辑提供确定性时钟源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600" dirty="0"/>
          </a:p>
        </p:txBody>
      </p:sp>
      <p:sp>
        <p:nvSpPr>
          <p:cNvPr id="178" name="Google Shape;178;p18"/>
          <p:cNvSpPr/>
          <p:nvPr/>
        </p:nvSpPr>
        <p:spPr>
          <a:xfrm>
            <a:off x="4343400" y="3021657"/>
            <a:ext cx="3505200" cy="381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79" name="Google Shape;179;p18"/>
          <p:cNvSpPr txBox="1"/>
          <p:nvPr>
            <p:custDataLst>
              <p:tags r:id="rId9"/>
            </p:custDataLst>
          </p:nvPr>
        </p:nvSpPr>
        <p:spPr>
          <a:xfrm>
            <a:off x="4581525" y="2282130"/>
            <a:ext cx="318039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日间小卖部</a:t>
            </a:r>
            <a:endParaRPr lang="en-US" sz="15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180" name="Google Shape;180;p18"/>
          <p:cNvSpPr txBox="1"/>
          <p:nvPr>
            <p:custDataLst>
              <p:tags r:id="rId10"/>
            </p:custDataLst>
          </p:nvPr>
        </p:nvSpPr>
        <p:spPr>
          <a:xfrm>
            <a:off x="4581525" y="2682180"/>
            <a:ext cx="3028950" cy="1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提供合规的补血、强化道具与常规装备购买通道。玩家可在日间整理行囊，通过合理的金币消费规划后续行动</a:t>
            </a:r>
            <a:r>
              <a:rPr lang="en-US" sz="16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600" dirty="0"/>
          </a:p>
        </p:txBody>
      </p:sp>
      <p:sp>
        <p:nvSpPr>
          <p:cNvPr id="181" name="Google Shape;181;p18"/>
          <p:cNvSpPr/>
          <p:nvPr/>
        </p:nvSpPr>
        <p:spPr>
          <a:xfrm>
            <a:off x="8105775" y="3021657"/>
            <a:ext cx="3505200" cy="38100"/>
          </a:xfrm>
          <a:prstGeom prst="roundRect">
            <a:avLst>
              <a:gd name="adj" fmla="val 50000"/>
            </a:avLst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82" name="Google Shape;182;p18"/>
          <p:cNvSpPr txBox="1"/>
          <p:nvPr>
            <p:custDataLst>
              <p:tags r:id="rId11"/>
            </p:custDataLst>
          </p:nvPr>
        </p:nvSpPr>
        <p:spPr>
          <a:xfrm>
            <a:off x="8343900" y="2282130"/>
            <a:ext cx="3180397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 err="1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深夜秘密黑市</a:t>
            </a:r>
            <a:endParaRPr dirty="0"/>
          </a:p>
        </p:txBody>
      </p:sp>
      <p:sp>
        <p:nvSpPr>
          <p:cNvPr id="183" name="Google Shape;183;p18"/>
          <p:cNvSpPr txBox="1"/>
          <p:nvPr>
            <p:custDataLst>
              <p:tags r:id="rId12"/>
            </p:custDataLst>
          </p:nvPr>
        </p:nvSpPr>
        <p:spPr>
          <a:xfrm>
            <a:off x="8343900" y="2539305"/>
            <a:ext cx="3028950" cy="1721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触发极高性价比的珍贵黑市交易。额外添加**“跨时段强制驱逐”安全防线，当后台时钟跨越临界点时，系统会自动重置玩家的商店挂机状态，彻底杜绝状态机串线与跨场景穿模的恶性 </a:t>
            </a:r>
            <a:r>
              <a:rPr lang="en-GB" altLang="zh-CN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Bug</a:t>
            </a:r>
            <a:r>
              <a:rPr lang="zh-CN" altLang="en-GB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lang="zh-CN" altLang="en-US" dirty="0"/>
          </a:p>
        </p:txBody>
      </p:sp>
      <p:pic>
        <p:nvPicPr>
          <p:cNvPr id="184" name="Google Shape;184;p18" descr="image.png"/>
          <p:cNvPicPr preferRelativeResize="0"/>
          <p:nvPr/>
        </p:nvPicPr>
        <p:blipFill rotWithShape="1">
          <a:blip r:embed="rId13"/>
          <a:srcRect/>
          <a:stretch>
            <a:fillRect/>
          </a:stretch>
        </p:blipFill>
        <p:spPr>
          <a:xfrm>
            <a:off x="571500" y="5171440"/>
            <a:ext cx="247650" cy="251460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8"/>
          <p:cNvSpPr txBox="1"/>
          <p:nvPr/>
        </p:nvSpPr>
        <p:spPr>
          <a:xfrm>
            <a:off x="968375" y="5171440"/>
            <a:ext cx="9417050" cy="6153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底层防冲突</a:t>
            </a:r>
            <a:r>
              <a:rPr lang="zh-CN" altLang="en-US" sz="20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通过状态模式实现多线程隔离，避免高并发读写时时钟数据异常导致的线程死锁及状态乱序。</a:t>
            </a:r>
            <a:endParaRPr lang="en-US" sz="20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pic>
        <p:nvPicPr>
          <p:cNvPr id="186" name="Google Shape;186;p18" descr="image.png"/>
          <p:cNvPicPr preferRelativeResize="0"/>
          <p:nvPr>
            <p:custDataLst>
              <p:tags r:id="rId14"/>
            </p:custDataLst>
          </p:nvPr>
        </p:nvPicPr>
        <p:blipFill rotWithShape="1">
          <a:blip r:embed="rId15"/>
          <a:srcRect/>
          <a:stretch>
            <a:fillRect/>
          </a:stretch>
        </p:blipFill>
        <p:spPr>
          <a:xfrm>
            <a:off x="819150" y="1748730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18" descr="image.png"/>
          <p:cNvPicPr preferRelativeResize="0"/>
          <p:nvPr>
            <p:custDataLst>
              <p:tags r:id="rId16"/>
            </p:custDataLst>
          </p:nvPr>
        </p:nvPicPr>
        <p:blipFill rotWithShape="1">
          <a:blip r:embed="rId17"/>
          <a:srcRect/>
          <a:stretch>
            <a:fillRect/>
          </a:stretch>
        </p:blipFill>
        <p:spPr>
          <a:xfrm>
            <a:off x="4581525" y="1748730"/>
            <a:ext cx="3048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18" descr="image.png"/>
          <p:cNvPicPr preferRelativeResize="0"/>
          <p:nvPr>
            <p:custDataLst>
              <p:tags r:id="rId18"/>
            </p:custDataLst>
          </p:nvPr>
        </p:nvPicPr>
        <p:blipFill rotWithShape="1">
          <a:blip r:embed="rId19"/>
          <a:srcRect/>
          <a:stretch>
            <a:fillRect/>
          </a:stretch>
        </p:blipFill>
        <p:spPr>
          <a:xfrm>
            <a:off x="8343900" y="1748730"/>
            <a:ext cx="228600" cy="30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3" name="Google Shape;193;p19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9" descr="image.png"/>
          <p:cNvPicPr preferRelativeResize="0"/>
          <p:nvPr>
            <p:custDataLst>
              <p:tags r:id="rId2"/>
            </p:custDataLst>
          </p:nvPr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9" descr="image.png"/>
          <p:cNvPicPr preferRelativeResize="0"/>
          <p:nvPr>
            <p:custDataLst>
              <p:tags r:id="rId4"/>
            </p:custDataLst>
          </p:nvPr>
        </p:nvPicPr>
        <p:blipFill rotWithShape="1">
          <a:blip r:embed="rId5"/>
          <a:srcRect/>
          <a:stretch>
            <a:fillRect/>
          </a:stretch>
        </p:blipFill>
        <p:spPr>
          <a:xfrm>
            <a:off x="6286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19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 dirty="0" err="1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面向对象：角色与背包系统</a:t>
            </a:r>
            <a:endParaRPr dirty="0"/>
          </a:p>
        </p:txBody>
      </p:sp>
      <p:sp>
        <p:nvSpPr>
          <p:cNvPr id="197" name="Google Shape;197;p19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198" name="Google Shape;198;p19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OOP BEST PRACTICES: INHERITANCE AND POLYMORPHISM</a:t>
            </a:r>
            <a:endParaRPr lang="en-US" sz="1350" b="0" i="0" u="none" strike="noStrike" cap="none">
              <a:solidFill>
                <a:srgbClr val="0891B2"/>
              </a:solidFill>
              <a:latin typeface="JetBrains Mono Medium" panose="02000009000000000000"/>
              <a:ea typeface="JetBrains Mono Medium" panose="02000009000000000000"/>
              <a:cs typeface="JetBrains Mono Medium" panose="02000009000000000000"/>
              <a:sym typeface="JetBrains Mono Medium" panose="02000009000000000000"/>
            </a:endParaRPr>
          </a:p>
        </p:txBody>
      </p:sp>
      <p:sp>
        <p:nvSpPr>
          <p:cNvPr id="199" name="Google Shape;199;p19"/>
          <p:cNvSpPr txBox="1"/>
          <p:nvPr>
            <p:custDataLst>
              <p:tags r:id="rId6"/>
            </p:custDataLst>
          </p:nvPr>
        </p:nvSpPr>
        <p:spPr>
          <a:xfrm>
            <a:off x="1247775" y="1767780"/>
            <a:ext cx="4580572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角色属性高度封装</a:t>
            </a:r>
            <a:endParaRPr lang="en-US" sz="18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00" name="Google Shape;200;p19"/>
          <p:cNvSpPr txBox="1"/>
          <p:nvPr>
            <p:custDataLst>
              <p:tags r:id="rId7"/>
            </p:custDataLst>
          </p:nvPr>
        </p:nvSpPr>
        <p:spPr>
          <a:xfrm>
            <a:off x="866775" y="5188880"/>
            <a:ext cx="4743450" cy="959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抽象统一的</a:t>
            </a:r>
            <a:r>
              <a:rPr 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Character </a:t>
            </a: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实体类，集成生命值（HP</a:t>
            </a:r>
            <a:r>
              <a:rPr 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）、</a:t>
            </a: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攻击力（ATK</a:t>
            </a:r>
            <a:r>
              <a:rPr 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）、</a:t>
            </a: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精力与防御等丰富属性，并在内部进行属性值变动安全阈值的边界限制，向外只暴露纯净的</a:t>
            </a:r>
            <a:r>
              <a:rPr 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API </a:t>
            </a: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接口</a:t>
            </a:r>
            <a:r>
              <a:rPr 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300" dirty="0"/>
          </a:p>
        </p:txBody>
      </p:sp>
      <p:sp>
        <p:nvSpPr>
          <p:cNvPr id="201" name="Google Shape;201;p19"/>
          <p:cNvSpPr txBox="1"/>
          <p:nvPr>
            <p:custDataLst>
              <p:tags r:id="rId8"/>
            </p:custDataLst>
          </p:nvPr>
        </p:nvSpPr>
        <p:spPr>
          <a:xfrm>
            <a:off x="6905625" y="1767780"/>
            <a:ext cx="464058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继承与多态的实战典范</a:t>
            </a:r>
            <a:endParaRPr lang="en-US" sz="18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02" name="Google Shape;202;p19"/>
          <p:cNvSpPr txBox="1"/>
          <p:nvPr>
            <p:custDataLst>
              <p:tags r:id="rId9"/>
            </p:custDataLst>
          </p:nvPr>
        </p:nvSpPr>
        <p:spPr>
          <a:xfrm>
            <a:off x="6581775" y="5111353"/>
            <a:ext cx="4743450" cy="12795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构建抽象基类</a:t>
            </a:r>
            <a:r>
              <a:rPr 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Item，衍生派生出食物</a:t>
            </a:r>
            <a:r>
              <a:rPr lang="zh-CN" alt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，装备</a:t>
            </a: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等。背包统一采用</a:t>
            </a:r>
            <a:r>
              <a:rPr 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std::vector </a:t>
            </a: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管理，在玩家使用特定道具时利用虚函数机制</a:t>
            </a:r>
            <a:r>
              <a:rPr lang="zh-CN" alt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，</a:t>
            </a:r>
            <a:r>
              <a:rPr lang="en-US" sz="13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在运行期动态判定具体的属性变更效果，极大精简了条件分支判断代码</a:t>
            </a:r>
            <a:r>
              <a:rPr lang="en-US" sz="13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300" dirty="0"/>
          </a:p>
        </p:txBody>
      </p:sp>
      <p:pic>
        <p:nvPicPr>
          <p:cNvPr id="203" name="Google Shape;203;p19" descr="image.png"/>
          <p:cNvPicPr preferRelativeResize="0"/>
          <p:nvPr>
            <p:custDataLst>
              <p:tags r:id="rId10"/>
            </p:custDataLst>
          </p:nvPr>
        </p:nvPicPr>
        <p:blipFill rotWithShape="1">
          <a:blip r:embed="rId11"/>
          <a:srcRect/>
          <a:stretch>
            <a:fillRect/>
          </a:stretch>
        </p:blipFill>
        <p:spPr>
          <a:xfrm>
            <a:off x="866775" y="1805880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19" descr="image.png"/>
          <p:cNvPicPr preferRelativeResize="0"/>
          <p:nvPr>
            <p:custDataLst>
              <p:tags r:id="rId12"/>
            </p:custDataLst>
          </p:nvPr>
        </p:nvPicPr>
        <p:blipFill rotWithShape="1">
          <a:blip r:embed="rId13"/>
          <a:srcRect/>
          <a:stretch>
            <a:fillRect/>
          </a:stretch>
        </p:blipFill>
        <p:spPr>
          <a:xfrm>
            <a:off x="6581775" y="180588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图形 4"/>
          <p:cNvPicPr>
            <a:picLocks noChangeAspect="1"/>
          </p:cNvPicPr>
          <p:nvPr>
            <p:custDataLst>
              <p:tags r:id="rId14"/>
            </p:custDataLst>
          </p:nvPr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71525" y="2429220"/>
            <a:ext cx="4836779" cy="2449662"/>
          </a:xfrm>
          <a:prstGeom prst="rect">
            <a:avLst/>
          </a:prstGeom>
        </p:spPr>
      </p:pic>
      <p:pic>
        <p:nvPicPr>
          <p:cNvPr id="7" name="图形 6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347887" y="2651655"/>
            <a:ext cx="5272613" cy="188062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Google Shape;209;p20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15308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Google Shape;210;p20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2836515"/>
            <a:ext cx="4229100" cy="2181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Google Shape;211;p20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1423987" y="3227040"/>
            <a:ext cx="2524125" cy="104775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0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面向对象的战斗引擎判定</a:t>
            </a:r>
            <a:endParaRPr lang="en-US" sz="285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13" name="Google Shape;213;p20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14" name="Google Shape;214;p20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STATE MACHINE DRIVEN COMBAT SYSTEM</a:t>
            </a:r>
            <a:endParaRPr lang="en-US" sz="1350" b="0" i="0" u="none" strike="noStrike" cap="none">
              <a:solidFill>
                <a:srgbClr val="0891B2"/>
              </a:solidFill>
              <a:latin typeface="JetBrains Mono Medium" panose="02000009000000000000"/>
              <a:ea typeface="JetBrains Mono Medium" panose="02000009000000000000"/>
              <a:cs typeface="JetBrains Mono Medium" panose="02000009000000000000"/>
              <a:sym typeface="JetBrains Mono Medium" panose="02000009000000000000"/>
            </a:endParaRPr>
          </a:p>
        </p:txBody>
      </p:sp>
      <p:sp>
        <p:nvSpPr>
          <p:cNvPr id="215" name="Google Shape;215;p20"/>
          <p:cNvSpPr txBox="1"/>
          <p:nvPr/>
        </p:nvSpPr>
        <p:spPr>
          <a:xfrm>
            <a:off x="2019300" y="4370040"/>
            <a:ext cx="1333500" cy="2571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状态机控制判定</a:t>
            </a:r>
            <a:endParaRPr lang="en-US" sz="15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16" name="Google Shape;216;p20"/>
          <p:cNvSpPr txBox="1"/>
          <p:nvPr/>
        </p:nvSpPr>
        <p:spPr>
          <a:xfrm>
            <a:off x="5610225" y="2237853"/>
            <a:ext cx="6010275" cy="7385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回合转换状态机</a:t>
            </a:r>
            <a:r>
              <a:rPr lang="en-US" sz="1600" b="1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：</a:t>
            </a:r>
            <a:r>
              <a:rPr 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采用经典状态模式设计战斗流程，统合玩家阶段、计算阶段、怪物阶段及结算状态，结构边界极佳</a:t>
            </a:r>
            <a:r>
              <a:rPr 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600" dirty="0"/>
          </a:p>
        </p:txBody>
      </p:sp>
      <p:sp>
        <p:nvSpPr>
          <p:cNvPr id="217" name="Google Shape;217;p20"/>
          <p:cNvSpPr txBox="1"/>
          <p:nvPr/>
        </p:nvSpPr>
        <p:spPr>
          <a:xfrm>
            <a:off x="5610224" y="2981715"/>
            <a:ext cx="6010275" cy="2215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精确伤害计算</a:t>
            </a:r>
            <a:r>
              <a:rPr lang="en-US" sz="1600" b="1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：</a:t>
            </a:r>
            <a:r>
              <a:rPr 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en-US" sz="16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伤害</a:t>
            </a:r>
            <a:r>
              <a:rPr 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= </a:t>
            </a:r>
            <a:r>
              <a:rPr lang="en-US" sz="16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攻击力</a:t>
            </a:r>
            <a:r>
              <a:rPr 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* (1 - </a:t>
            </a:r>
            <a:r>
              <a:rPr lang="en-US" sz="16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减伤比率</a:t>
            </a:r>
            <a:r>
              <a:rPr 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)，</a:t>
            </a:r>
            <a:r>
              <a:rPr lang="en-US" sz="1600" b="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并加入暴击及特殊反击逻辑判定，使得攻守过程富有战术变化</a:t>
            </a:r>
            <a:r>
              <a:rPr 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r>
              <a:rPr lang="zh-CN" alt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精确数值博弈与耐久度引擎：底层基于经典阈值减法（伤害 </a:t>
            </a:r>
            <a:r>
              <a:rPr lang="en-US" altLang="zh-CN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= </a:t>
            </a:r>
            <a:r>
              <a:rPr lang="zh-CN" alt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攻击 </a:t>
            </a:r>
            <a:r>
              <a:rPr lang="en-US" altLang="zh-CN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- </a:t>
            </a:r>
            <a:r>
              <a:rPr lang="zh-CN" alt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防御）。战斗中创新引入了部位打击判定，敌人会随机攻击玩家的头部、躯干或四肢，并根据对数函数计算防具的耐久度损耗，使得攻守过程富有战术变化。</a:t>
            </a:r>
            <a:endParaRPr sz="1600" dirty="0"/>
          </a:p>
        </p:txBody>
      </p:sp>
      <p:sp>
        <p:nvSpPr>
          <p:cNvPr id="218" name="Google Shape;218;p20"/>
          <p:cNvSpPr txBox="1"/>
          <p:nvPr/>
        </p:nvSpPr>
        <p:spPr>
          <a:xfrm>
            <a:off x="5610225" y="5129817"/>
            <a:ext cx="6010275" cy="1477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600" b="1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优先级调度与破韧机制</a:t>
            </a:r>
            <a:r>
              <a:rPr lang="zh-CN" alt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：特殊道具在战斗轮次中具有绝对优先权（不耗费回合的先手治愈）。此外，引入了类似</a:t>
            </a:r>
            <a:r>
              <a:rPr lang="en-US" altLang="zh-CN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《</a:t>
            </a:r>
            <a:r>
              <a:rPr lang="zh-CN" altLang="en-US" sz="1600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原神</a:t>
            </a:r>
            <a:r>
              <a:rPr lang="en-US" altLang="zh-CN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》</a:t>
            </a:r>
            <a:r>
              <a:rPr lang="zh-CN" alt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的破韧度（</a:t>
            </a:r>
            <a:r>
              <a:rPr 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Stagger）</a:t>
            </a:r>
            <a:r>
              <a:rPr lang="zh-CN" altLang="en-US" sz="1600" b="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状态机逻辑，当累积破韧值达标时，怪物将陷入瘫痪，并在引擎中被强制静止本回合的行为判定。</a:t>
            </a:r>
            <a:endParaRPr sz="1600" dirty="0"/>
          </a:p>
        </p:txBody>
      </p:sp>
      <p:pic>
        <p:nvPicPr>
          <p:cNvPr id="219" name="Google Shape;219;p20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276850" y="3122265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0" name="Google Shape;220;p20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5232400" y="5257800"/>
            <a:ext cx="142875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1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1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1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286500" y="1107297"/>
            <a:ext cx="5334000" cy="5274452"/>
          </a:xfrm>
          <a:prstGeom prst="rect">
            <a:avLst/>
          </a:prstGeom>
          <a:noFill/>
          <a:ln>
            <a:noFill/>
          </a:ln>
        </p:spPr>
      </p:pic>
      <p:sp>
        <p:nvSpPr>
          <p:cNvPr id="228" name="Google Shape;228;p21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核心挑战：图形界面的全面升级</a:t>
            </a:r>
            <a:endParaRPr lang="en-US" sz="285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29" name="Google Shape;229;p21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30" name="Google Shape;230;p21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CHALLENGE I: COMMAND LINE RESTRUCTURING</a:t>
            </a:r>
            <a:endParaRPr lang="en-US" sz="1350" b="0" i="0" u="none" strike="noStrike" cap="none">
              <a:solidFill>
                <a:srgbClr val="0891B2"/>
              </a:solidFill>
              <a:latin typeface="JetBrains Mono Medium" panose="02000009000000000000"/>
              <a:ea typeface="JetBrains Mono Medium" panose="02000009000000000000"/>
              <a:cs typeface="JetBrains Mono Medium" panose="02000009000000000000"/>
              <a:sym typeface="JetBrains Mono Medium" panose="02000009000000000000"/>
            </a:endParaRPr>
          </a:p>
        </p:txBody>
      </p:sp>
      <p:sp>
        <p:nvSpPr>
          <p:cNvPr id="231" name="Google Shape;231;p21"/>
          <p:cNvSpPr txBox="1"/>
          <p:nvPr/>
        </p:nvSpPr>
        <p:spPr>
          <a:xfrm>
            <a:off x="1162050" y="1767780"/>
            <a:ext cx="467058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1. 业务逻辑“零创伤”迁徙</a:t>
            </a:r>
            <a:endParaRPr lang="en-US" sz="18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32" name="Google Shape;232;p21"/>
          <p:cNvSpPr txBox="1"/>
          <p:nvPr/>
        </p:nvSpPr>
        <p:spPr>
          <a:xfrm>
            <a:off x="866775" y="5355133"/>
            <a:ext cx="474345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在原有纯黑框字符版业务代码毫不知情的情况下，将其整体打包内嵌至 Qt6 视口视图架构中。在视图刷新阶段通过映射指针直接提取数据源渲染图元，完美规避重写旧逻辑的巨大工作量。</a:t>
            </a:r>
            <a:endParaRPr lang="en-US" sz="1200" b="0" i="0" u="none" strike="noStrike" cap="none">
              <a:solidFill>
                <a:srgbClr val="475569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34" name="Google Shape;234;p21"/>
          <p:cNvSpPr txBox="1"/>
          <p:nvPr/>
        </p:nvSpPr>
        <p:spPr>
          <a:xfrm>
            <a:off x="6581775" y="5111353"/>
            <a:ext cx="4743450" cy="975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原生的键盘响应常伴随首字卡顿，项目创造性地采用</a:t>
            </a:r>
            <a:r>
              <a:rPr lang="en-US" sz="1200" b="1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“按键信号拦截器</a:t>
            </a:r>
            <a:r>
              <a:rPr lang="en-US" sz="1200" b="1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+ </a:t>
            </a:r>
            <a:r>
              <a:rPr lang="en-US" sz="1200" b="1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状态机记录</a:t>
            </a:r>
            <a:r>
              <a:rPr lang="en-US" sz="1200" b="1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+ 16ms </a:t>
            </a:r>
            <a:r>
              <a:rPr lang="en-US" sz="1200" b="1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频率定时器轮询”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的技术方案。该底层改造可顺畅处理斜向同按在内的复杂手柄化按键组合，将玩家行走操纵帧率直接抬升到丝滑的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60FPS </a:t>
            </a:r>
            <a:r>
              <a:rPr lang="en-US" sz="12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水准</a:t>
            </a:r>
            <a:r>
              <a:rPr lang="en-US" sz="12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dirty="0"/>
          </a:p>
        </p:txBody>
      </p:sp>
      <p:pic>
        <p:nvPicPr>
          <p:cNvPr id="235" name="Google Shape;235;p21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866775" y="1805880"/>
            <a:ext cx="200025" cy="228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" name="组合 2"/>
          <p:cNvGrpSpPr/>
          <p:nvPr/>
        </p:nvGrpSpPr>
        <p:grpSpPr>
          <a:xfrm>
            <a:off x="6477000" y="1272480"/>
            <a:ext cx="4965858" cy="304800"/>
            <a:chOff x="6581775" y="1767780"/>
            <a:chExt cx="4965858" cy="304800"/>
          </a:xfrm>
        </p:grpSpPr>
        <p:sp>
          <p:nvSpPr>
            <p:cNvPr id="233" name="Google Shape;233;p21"/>
            <p:cNvSpPr txBox="1"/>
            <p:nvPr/>
          </p:nvSpPr>
          <p:spPr>
            <a:xfrm>
              <a:off x="6877050" y="1767780"/>
              <a:ext cx="4670583" cy="30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b="1" i="0" u="none" strike="noStrike" cap="none" dirty="0">
                  <a:solidFill>
                    <a:srgbClr val="1E40A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2. </a:t>
              </a:r>
              <a:r>
                <a:rPr lang="en-US" sz="1800" b="1" i="0" u="none" strike="noStrike" cap="none" dirty="0" err="1">
                  <a:solidFill>
                    <a:srgbClr val="1E40AF"/>
                  </a:solidFill>
                  <a:latin typeface="Inter" panose="02000503000000020004"/>
                  <a:ea typeface="Inter" panose="02000503000000020004"/>
                  <a:cs typeface="Inter" panose="02000503000000020004"/>
                  <a:sym typeface="Inter" panose="02000503000000020004"/>
                </a:rPr>
                <a:t>彻底解决按键迟滞卡顿</a:t>
              </a:r>
              <a:endParaRPr dirty="0"/>
            </a:p>
          </p:txBody>
        </p:sp>
        <p:pic>
          <p:nvPicPr>
            <p:cNvPr id="236" name="Google Shape;236;p21" descr="image.png"/>
            <p:cNvPicPr preferRelativeResize="0"/>
            <p:nvPr/>
          </p:nvPicPr>
          <p:blipFill rotWithShape="1">
            <a:blip r:embed="rId5"/>
            <a:srcRect/>
            <a:stretch>
              <a:fillRect/>
            </a:stretch>
          </p:blipFill>
          <p:spPr>
            <a:xfrm>
              <a:off x="6581775" y="1805880"/>
              <a:ext cx="200025" cy="228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2" name="文本框 1"/>
          <p:cNvSpPr txBox="1"/>
          <p:nvPr/>
        </p:nvSpPr>
        <p:spPr>
          <a:xfrm>
            <a:off x="6496050" y="1559803"/>
            <a:ext cx="4448175" cy="36471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1050" dirty="0"/>
              <a:t>// 🌟 </a:t>
            </a:r>
            <a:r>
              <a:rPr kumimoji="1" lang="zh-CN" altLang="en-US" sz="1050" dirty="0"/>
              <a:t>核心突破：</a:t>
            </a:r>
            <a:r>
              <a:rPr kumimoji="1" lang="en-US" altLang="zh-CN" sz="1050" dirty="0"/>
              <a:t>16</a:t>
            </a:r>
            <a:r>
              <a:rPr kumimoji="1" lang="en-GB" altLang="zh-CN" sz="1050" dirty="0" err="1"/>
              <a:t>ms</a:t>
            </a:r>
            <a:r>
              <a:rPr kumimoji="1" lang="en-GB" altLang="zh-CN" sz="1050" dirty="0"/>
              <a:t> </a:t>
            </a:r>
            <a:r>
              <a:rPr kumimoji="1" lang="zh-CN" altLang="en-US" sz="1050" dirty="0"/>
              <a:t>状态机轮询取代原生阻塞拦截</a:t>
            </a:r>
            <a:endParaRPr kumimoji="1" lang="zh-CN" altLang="en-US" sz="1050" dirty="0"/>
          </a:p>
          <a:p>
            <a:r>
              <a:rPr kumimoji="1" lang="en-GB" altLang="zh-CN" sz="1050" dirty="0"/>
              <a:t>void </a:t>
            </a:r>
            <a:r>
              <a:rPr kumimoji="1" lang="en-GB" altLang="zh-CN" sz="1050" dirty="0" err="1"/>
              <a:t>MainWindow</a:t>
            </a:r>
            <a:r>
              <a:rPr kumimoji="1" lang="en-GB" altLang="zh-CN" sz="1050" dirty="0"/>
              <a:t>::</a:t>
            </a:r>
            <a:r>
              <a:rPr kumimoji="1" lang="en-GB" altLang="zh-CN" sz="1050" dirty="0" err="1"/>
              <a:t>keyPressEvent</a:t>
            </a:r>
            <a:r>
              <a:rPr kumimoji="1" lang="en-GB" altLang="zh-CN" sz="1050" dirty="0"/>
              <a:t>(</a:t>
            </a:r>
            <a:r>
              <a:rPr kumimoji="1" lang="en-GB" altLang="zh-CN" sz="1050" dirty="0" err="1"/>
              <a:t>QKeyEvent</a:t>
            </a:r>
            <a:r>
              <a:rPr kumimoji="1" lang="en-GB" altLang="zh-CN" sz="1050" dirty="0"/>
              <a:t>* event) {</a:t>
            </a:r>
            <a:endParaRPr kumimoji="1" lang="en-GB" altLang="zh-CN" sz="1050" dirty="0"/>
          </a:p>
          <a:p>
            <a:r>
              <a:rPr kumimoji="1" lang="en-GB" altLang="zh-CN" sz="1050" dirty="0"/>
              <a:t>    // </a:t>
            </a:r>
            <a:r>
              <a:rPr kumimoji="1" lang="zh-CN" altLang="en-US" sz="1050" dirty="0"/>
              <a:t>拦截器：仅记录按键状态，不处理移动逻辑</a:t>
            </a:r>
            <a:endParaRPr kumimoji="1" lang="zh-CN" altLang="en-US" sz="1050" dirty="0"/>
          </a:p>
          <a:p>
            <a:r>
              <a:rPr kumimoji="1" lang="zh-CN" altLang="en-US" sz="1050" dirty="0"/>
              <a:t>    </a:t>
            </a:r>
            <a:r>
              <a:rPr kumimoji="1" lang="en-GB" altLang="zh-CN" sz="1050" dirty="0"/>
              <a:t>if (event-&gt;key() == Qt::</a:t>
            </a:r>
            <a:r>
              <a:rPr kumimoji="1" lang="en-GB" altLang="zh-CN" sz="1050" dirty="0" err="1"/>
              <a:t>Key_W</a:t>
            </a:r>
            <a:r>
              <a:rPr kumimoji="1" lang="en-GB" altLang="zh-CN" sz="1050" dirty="0"/>
              <a:t>) </a:t>
            </a:r>
            <a:r>
              <a:rPr kumimoji="1" lang="en-GB" altLang="zh-CN" sz="1050" dirty="0" err="1"/>
              <a:t>keyW</a:t>
            </a:r>
            <a:r>
              <a:rPr kumimoji="1" lang="en-GB" altLang="zh-CN" sz="1050" dirty="0"/>
              <a:t> = true;</a:t>
            </a:r>
            <a:endParaRPr kumimoji="1" lang="en-GB" altLang="zh-CN" sz="1050" dirty="0"/>
          </a:p>
          <a:p>
            <a:r>
              <a:rPr kumimoji="1" lang="en-GB" altLang="zh-CN" sz="1050" dirty="0"/>
              <a:t>    if (event-&gt;key() == Qt::</a:t>
            </a:r>
            <a:r>
              <a:rPr kumimoji="1" lang="en-GB" altLang="zh-CN" sz="1050" dirty="0" err="1"/>
              <a:t>Key_S</a:t>
            </a:r>
            <a:r>
              <a:rPr kumimoji="1" lang="en-GB" altLang="zh-CN" sz="1050" dirty="0"/>
              <a:t>) </a:t>
            </a:r>
            <a:r>
              <a:rPr kumimoji="1" lang="en-GB" altLang="zh-CN" sz="1050" dirty="0" err="1"/>
              <a:t>keyS</a:t>
            </a:r>
            <a:r>
              <a:rPr kumimoji="1" lang="en-GB" altLang="zh-CN" sz="1050" dirty="0"/>
              <a:t> = true;</a:t>
            </a:r>
            <a:endParaRPr kumimoji="1" lang="en-GB" altLang="zh-CN" sz="1050" dirty="0"/>
          </a:p>
          <a:p>
            <a:r>
              <a:rPr kumimoji="1" lang="en-GB" altLang="zh-CN" sz="1050" dirty="0"/>
              <a:t>    if (event-&gt;key() == Qt::</a:t>
            </a:r>
            <a:r>
              <a:rPr kumimoji="1" lang="en-GB" altLang="zh-CN" sz="1050" dirty="0" err="1"/>
              <a:t>Key_A</a:t>
            </a:r>
            <a:r>
              <a:rPr kumimoji="1" lang="en-GB" altLang="zh-CN" sz="1050" dirty="0"/>
              <a:t>) </a:t>
            </a:r>
            <a:r>
              <a:rPr kumimoji="1" lang="en-GB" altLang="zh-CN" sz="1050" dirty="0" err="1"/>
              <a:t>keyA</a:t>
            </a:r>
            <a:r>
              <a:rPr kumimoji="1" lang="en-GB" altLang="zh-CN" sz="1050" dirty="0"/>
              <a:t> = true;</a:t>
            </a:r>
            <a:endParaRPr kumimoji="1" lang="en-GB" altLang="zh-CN" sz="1050" dirty="0"/>
          </a:p>
          <a:p>
            <a:r>
              <a:rPr kumimoji="1" lang="en-GB" altLang="zh-CN" sz="1050" dirty="0"/>
              <a:t>    if (event-&gt;key() == Qt::</a:t>
            </a:r>
            <a:r>
              <a:rPr kumimoji="1" lang="en-GB" altLang="zh-CN" sz="1050" dirty="0" err="1"/>
              <a:t>Key_D</a:t>
            </a:r>
            <a:r>
              <a:rPr kumimoji="1" lang="en-GB" altLang="zh-CN" sz="1050" dirty="0"/>
              <a:t>) </a:t>
            </a:r>
            <a:r>
              <a:rPr kumimoji="1" lang="en-GB" altLang="zh-CN" sz="1050" dirty="0" err="1"/>
              <a:t>keyD</a:t>
            </a:r>
            <a:r>
              <a:rPr kumimoji="1" lang="en-GB" altLang="zh-CN" sz="1050" dirty="0"/>
              <a:t> = true;</a:t>
            </a:r>
            <a:endParaRPr kumimoji="1" lang="en-GB" altLang="zh-CN" sz="1050" dirty="0"/>
          </a:p>
          <a:p>
            <a:r>
              <a:rPr kumimoji="1" lang="en-GB" altLang="zh-CN" sz="1050" dirty="0"/>
              <a:t>}</a:t>
            </a:r>
            <a:endParaRPr kumimoji="1" lang="en-GB" altLang="zh-CN" sz="1050" dirty="0"/>
          </a:p>
          <a:p>
            <a:endParaRPr kumimoji="1" lang="en-GB" altLang="zh-CN" sz="1050" dirty="0"/>
          </a:p>
          <a:p>
            <a:r>
              <a:rPr kumimoji="1" lang="en-GB" altLang="zh-CN" sz="1050" dirty="0"/>
              <a:t>// </a:t>
            </a:r>
            <a:r>
              <a:rPr kumimoji="1" lang="zh-CN" altLang="en-US" sz="1050" dirty="0"/>
              <a:t>在初始化中启动 </a:t>
            </a:r>
            <a:r>
              <a:rPr kumimoji="1" lang="en-US" altLang="zh-CN" sz="1050" dirty="0"/>
              <a:t>60</a:t>
            </a:r>
            <a:r>
              <a:rPr kumimoji="1" lang="en-GB" altLang="zh-CN" sz="1050" dirty="0"/>
              <a:t>FPS </a:t>
            </a:r>
            <a:r>
              <a:rPr kumimoji="1" lang="zh-CN" altLang="en-US" sz="1050" dirty="0"/>
              <a:t>定时器轮询</a:t>
            </a:r>
            <a:endParaRPr kumimoji="1" lang="zh-CN" altLang="en-US" sz="1050" dirty="0"/>
          </a:p>
          <a:p>
            <a:r>
              <a:rPr kumimoji="1" lang="en-GB" altLang="zh-CN" sz="1050" dirty="0" err="1"/>
              <a:t>moveTimer</a:t>
            </a:r>
            <a:r>
              <a:rPr kumimoji="1" lang="en-GB" altLang="zh-CN" sz="1050" dirty="0"/>
              <a:t> = new </a:t>
            </a:r>
            <a:r>
              <a:rPr kumimoji="1" lang="en-GB" altLang="zh-CN" sz="1050" dirty="0" err="1"/>
              <a:t>QTimer</a:t>
            </a:r>
            <a:r>
              <a:rPr kumimoji="1" lang="en-GB" altLang="zh-CN" sz="1050" dirty="0"/>
              <a:t>(this);</a:t>
            </a:r>
            <a:endParaRPr kumimoji="1" lang="en-GB" altLang="zh-CN" sz="1050" dirty="0"/>
          </a:p>
          <a:p>
            <a:r>
              <a:rPr kumimoji="1" lang="en-GB" altLang="zh-CN" sz="1050" dirty="0"/>
              <a:t>connect(</a:t>
            </a:r>
            <a:r>
              <a:rPr kumimoji="1" lang="en-GB" altLang="zh-CN" sz="1050" dirty="0" err="1"/>
              <a:t>moveTimer</a:t>
            </a:r>
            <a:r>
              <a:rPr kumimoji="1" lang="en-GB" altLang="zh-CN" sz="1050" dirty="0"/>
              <a:t>, &amp;</a:t>
            </a:r>
            <a:r>
              <a:rPr kumimoji="1" lang="en-GB" altLang="zh-CN" sz="1050" dirty="0" err="1"/>
              <a:t>QTimer</a:t>
            </a:r>
            <a:r>
              <a:rPr kumimoji="1" lang="en-GB" altLang="zh-CN" sz="1050" dirty="0"/>
              <a:t>::timeout, this, [=]() {</a:t>
            </a:r>
            <a:endParaRPr kumimoji="1" lang="en-GB" altLang="zh-CN" sz="1050" dirty="0"/>
          </a:p>
          <a:p>
            <a:r>
              <a:rPr kumimoji="1" lang="en-GB" altLang="zh-CN" sz="1050" dirty="0"/>
              <a:t>    int dx = 0, </a:t>
            </a:r>
            <a:r>
              <a:rPr kumimoji="1" lang="en-GB" altLang="zh-CN" sz="1050" dirty="0" err="1"/>
              <a:t>dy</a:t>
            </a:r>
            <a:r>
              <a:rPr kumimoji="1" lang="en-GB" altLang="zh-CN" sz="1050" dirty="0"/>
              <a:t> = 0;</a:t>
            </a:r>
            <a:endParaRPr kumimoji="1" lang="en-GB" altLang="zh-CN" sz="1050" dirty="0"/>
          </a:p>
          <a:p>
            <a:r>
              <a:rPr kumimoji="1" lang="en-GB" altLang="zh-CN" sz="1050" dirty="0"/>
              <a:t>    // </a:t>
            </a:r>
            <a:r>
              <a:rPr kumimoji="1" lang="zh-CN" altLang="en-US" sz="1050" dirty="0"/>
              <a:t>状态机判定：完美支持斜向</a:t>
            </a:r>
            <a:r>
              <a:rPr kumimoji="1" lang="en-US" altLang="zh-CN" sz="1050" dirty="0"/>
              <a:t>(</a:t>
            </a:r>
            <a:r>
              <a:rPr kumimoji="1" lang="zh-CN" altLang="en-US" sz="1050" dirty="0"/>
              <a:t>如 </a:t>
            </a:r>
            <a:r>
              <a:rPr kumimoji="1" lang="en-GB" altLang="zh-CN" sz="1050" dirty="0"/>
              <a:t>W+D </a:t>
            </a:r>
            <a:r>
              <a:rPr kumimoji="1" lang="zh-CN" altLang="en-US" sz="1050" dirty="0"/>
              <a:t>同按</a:t>
            </a:r>
            <a:r>
              <a:rPr kumimoji="1" lang="en-US" altLang="zh-CN" sz="1050" dirty="0"/>
              <a:t>)</a:t>
            </a:r>
            <a:r>
              <a:rPr kumimoji="1" lang="zh-CN" altLang="en-US" sz="1050" dirty="0"/>
              <a:t>的丝滑移动</a:t>
            </a:r>
            <a:endParaRPr kumimoji="1" lang="zh-CN" altLang="en-US" sz="1050" dirty="0"/>
          </a:p>
          <a:p>
            <a:r>
              <a:rPr kumimoji="1" lang="zh-CN" altLang="en-US" sz="1050" dirty="0"/>
              <a:t>    </a:t>
            </a:r>
            <a:r>
              <a:rPr kumimoji="1" lang="en-GB" altLang="zh-CN" sz="1050" dirty="0"/>
              <a:t>if (</a:t>
            </a:r>
            <a:r>
              <a:rPr kumimoji="1" lang="en-GB" altLang="zh-CN" sz="1050" dirty="0" err="1"/>
              <a:t>keyW</a:t>
            </a:r>
            <a:r>
              <a:rPr kumimoji="1" lang="en-GB" altLang="zh-CN" sz="1050" dirty="0"/>
              <a:t>) </a:t>
            </a:r>
            <a:r>
              <a:rPr kumimoji="1" lang="en-GB" altLang="zh-CN" sz="1050" dirty="0" err="1"/>
              <a:t>dy</a:t>
            </a:r>
            <a:r>
              <a:rPr kumimoji="1" lang="en-GB" altLang="zh-CN" sz="1050" dirty="0"/>
              <a:t> -= </a:t>
            </a:r>
            <a:r>
              <a:rPr kumimoji="1" lang="en-GB" altLang="zh-CN" sz="1050" dirty="0" err="1"/>
              <a:t>moveSpeed</a:t>
            </a:r>
            <a:r>
              <a:rPr kumimoji="1" lang="en-GB" altLang="zh-CN" sz="1050" dirty="0"/>
              <a:t>;</a:t>
            </a:r>
            <a:endParaRPr kumimoji="1" lang="en-GB" altLang="zh-CN" sz="1050" dirty="0"/>
          </a:p>
          <a:p>
            <a:r>
              <a:rPr kumimoji="1" lang="en-GB" altLang="zh-CN" sz="1050" dirty="0"/>
              <a:t>    if (</a:t>
            </a:r>
            <a:r>
              <a:rPr kumimoji="1" lang="en-GB" altLang="zh-CN" sz="1050" dirty="0" err="1"/>
              <a:t>keyS</a:t>
            </a:r>
            <a:r>
              <a:rPr kumimoji="1" lang="en-GB" altLang="zh-CN" sz="1050" dirty="0"/>
              <a:t>) </a:t>
            </a:r>
            <a:r>
              <a:rPr kumimoji="1" lang="en-GB" altLang="zh-CN" sz="1050" dirty="0" err="1"/>
              <a:t>dy</a:t>
            </a:r>
            <a:r>
              <a:rPr kumimoji="1" lang="en-GB" altLang="zh-CN" sz="1050" dirty="0"/>
              <a:t> += </a:t>
            </a:r>
            <a:r>
              <a:rPr kumimoji="1" lang="en-GB" altLang="zh-CN" sz="1050" dirty="0" err="1"/>
              <a:t>moveSpeed</a:t>
            </a:r>
            <a:r>
              <a:rPr kumimoji="1" lang="en-GB" altLang="zh-CN" sz="1050" dirty="0"/>
              <a:t>;</a:t>
            </a:r>
            <a:endParaRPr kumimoji="1" lang="en-GB" altLang="zh-CN" sz="1050" dirty="0"/>
          </a:p>
          <a:p>
            <a:r>
              <a:rPr kumimoji="1" lang="en-GB" altLang="zh-CN" sz="1050" dirty="0"/>
              <a:t>    if (</a:t>
            </a:r>
            <a:r>
              <a:rPr kumimoji="1" lang="en-GB" altLang="zh-CN" sz="1050" dirty="0" err="1"/>
              <a:t>keyA</a:t>
            </a:r>
            <a:r>
              <a:rPr kumimoji="1" lang="en-GB" altLang="zh-CN" sz="1050" dirty="0"/>
              <a:t>) dx -= </a:t>
            </a:r>
            <a:r>
              <a:rPr kumimoji="1" lang="en-GB" altLang="zh-CN" sz="1050" dirty="0" err="1"/>
              <a:t>moveSpeed</a:t>
            </a:r>
            <a:r>
              <a:rPr kumimoji="1" lang="en-GB" altLang="zh-CN" sz="1050" dirty="0"/>
              <a:t>;</a:t>
            </a:r>
            <a:endParaRPr kumimoji="1" lang="en-GB" altLang="zh-CN" sz="1050" dirty="0"/>
          </a:p>
          <a:p>
            <a:r>
              <a:rPr kumimoji="1" lang="en-GB" altLang="zh-CN" sz="1050" dirty="0"/>
              <a:t>    if (</a:t>
            </a:r>
            <a:r>
              <a:rPr kumimoji="1" lang="en-GB" altLang="zh-CN" sz="1050" dirty="0" err="1"/>
              <a:t>keyD</a:t>
            </a:r>
            <a:r>
              <a:rPr kumimoji="1" lang="en-GB" altLang="zh-CN" sz="1050" dirty="0"/>
              <a:t>) dx += </a:t>
            </a:r>
            <a:r>
              <a:rPr kumimoji="1" lang="en-GB" altLang="zh-CN" sz="1050" dirty="0" err="1"/>
              <a:t>moveSpeed</a:t>
            </a:r>
            <a:r>
              <a:rPr kumimoji="1" lang="en-GB" altLang="zh-CN" sz="1050" dirty="0"/>
              <a:t>;</a:t>
            </a:r>
            <a:endParaRPr kumimoji="1" lang="en-GB" altLang="zh-CN" sz="1050" dirty="0"/>
          </a:p>
          <a:p>
            <a:r>
              <a:rPr kumimoji="1" lang="en-GB" altLang="zh-CN" sz="1050" dirty="0"/>
              <a:t>    </a:t>
            </a:r>
            <a:endParaRPr kumimoji="1" lang="en-GB" altLang="zh-CN" sz="1050" dirty="0"/>
          </a:p>
          <a:p>
            <a:r>
              <a:rPr kumimoji="1" lang="en-GB" altLang="zh-CN" sz="1050" dirty="0"/>
              <a:t>    player-&gt;</a:t>
            </a:r>
            <a:r>
              <a:rPr kumimoji="1" lang="en-GB" altLang="zh-CN" sz="1050" dirty="0" err="1"/>
              <a:t>moveBy</a:t>
            </a:r>
            <a:r>
              <a:rPr kumimoji="1" lang="en-GB" altLang="zh-CN" sz="1050" dirty="0"/>
              <a:t>(dx, </a:t>
            </a:r>
            <a:r>
              <a:rPr kumimoji="1" lang="en-GB" altLang="zh-CN" sz="1050" dirty="0" err="1"/>
              <a:t>dy</a:t>
            </a:r>
            <a:r>
              <a:rPr kumimoji="1" lang="en-GB" altLang="zh-CN" sz="1050" dirty="0"/>
              <a:t>); // 60</a:t>
            </a:r>
            <a:r>
              <a:rPr kumimoji="1" lang="zh-CN" altLang="en-US" sz="1050" dirty="0"/>
              <a:t>帧平滑渲染</a:t>
            </a:r>
            <a:endParaRPr kumimoji="1" lang="zh-CN" altLang="en-US" sz="1050" dirty="0"/>
          </a:p>
          <a:p>
            <a:r>
              <a:rPr kumimoji="1" lang="en-US" altLang="zh-CN" sz="1050" dirty="0"/>
              <a:t>});</a:t>
            </a:r>
            <a:endParaRPr kumimoji="1" lang="en-US" altLang="zh-CN" sz="1050" dirty="0"/>
          </a:p>
          <a:p>
            <a:r>
              <a:rPr kumimoji="1" lang="en-GB" altLang="zh-CN" sz="1050" dirty="0" err="1"/>
              <a:t>moveTimer</a:t>
            </a:r>
            <a:r>
              <a:rPr kumimoji="1" lang="en-GB" altLang="zh-CN" sz="1050" dirty="0"/>
              <a:t>-&gt;start(16); // 1000ms / 60</a:t>
            </a:r>
            <a:r>
              <a:rPr kumimoji="1" lang="zh-CN" altLang="en-US" sz="1050" dirty="0"/>
              <a:t>帧 ≈ </a:t>
            </a:r>
            <a:r>
              <a:rPr kumimoji="1" lang="en-US" altLang="zh-CN" sz="1050" dirty="0"/>
              <a:t>16</a:t>
            </a:r>
            <a:r>
              <a:rPr kumimoji="1" lang="en-GB" altLang="zh-CN" sz="1050" dirty="0" err="1"/>
              <a:t>ms</a:t>
            </a:r>
            <a:endParaRPr kumimoji="1" lang="zh-CN" altLang="en-US" sz="1050" dirty="0"/>
          </a:p>
        </p:txBody>
      </p:sp>
      <p:pic>
        <p:nvPicPr>
          <p:cNvPr id="5" name="图片 4" descr="图片包含 日历&#10;&#10;AI 生成的内容可能不正确。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375" y="1960606"/>
            <a:ext cx="4495041" cy="36472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22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-76200" y="-7620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22" descr="image.png"/>
          <p:cNvPicPr preferRelativeResize="0"/>
          <p:nvPr>
            <p:custDataLst>
              <p:tags r:id="rId2"/>
            </p:custDataLst>
          </p:nvPr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22" descr="image.png"/>
          <p:cNvPicPr preferRelativeResize="0"/>
          <p:nvPr>
            <p:custDataLst>
              <p:tags r:id="rId4"/>
            </p:custDataLst>
          </p:nvPr>
        </p:nvPicPr>
        <p:blipFill rotWithShape="1">
          <a:blip r:embed="rId5"/>
          <a:srcRect/>
          <a:stretch>
            <a:fillRect/>
          </a:stretch>
        </p:blipFill>
        <p:spPr>
          <a:xfrm>
            <a:off x="6286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2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核心挑战：多线程与异步调度</a:t>
            </a:r>
            <a:endParaRPr lang="en-US" sz="285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45" name="Google Shape;245;p22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46" name="Google Shape;246;p22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CHALLENGE II: ASYNCHRONOUS MULTI-THREADING</a:t>
            </a:r>
            <a:endParaRPr lang="en-US" sz="1350" b="0" i="0" u="none" strike="noStrike" cap="none">
              <a:solidFill>
                <a:srgbClr val="0891B2"/>
              </a:solidFill>
              <a:latin typeface="JetBrains Mono Medium" panose="02000009000000000000"/>
              <a:ea typeface="JetBrains Mono Medium" panose="02000009000000000000"/>
              <a:cs typeface="JetBrains Mono Medium" panose="02000009000000000000"/>
              <a:sym typeface="JetBrains Mono Medium" panose="02000009000000000000"/>
            </a:endParaRPr>
          </a:p>
        </p:txBody>
      </p:sp>
      <p:sp>
        <p:nvSpPr>
          <p:cNvPr id="247" name="Google Shape;247;p22"/>
          <p:cNvSpPr txBox="1"/>
          <p:nvPr>
            <p:custDataLst>
              <p:tags r:id="rId6"/>
            </p:custDataLst>
          </p:nvPr>
        </p:nvSpPr>
        <p:spPr>
          <a:xfrm>
            <a:off x="1190625" y="1767780"/>
            <a:ext cx="464058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界面主渲染线程完全解放</a:t>
            </a:r>
            <a:endParaRPr lang="en-US" sz="18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48" name="Google Shape;248;p22"/>
          <p:cNvSpPr txBox="1"/>
          <p:nvPr>
            <p:custDataLst>
              <p:tags r:id="rId7"/>
            </p:custDataLst>
          </p:nvPr>
        </p:nvSpPr>
        <p:spPr>
          <a:xfrm>
            <a:off x="714375" y="2510601"/>
            <a:ext cx="4743450" cy="3101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高并发下的线程解耦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摒弃了传统的单线程阻塞轮询，项目完全利用 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C++11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的 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std::thread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开启了独立的底层游戏时钟引擎（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GameClock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）。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昼夜交替、实体复活等高频运算均派发至该专属后台线程执行，彻底解放了界面主渲染线程，确保前台跑图时的 </a:t>
            </a:r>
            <a:r>
              <a:rPr lang="en-US" altLang="zh-CN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60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FPS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满血流畅度，且通过 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std::mutex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互斥锁完美避免了脏读。</a:t>
            </a:r>
            <a:endParaRPr sz="1800" dirty="0"/>
          </a:p>
        </p:txBody>
      </p:sp>
      <p:sp>
        <p:nvSpPr>
          <p:cNvPr id="249" name="Google Shape;249;p22"/>
          <p:cNvSpPr txBox="1"/>
          <p:nvPr>
            <p:custDataLst>
              <p:tags r:id="rId8"/>
            </p:custDataLst>
          </p:nvPr>
        </p:nvSpPr>
        <p:spPr>
          <a:xfrm>
            <a:off x="6934200" y="1767780"/>
            <a:ext cx="4610576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平滑的黑屏淡入淡出动画</a:t>
            </a:r>
            <a:endParaRPr lang="en-US" sz="18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50" name="Google Shape;250;p22"/>
          <p:cNvSpPr txBox="1"/>
          <p:nvPr>
            <p:custDataLst>
              <p:tags r:id="rId9"/>
            </p:custDataLst>
          </p:nvPr>
        </p:nvSpPr>
        <p:spPr>
          <a:xfrm>
            <a:off x="6475412" y="2559813"/>
            <a:ext cx="4743450" cy="3544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800" b="1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平滑的异步 </a:t>
            </a:r>
            <a:r>
              <a:rPr lang="en-US" sz="1800" b="1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UI </a:t>
            </a:r>
            <a:r>
              <a:rPr lang="zh-CN" altLang="en-US" sz="1800" b="1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过渡体验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抛弃了传统利用线程死循环 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Sleep()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来强行控制动画的违规操作（容易导致 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UI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卡死），创造性地引入了 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QPropertyAnimation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异步属性动画引擎。在执行例如“任务更新通知”等视觉反馈时，由底层接管 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Alpha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透明度的平滑计算（</a:t>
            </a:r>
            <a:r>
              <a:rPr lang="en-US" altLang="zh-CN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0.0 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渐变至 </a:t>
            </a:r>
            <a:r>
              <a:rPr lang="en-US" altLang="zh-CN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1.0</a:t>
            </a:r>
            <a:r>
              <a:rPr lang="zh-CN" alt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），在不阻塞任何玩家操作的前提下优雅实现了非线性渐变特效。</a:t>
            </a:r>
            <a:endParaRPr sz="1800" dirty="0"/>
          </a:p>
        </p:txBody>
      </p:sp>
      <p:pic>
        <p:nvPicPr>
          <p:cNvPr id="251" name="Google Shape;251;p22" descr="image.png"/>
          <p:cNvPicPr preferRelativeResize="0"/>
          <p:nvPr>
            <p:custDataLst>
              <p:tags r:id="rId10"/>
            </p:custDataLst>
          </p:nvPr>
        </p:nvPicPr>
        <p:blipFill rotWithShape="1">
          <a:blip r:embed="rId11"/>
          <a:srcRect/>
          <a:stretch>
            <a:fillRect/>
          </a:stretch>
        </p:blipFill>
        <p:spPr>
          <a:xfrm>
            <a:off x="866775" y="1805880"/>
            <a:ext cx="2286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p22" descr="image.png"/>
          <p:cNvPicPr preferRelativeResize="0"/>
          <p:nvPr>
            <p:custDataLst>
              <p:tags r:id="rId12"/>
            </p:custDataLst>
          </p:nvPr>
        </p:nvPicPr>
        <p:blipFill rotWithShape="1">
          <a:blip r:embed="rId13"/>
          <a:srcRect/>
          <a:stretch>
            <a:fillRect/>
          </a:stretch>
        </p:blipFill>
        <p:spPr>
          <a:xfrm>
            <a:off x="6581775" y="1805880"/>
            <a:ext cx="257175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3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STL 高阶应用与 A* 寻路算法</a:t>
            </a:r>
            <a:endParaRPr lang="en-US" sz="285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60" name="Google Shape;260;p23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61" name="Google Shape;261;p23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CHALLENGE III: STL INTEGRATION &amp; A-STAR ALGORITHM</a:t>
            </a:r>
            <a:endParaRPr lang="en-US" sz="1350" b="0" i="0" u="none" strike="noStrike" cap="none">
              <a:solidFill>
                <a:srgbClr val="0891B2"/>
              </a:solidFill>
              <a:latin typeface="JetBrains Mono Medium" panose="02000009000000000000"/>
              <a:ea typeface="JetBrains Mono Medium" panose="02000009000000000000"/>
              <a:cs typeface="JetBrains Mono Medium" panose="02000009000000000000"/>
              <a:sym typeface="JetBrains Mono Medium" panose="02000009000000000000"/>
            </a:endParaRPr>
          </a:p>
        </p:txBody>
      </p:sp>
      <p:pic>
        <p:nvPicPr>
          <p:cNvPr id="263" name="Google Shape;263;p23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6809483" y="3276600"/>
            <a:ext cx="4811017" cy="3581400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23"/>
          <p:cNvSpPr txBox="1"/>
          <p:nvPr/>
        </p:nvSpPr>
        <p:spPr>
          <a:xfrm>
            <a:off x="904874" y="1531910"/>
            <a:ext cx="5485507" cy="11074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std::</a:t>
            </a:r>
            <a:r>
              <a:rPr lang="en-US" sz="160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priority_queue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：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用于存储待拓展的 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Open List，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以自定义的代价评估函数（</a:t>
            </a:r>
            <a:r>
              <a:rPr lang="en-US" sz="160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CompareNodePtr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）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实现 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f(n) = g(n) + h(n) 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的自动排序，从而以 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O(1) 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的时间开销获取最优下步节点。</a:t>
            </a:r>
            <a:endParaRPr sz="1600" dirty="0"/>
          </a:p>
        </p:txBody>
      </p:sp>
      <p:sp>
        <p:nvSpPr>
          <p:cNvPr id="265" name="Google Shape;265;p23"/>
          <p:cNvSpPr txBox="1"/>
          <p:nvPr/>
        </p:nvSpPr>
        <p:spPr>
          <a:xfrm>
            <a:off x="905185" y="3069067"/>
            <a:ext cx="5485507" cy="1477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空间换时间的二维 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std::vector：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抛弃了常规的哈希表记录，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Closed List 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直接采用二维 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vector&lt;vector&lt;bool&gt;&gt; 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进行网格坐标的绝对映射，实现了真正无哈希冲突的 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O(1) 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超高过滤效率。</a:t>
            </a:r>
            <a:endParaRPr sz="1600" dirty="0"/>
          </a:p>
        </p:txBody>
      </p:sp>
      <p:sp>
        <p:nvSpPr>
          <p:cNvPr id="266" name="Google Shape;266;p23"/>
          <p:cNvSpPr txBox="1"/>
          <p:nvPr/>
        </p:nvSpPr>
        <p:spPr>
          <a:xfrm>
            <a:off x="904874" y="4853699"/>
            <a:ext cx="5485507" cy="1477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std::</a:t>
            </a:r>
            <a:r>
              <a:rPr lang="en-US" sz="160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unique_ptr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与内存安全：在节点拓展过程中产生的大量临时 </a:t>
            </a:r>
            <a:r>
              <a:rPr lang="en-US" sz="160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AStarNode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指针，统一交由 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vector&lt;</a:t>
            </a:r>
            <a:r>
              <a:rPr lang="en-US" sz="1600" i="0" u="none" strike="noStrike" cap="none" dirty="0" err="1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unique_ptr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&gt; 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的对象池接管，算法结束时自动析构，实现了 </a:t>
            </a:r>
            <a:r>
              <a:rPr 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C++ </a:t>
            </a:r>
            <a:r>
              <a:rPr lang="zh-CN" altLang="en-US" sz="1600" i="0" u="none" strike="noStrike" cap="none" dirty="0">
                <a:solidFill>
                  <a:srgbClr val="0F172A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现代标准下的零内存泄漏。</a:t>
            </a:r>
            <a:endParaRPr sz="1600" dirty="0"/>
          </a:p>
        </p:txBody>
      </p:sp>
      <p:pic>
        <p:nvPicPr>
          <p:cNvPr id="268" name="Google Shape;268;p23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3341340"/>
            <a:ext cx="21907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23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71500" y="4170015"/>
            <a:ext cx="161925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23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571500" y="4770090"/>
            <a:ext cx="219075" cy="2000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文本框 1"/>
          <p:cNvSpPr txBox="1"/>
          <p:nvPr/>
        </p:nvSpPr>
        <p:spPr>
          <a:xfrm>
            <a:off x="6957098" y="477424"/>
            <a:ext cx="5082269" cy="29997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A* </a:t>
            </a:r>
            <a:r>
              <a:rPr lang="zh-CN" altLang="en-US" dirty="0">
                <a:solidFill>
                  <a:srgbClr val="0F172A"/>
                </a:solidFill>
                <a:latin typeface="Inter" panose="02000503000000020004"/>
              </a:rPr>
              <a:t>核心 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STL </a:t>
            </a:r>
            <a:r>
              <a:rPr lang="zh-CN" altLang="en-US" dirty="0">
                <a:solidFill>
                  <a:srgbClr val="0F172A"/>
                </a:solidFill>
                <a:latin typeface="Inter" panose="02000503000000020004"/>
              </a:rPr>
              <a:t>容器声明</a:t>
            </a:r>
            <a:endParaRPr lang="zh-CN" altLang="en-US" dirty="0">
              <a:solidFill>
                <a:srgbClr val="0F172A"/>
              </a:solidFill>
              <a:latin typeface="Inter" panose="02000503000000020004"/>
            </a:endParaRPr>
          </a:p>
          <a:p>
            <a:pPr>
              <a:lnSpc>
                <a:spcPct val="150000"/>
              </a:lnSpc>
            </a:pPr>
            <a:r>
              <a:rPr lang="en-US" altLang="zh-CN" dirty="0">
                <a:solidFill>
                  <a:srgbClr val="0F172A"/>
                </a:solidFill>
                <a:latin typeface="Inter" panose="02000503000000020004"/>
              </a:rPr>
              <a:t>// 1. </a:t>
            </a:r>
            <a:r>
              <a:rPr lang="zh-CN" altLang="en-US" dirty="0">
                <a:solidFill>
                  <a:srgbClr val="0F172A"/>
                </a:solidFill>
                <a:latin typeface="Inter" panose="02000503000000020004"/>
              </a:rPr>
              <a:t>优先队列 </a:t>
            </a:r>
            <a:r>
              <a:rPr lang="en-US" altLang="zh-CN" dirty="0">
                <a:solidFill>
                  <a:srgbClr val="0F172A"/>
                </a:solidFill>
                <a:latin typeface="Inter" panose="02000503000000020004"/>
              </a:rPr>
              <a:t>(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Open List)</a:t>
            </a:r>
            <a:endParaRPr lang="en-GB" altLang="zh-CN" dirty="0">
              <a:solidFill>
                <a:srgbClr val="0F172A"/>
              </a:solidFill>
              <a:latin typeface="Inter" panose="02000503000000020004"/>
            </a:endParaRPr>
          </a:p>
          <a:p>
            <a:pPr>
              <a:lnSpc>
                <a:spcPct val="150000"/>
              </a:lnSpc>
            </a:pP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std::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priority_queue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&lt;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AStarNode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*, std::vector&lt;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AStarNode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*&gt;, 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CompareNodePtr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&gt; 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openList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;</a:t>
            </a:r>
            <a:endParaRPr lang="en-GB" altLang="zh-CN" dirty="0">
              <a:solidFill>
                <a:srgbClr val="0F172A"/>
              </a:solidFill>
              <a:latin typeface="Inter" panose="02000503000000020004"/>
            </a:endParaRPr>
          </a:p>
          <a:p>
            <a:pPr>
              <a:lnSpc>
                <a:spcPct val="150000"/>
              </a:lnSpc>
            </a:pP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// 2. </a:t>
            </a:r>
            <a:r>
              <a:rPr lang="zh-CN" altLang="en-US" dirty="0">
                <a:solidFill>
                  <a:srgbClr val="0F172A"/>
                </a:solidFill>
                <a:latin typeface="Inter" panose="02000503000000020004"/>
              </a:rPr>
              <a:t>二维动态数组映射 </a:t>
            </a:r>
            <a:r>
              <a:rPr lang="en-US" altLang="zh-CN" dirty="0">
                <a:solidFill>
                  <a:srgbClr val="0F172A"/>
                </a:solidFill>
                <a:latin typeface="Inter" panose="02000503000000020004"/>
              </a:rPr>
              <a:t>(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Close List)</a:t>
            </a:r>
            <a:endParaRPr lang="en-GB" altLang="zh-CN" dirty="0">
              <a:solidFill>
                <a:srgbClr val="0F172A"/>
              </a:solidFill>
              <a:latin typeface="Inter" panose="02000503000000020004"/>
            </a:endParaRPr>
          </a:p>
          <a:p>
            <a:pPr>
              <a:lnSpc>
                <a:spcPct val="150000"/>
              </a:lnSpc>
            </a:pP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std::vector&lt;std::vector&lt;bool&gt;&gt; 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closedList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(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mapHeight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, std::vector&lt;bool&gt;(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mapWidth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, false));</a:t>
            </a:r>
            <a:endParaRPr lang="en-GB" altLang="zh-CN" dirty="0">
              <a:solidFill>
                <a:srgbClr val="0F172A"/>
              </a:solidFill>
              <a:latin typeface="Inter" panose="02000503000000020004"/>
            </a:endParaRPr>
          </a:p>
          <a:p>
            <a:pPr>
              <a:lnSpc>
                <a:spcPct val="150000"/>
              </a:lnSpc>
            </a:pP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// 3. </a:t>
            </a:r>
            <a:r>
              <a:rPr lang="zh-CN" altLang="en-US" dirty="0">
                <a:solidFill>
                  <a:srgbClr val="0F172A"/>
                </a:solidFill>
                <a:latin typeface="Inter" panose="02000503000000020004"/>
              </a:rPr>
              <a:t>智能指针对象池 </a:t>
            </a:r>
            <a:r>
              <a:rPr lang="en-US" altLang="zh-CN" dirty="0">
                <a:solidFill>
                  <a:srgbClr val="0F172A"/>
                </a:solidFill>
                <a:latin typeface="Inter" panose="02000503000000020004"/>
              </a:rPr>
              <a:t>(</a:t>
            </a:r>
            <a:r>
              <a:rPr lang="zh-CN" altLang="en-US" dirty="0">
                <a:solidFill>
                  <a:srgbClr val="0F172A"/>
                </a:solidFill>
                <a:latin typeface="Inter" panose="02000503000000020004"/>
              </a:rPr>
              <a:t>杜绝内存泄漏</a:t>
            </a:r>
            <a:r>
              <a:rPr lang="en-US" altLang="zh-CN" dirty="0">
                <a:solidFill>
                  <a:srgbClr val="0F172A"/>
                </a:solidFill>
                <a:latin typeface="Inter" panose="02000503000000020004"/>
              </a:rPr>
              <a:t>)</a:t>
            </a:r>
            <a:endParaRPr lang="en-US" altLang="zh-CN" dirty="0">
              <a:solidFill>
                <a:srgbClr val="0F172A"/>
              </a:solidFill>
              <a:latin typeface="Inter" panose="02000503000000020004"/>
            </a:endParaRPr>
          </a:p>
          <a:p>
            <a:pPr>
              <a:lnSpc>
                <a:spcPct val="150000"/>
              </a:lnSpc>
            </a:pP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std::vector&lt;std::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unique_ptr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&lt;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AStarNode</a:t>
            </a:r>
            <a:r>
              <a:rPr lang="en-GB" altLang="zh-CN" dirty="0">
                <a:solidFill>
                  <a:srgbClr val="0F172A"/>
                </a:solidFill>
                <a:latin typeface="Inter" panose="02000503000000020004"/>
              </a:rPr>
              <a:t>&gt;&gt; </a:t>
            </a:r>
            <a:r>
              <a:rPr lang="en-GB" altLang="zh-CN" dirty="0" err="1">
                <a:solidFill>
                  <a:srgbClr val="0F172A"/>
                </a:solidFill>
                <a:latin typeface="Inter" panose="02000503000000020004"/>
              </a:rPr>
              <a:t>nodePool</a:t>
            </a:r>
            <a:r>
              <a:rPr kumimoji="1" lang="en-GB" altLang="zh-CN" dirty="0"/>
              <a:t>;</a:t>
            </a:r>
            <a:endParaRPr kumimoji="1" lang="zh-CN" alt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24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24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1472505"/>
            <a:ext cx="11049000" cy="4909244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24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高效的模块化团队协作</a:t>
            </a:r>
            <a:endParaRPr lang="en-US" sz="285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278" name="Google Shape;278;p24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79" name="Google Shape;279;p24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TEAM ROLES AND COLLABORATIVE WORKFLOW</a:t>
            </a:r>
            <a:endParaRPr lang="en-US" sz="1350" b="0" i="0" u="none" strike="noStrike" cap="none">
              <a:solidFill>
                <a:srgbClr val="0891B2"/>
              </a:solidFill>
              <a:latin typeface="JetBrains Mono Medium" panose="02000009000000000000"/>
              <a:ea typeface="JetBrains Mono Medium" panose="02000009000000000000"/>
              <a:cs typeface="JetBrains Mono Medium" panose="02000009000000000000"/>
              <a:sym typeface="JetBrains Mono Medium" panose="02000009000000000000"/>
            </a:endParaRPr>
          </a:p>
        </p:txBody>
      </p:sp>
      <p:graphicFrame>
        <p:nvGraphicFramePr>
          <p:cNvPr id="280" name="Google Shape;280;p24"/>
          <p:cNvGraphicFramePr/>
          <p:nvPr/>
        </p:nvGraphicFramePr>
        <p:xfrm>
          <a:off x="581025" y="1482030"/>
          <a:ext cx="11029950" cy="3362375"/>
        </p:xfrm>
        <a:graphic>
          <a:graphicData uri="http://schemas.openxmlformats.org/drawingml/2006/table">
            <a:tbl>
              <a:tblPr firstRow="1" bandRow="1">
                <a:noFill/>
                <a:tableStyleId>{4579CC66-B2EF-4C60-BFF7-A1B67CE13D10}</a:tableStyleId>
              </a:tblPr>
              <a:tblGrid>
                <a:gridCol w="1654375"/>
                <a:gridCol w="2205925"/>
                <a:gridCol w="4963425"/>
                <a:gridCol w="2206225"/>
              </a:tblGrid>
              <a:tr h="67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1E40AF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姓名</a:t>
                      </a:r>
                      <a:endParaRPr lang="en-US" sz="1200" b="1" i="0" u="none" strike="noStrike" cap="none">
                        <a:solidFill>
                          <a:srgbClr val="1E40AF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1E40AF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职责分工</a:t>
                      </a:r>
                      <a:endParaRPr lang="en-US" sz="1200" b="1" i="0" u="none" strike="noStrike" cap="none">
                        <a:solidFill>
                          <a:srgbClr val="1E40AF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1E40AF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核心贡献与产出</a:t>
                      </a:r>
                      <a:endParaRPr lang="en-US" sz="1200" b="1" i="0" u="none" strike="noStrike" cap="none">
                        <a:solidFill>
                          <a:srgbClr val="1E40AF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i="0" u="none" strike="noStrike" cap="none">
                          <a:solidFill>
                            <a:srgbClr val="1E40AF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状态</a:t>
                      </a:r>
                      <a:endParaRPr lang="en-US" sz="1200" b="1" i="0" u="none" strike="noStrike" cap="none">
                        <a:solidFill>
                          <a:srgbClr val="1E40AF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8FAFC"/>
                    </a:solidFill>
                  </a:tcPr>
                </a:tc>
              </a:tr>
              <a:tr h="67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陆辰睿</a:t>
                      </a: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 (组长)</a:t>
                      </a:r>
                      <a:endParaRPr lang="en-US" sz="1125" b="0" i="0" u="none" strike="noStrike" cap="none">
                        <a:solidFill>
                          <a:srgbClr val="0F172A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架构设计 / 业务逻辑</a:t>
                      </a:r>
                      <a:endParaRPr lang="en-US" sz="1125" b="0" i="0" u="none" strike="noStrike" cap="none">
                        <a:solidFill>
                          <a:srgbClr val="0F172A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编写全部基础头文件、定义面向对象基类、打通核心逻辑与数据流。</a:t>
                      </a:r>
                      <a:endParaRPr lang="en-US" sz="1125" b="0" i="0" u="none" strike="noStrike" cap="none">
                        <a:solidFill>
                          <a:srgbClr val="0F172A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已完成</a:t>
                      </a:r>
                      <a:endParaRPr lang="en-US" sz="1125" b="0" i="0" u="none" strike="noStrike" cap="none">
                        <a:solidFill>
                          <a:srgbClr val="0F172A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67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陈律举</a:t>
                      </a:r>
                      <a:endParaRPr lang="en-US" sz="1125" b="1" i="0" u="none" strike="noStrike" cap="none">
                        <a:solidFill>
                          <a:srgbClr val="0F172A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图形化重构 / UI 交付</a:t>
                      </a:r>
                      <a:endParaRPr lang="en-US" sz="1125" b="0" i="0" u="none" strike="noStrike" cap="none">
                        <a:solidFill>
                          <a:srgbClr val="0F172A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主导接入 Qt6 框架、设计 QGraphicsView 跑图逻辑、完成键鼠事件拦截与无卡顿重构。</a:t>
                      </a:r>
                      <a:endParaRPr lang="en-US" sz="1125" b="0" i="0" u="none" strike="noStrike" cap="none">
                        <a:solidFill>
                          <a:srgbClr val="0F172A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已完成</a:t>
                      </a:r>
                      <a:endParaRPr lang="en-US" sz="1125" b="0" i="0" u="none" strike="noStrike" cap="none">
                        <a:solidFill>
                          <a:srgbClr val="0F172A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67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王铭钊</a:t>
                      </a:r>
                      <a:endParaRPr lang="en-US" sz="1125" b="1" i="0" u="none" strike="noStrike" cap="none">
                        <a:solidFill>
                          <a:srgbClr val="0F172A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文档编写 / 功能测试</a:t>
                      </a:r>
                      <a:endParaRPr lang="en-US" sz="1125" b="0" i="0" u="none" strike="noStrike" cap="none">
                        <a:solidFill>
                          <a:srgbClr val="0F172A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整理全阶段需求与开发白皮书，进行多平台边界测试，建立覆盖核心算法的测试用例集。</a:t>
                      </a:r>
                      <a:endParaRPr lang="en-US" sz="1125" b="0" i="0" u="none" strike="noStrike" cap="none">
                        <a:solidFill>
                          <a:srgbClr val="0F172A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已完成</a:t>
                      </a:r>
                      <a:endParaRPr lang="en-US" sz="1125" b="0" i="0" u="none" strike="noStrike" cap="none">
                        <a:solidFill>
                          <a:srgbClr val="0F172A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  <a:tr h="6724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1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游云</a:t>
                      </a:r>
                      <a:endParaRPr lang="en-US" sz="1125" b="1" i="0" u="none" strike="noStrike" cap="none">
                        <a:solidFill>
                          <a:srgbClr val="0F172A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美术资产 / 地图与剧情</a:t>
                      </a:r>
                      <a:endParaRPr lang="en-US" sz="1125" b="0" i="0" u="none" strike="noStrike" cap="none">
                        <a:solidFill>
                          <a:srgbClr val="0F172A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完成 2D JSON 格式地图的手工绘制，编写并注入全部校园剧情任务与黑市剧本事件。</a:t>
                      </a:r>
                      <a:endParaRPr lang="en-US" sz="1125" b="0" i="0" u="none" strike="noStrike" cap="none">
                        <a:solidFill>
                          <a:srgbClr val="0F172A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25" b="0" i="0" u="none" strike="noStrike" cap="none">
                          <a:solidFill>
                            <a:srgbClr val="0F172A"/>
                          </a:solidFill>
                          <a:latin typeface="Inter" panose="02000503000000020004"/>
                          <a:ea typeface="Inter" panose="02000503000000020004"/>
                          <a:cs typeface="Inter" panose="02000503000000020004"/>
                          <a:sym typeface="Inter" panose="02000503000000020004"/>
                        </a:rPr>
                        <a:t>已完成</a:t>
                      </a:r>
                      <a:endParaRPr lang="en-US" sz="1125" b="0" i="0" u="none" strike="noStrike" cap="none">
                        <a:solidFill>
                          <a:srgbClr val="0F172A"/>
                        </a:solidFill>
                        <a:latin typeface="Inter" panose="02000503000000020004"/>
                        <a:ea typeface="Inter" panose="02000503000000020004"/>
                        <a:cs typeface="Inter" panose="02000503000000020004"/>
                        <a:sym typeface="Inter" panose="02000503000000020004"/>
                      </a:endParaRPr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</a:tr>
            </a:tbl>
          </a:graphicData>
        </a:graphic>
      </p:graphicFrame>
      <p:sp>
        <p:nvSpPr>
          <p:cNvPr id="281" name="Google Shape;281;p24"/>
          <p:cNvSpPr/>
          <p:nvPr/>
        </p:nvSpPr>
        <p:spPr>
          <a:xfrm>
            <a:off x="581025" y="2024955"/>
            <a:ext cx="1654373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2" name="Google Shape;282;p24"/>
          <p:cNvSpPr/>
          <p:nvPr/>
        </p:nvSpPr>
        <p:spPr>
          <a:xfrm>
            <a:off x="2235398" y="2024955"/>
            <a:ext cx="220593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3" name="Google Shape;283;p24"/>
          <p:cNvSpPr/>
          <p:nvPr/>
        </p:nvSpPr>
        <p:spPr>
          <a:xfrm>
            <a:off x="4441328" y="2024955"/>
            <a:ext cx="4963417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4" name="Google Shape;284;p24"/>
          <p:cNvSpPr/>
          <p:nvPr/>
        </p:nvSpPr>
        <p:spPr>
          <a:xfrm>
            <a:off x="9404746" y="2024955"/>
            <a:ext cx="2206228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5" name="Google Shape;285;p24"/>
          <p:cNvSpPr/>
          <p:nvPr/>
        </p:nvSpPr>
        <p:spPr>
          <a:xfrm>
            <a:off x="581025" y="2639317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6" name="Google Shape;286;p24"/>
          <p:cNvSpPr/>
          <p:nvPr/>
        </p:nvSpPr>
        <p:spPr>
          <a:xfrm>
            <a:off x="2235398" y="2639317"/>
            <a:ext cx="220593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7" name="Google Shape;287;p24"/>
          <p:cNvSpPr/>
          <p:nvPr/>
        </p:nvSpPr>
        <p:spPr>
          <a:xfrm>
            <a:off x="4441328" y="2639317"/>
            <a:ext cx="49634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8" name="Google Shape;288;p24"/>
          <p:cNvSpPr/>
          <p:nvPr/>
        </p:nvSpPr>
        <p:spPr>
          <a:xfrm>
            <a:off x="9404746" y="2639317"/>
            <a:ext cx="220622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89" name="Google Shape;289;p24"/>
          <p:cNvSpPr/>
          <p:nvPr/>
        </p:nvSpPr>
        <p:spPr>
          <a:xfrm>
            <a:off x="581025" y="3372742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0" name="Google Shape;290;p24"/>
          <p:cNvSpPr/>
          <p:nvPr/>
        </p:nvSpPr>
        <p:spPr>
          <a:xfrm>
            <a:off x="2235398" y="3372742"/>
            <a:ext cx="220593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1" name="Google Shape;291;p24"/>
          <p:cNvSpPr/>
          <p:nvPr/>
        </p:nvSpPr>
        <p:spPr>
          <a:xfrm>
            <a:off x="4441328" y="3372742"/>
            <a:ext cx="49634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2" name="Google Shape;292;p24"/>
          <p:cNvSpPr/>
          <p:nvPr/>
        </p:nvSpPr>
        <p:spPr>
          <a:xfrm>
            <a:off x="9404746" y="3372742"/>
            <a:ext cx="220622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3" name="Google Shape;293;p24"/>
          <p:cNvSpPr/>
          <p:nvPr/>
        </p:nvSpPr>
        <p:spPr>
          <a:xfrm>
            <a:off x="581025" y="4106167"/>
            <a:ext cx="165437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4" name="Google Shape;294;p24"/>
          <p:cNvSpPr/>
          <p:nvPr/>
        </p:nvSpPr>
        <p:spPr>
          <a:xfrm>
            <a:off x="2235398" y="4106167"/>
            <a:ext cx="220593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5" name="Google Shape;295;p24"/>
          <p:cNvSpPr/>
          <p:nvPr/>
        </p:nvSpPr>
        <p:spPr>
          <a:xfrm>
            <a:off x="4441328" y="4106167"/>
            <a:ext cx="496341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296" name="Google Shape;296;p24"/>
          <p:cNvSpPr/>
          <p:nvPr/>
        </p:nvSpPr>
        <p:spPr>
          <a:xfrm>
            <a:off x="9404746" y="4106167"/>
            <a:ext cx="220622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5" name="Google Shape;305;p25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25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71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25" descr="image.png"/>
          <p:cNvPicPr preferRelativeResize="0"/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6286500" y="1472505"/>
            <a:ext cx="5334000" cy="4909244"/>
          </a:xfrm>
          <a:prstGeom prst="rect">
            <a:avLst/>
          </a:prstGeom>
          <a:noFill/>
          <a:ln>
            <a:noFill/>
          </a:ln>
        </p:spPr>
      </p:pic>
      <p:sp>
        <p:nvSpPr>
          <p:cNvPr id="308" name="Google Shape;308;p25"/>
          <p:cNvSpPr txBox="1"/>
          <p:nvPr/>
        </p:nvSpPr>
        <p:spPr>
          <a:xfrm>
            <a:off x="714375" y="476250"/>
            <a:ext cx="11451431" cy="434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5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总结与未来展望</a:t>
            </a:r>
            <a:endParaRPr lang="en-US" sz="285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09" name="Google Shape;309;p25"/>
          <p:cNvSpPr/>
          <p:nvPr/>
        </p:nvSpPr>
        <p:spPr>
          <a:xfrm>
            <a:off x="571500" y="476250"/>
            <a:ext cx="57150" cy="434280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  <a:sym typeface="Calibri" panose="020F0502020204030204"/>
            </a:endParaRPr>
          </a:p>
        </p:txBody>
      </p:sp>
      <p:sp>
        <p:nvSpPr>
          <p:cNvPr id="310" name="Google Shape;310;p25"/>
          <p:cNvSpPr txBox="1"/>
          <p:nvPr/>
        </p:nvSpPr>
        <p:spPr>
          <a:xfrm>
            <a:off x="771525" y="967680"/>
            <a:ext cx="10848975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891B2"/>
                </a:solidFill>
                <a:latin typeface="JetBrains Mono Medium" panose="02000009000000000000"/>
                <a:ea typeface="JetBrains Mono Medium" panose="02000009000000000000"/>
                <a:cs typeface="JetBrains Mono Medium" panose="02000009000000000000"/>
                <a:sym typeface="JetBrains Mono Medium" panose="02000009000000000000"/>
              </a:rPr>
              <a:t>CONCLUSIONS &amp; PROJECT ROADMAP</a:t>
            </a:r>
            <a:endParaRPr lang="en-US" sz="1350" b="0" i="0" u="none" strike="noStrike" cap="none">
              <a:solidFill>
                <a:srgbClr val="0891B2"/>
              </a:solidFill>
              <a:latin typeface="JetBrains Mono Medium" panose="02000009000000000000"/>
              <a:ea typeface="JetBrains Mono Medium" panose="02000009000000000000"/>
              <a:cs typeface="JetBrains Mono Medium" panose="02000009000000000000"/>
              <a:sym typeface="JetBrains Mono Medium" panose="02000009000000000000"/>
            </a:endParaRPr>
          </a:p>
        </p:txBody>
      </p:sp>
      <p:sp>
        <p:nvSpPr>
          <p:cNvPr id="311" name="Google Shape;311;p25"/>
          <p:cNvSpPr txBox="1"/>
          <p:nvPr/>
        </p:nvSpPr>
        <p:spPr>
          <a:xfrm>
            <a:off x="1219200" y="1767780"/>
            <a:ext cx="4610576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课设攻坚总结</a:t>
            </a:r>
            <a:endParaRPr lang="en-US" sz="18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12" name="Google Shape;312;p25"/>
          <p:cNvSpPr txBox="1"/>
          <p:nvPr/>
        </p:nvSpPr>
        <p:spPr>
          <a:xfrm>
            <a:off x="771525" y="2540843"/>
            <a:ext cx="4743450" cy="2214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项目最终顺利交付。通过精益求精的开发实践，本小组成功攻克了</a:t>
            </a:r>
            <a:r>
              <a:rPr lang="en-US" sz="1800" b="1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“图形化高效重构、多线程异步流控、A</a:t>
            </a:r>
            <a:r>
              <a:rPr lang="en-US" sz="1800" b="1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*</a:t>
            </a:r>
            <a:r>
              <a:rPr lang="en-US" sz="1800" b="1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寻路高阶STL应用”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三大高壁垒课设难关，形成了一套具备极佳可重用性、可读性与模块化的高内聚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2D 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校园游戏底层代码库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800" dirty="0"/>
          </a:p>
        </p:txBody>
      </p:sp>
      <p:sp>
        <p:nvSpPr>
          <p:cNvPr id="313" name="Google Shape;313;p25"/>
          <p:cNvSpPr txBox="1"/>
          <p:nvPr/>
        </p:nvSpPr>
        <p:spPr>
          <a:xfrm>
            <a:off x="6905625" y="1767780"/>
            <a:ext cx="464058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1E40AF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下一阶段优化蓝图</a:t>
            </a:r>
            <a:endParaRPr lang="en-US" sz="1800" b="1" i="0" u="none" strike="noStrike" cap="none">
              <a:solidFill>
                <a:srgbClr val="1E40AF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  <p:sp>
        <p:nvSpPr>
          <p:cNvPr id="314" name="Google Shape;314;p25"/>
          <p:cNvSpPr txBox="1"/>
          <p:nvPr/>
        </p:nvSpPr>
        <p:spPr>
          <a:xfrm>
            <a:off x="6581775" y="2540842"/>
            <a:ext cx="4743450" cy="17773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1. </a:t>
            </a:r>
            <a:r>
              <a:rPr lang="en-US" sz="1800" b="1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声音引擎：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引入多路音频管理器，实现不同场景背景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BGM 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无缝转场及玩家攻击的音效联动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br>
              <a:rPr lang="en-US" sz="1800" b="0" i="0" u="none" strike="noStrike" cap="none" dirty="0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sz="1800" b="1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2. AI </a:t>
            </a:r>
            <a:r>
              <a:rPr lang="en-US" sz="1800" b="1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与动态剧情：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大幅扩展具有行为树属性的智能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 NPC </a:t>
            </a:r>
            <a:r>
              <a:rPr lang="en-US" sz="1800" b="0" i="0" u="none" strike="noStrike" cap="none" dirty="0" err="1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交互网络，设计更加复杂的校园多线网状支线任务与多元化结局走向</a:t>
            </a:r>
            <a:r>
              <a:rPr lang="en-US" sz="1800" b="0" i="0" u="none" strike="noStrike" cap="none" dirty="0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。</a:t>
            </a:r>
            <a:endParaRPr sz="1800" dirty="0"/>
          </a:p>
        </p:txBody>
      </p:sp>
      <p:pic>
        <p:nvPicPr>
          <p:cNvPr id="315" name="Google Shape;315;p25" descr="image.png"/>
          <p:cNvPicPr preferRelativeResize="0"/>
          <p:nvPr/>
        </p:nvPicPr>
        <p:blipFill rotWithShape="1">
          <a:blip r:embed="rId4"/>
          <a:srcRect/>
          <a:stretch>
            <a:fillRect/>
          </a:stretch>
        </p:blipFill>
        <p:spPr>
          <a:xfrm>
            <a:off x="866775" y="1805880"/>
            <a:ext cx="25717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25" descr="image.png"/>
          <p:cNvPicPr preferRelativeResize="0"/>
          <p:nvPr/>
        </p:nvPicPr>
        <p:blipFill rotWithShape="1">
          <a:blip r:embed="rId5"/>
          <a:srcRect/>
          <a:stretch>
            <a:fillRect/>
          </a:stretch>
        </p:blipFill>
        <p:spPr>
          <a:xfrm>
            <a:off x="6581775" y="1805880"/>
            <a:ext cx="228600" cy="22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Google Shape;321;p26" descr="image.png"/>
          <p:cNvPicPr preferRelativeResize="0"/>
          <p:nvPr/>
        </p:nvPicPr>
        <p:blipFill rotWithShape="1">
          <a:blip r:embed="rId1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2" name="Google Shape;322;p26" descr="image.png"/>
          <p:cNvPicPr preferRelativeResize="0"/>
          <p:nvPr/>
        </p:nvPicPr>
        <p:blipFill rotWithShape="1">
          <a:blip r:embed="rId2"/>
          <a:srcRect/>
          <a:stretch>
            <a:fillRect/>
          </a:stretch>
        </p:blipFill>
        <p:spPr>
          <a:xfrm>
            <a:off x="5524500" y="2028825"/>
            <a:ext cx="1143000" cy="38100"/>
          </a:xfrm>
          <a:prstGeom prst="rect">
            <a:avLst/>
          </a:prstGeom>
          <a:noFill/>
          <a:ln>
            <a:noFill/>
          </a:ln>
        </p:spPr>
      </p:pic>
      <p:sp>
        <p:nvSpPr>
          <p:cNvPr id="323" name="Google Shape;323;p26"/>
          <p:cNvSpPr txBox="1"/>
          <p:nvPr/>
        </p:nvSpPr>
        <p:spPr>
          <a:xfrm>
            <a:off x="3215639" y="476250"/>
            <a:ext cx="5760720" cy="828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1E40AF"/>
                </a:solidFill>
                <a:latin typeface="Comfortaa"/>
                <a:ea typeface="Comfortaa"/>
                <a:cs typeface="Comfortaa"/>
                <a:sym typeface="Comfortaa"/>
              </a:rPr>
              <a:t>感谢聆听，请多指教</a:t>
            </a:r>
            <a:endParaRPr lang="en-US" sz="4800" b="1" i="0" u="none" strike="noStrike" cap="none">
              <a:solidFill>
                <a:srgbClr val="1E40AF"/>
              </a:solidFill>
              <a:latin typeface="Comfortaa"/>
              <a:ea typeface="Comfortaa"/>
              <a:cs typeface="Comfortaa"/>
              <a:sym typeface="Comfortaa"/>
            </a:endParaRPr>
          </a:p>
        </p:txBody>
      </p:sp>
      <p:sp>
        <p:nvSpPr>
          <p:cNvPr id="324" name="Google Shape;324;p26"/>
          <p:cNvSpPr txBox="1"/>
          <p:nvPr/>
        </p:nvSpPr>
        <p:spPr>
          <a:xfrm>
            <a:off x="4986337" y="1495425"/>
            <a:ext cx="221932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0891B2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rPr>
              <a:t>Q &amp; A T H A N K Y O U</a:t>
            </a:r>
            <a:endParaRPr lang="en-US" sz="1650" b="0" i="0" u="none" strike="noStrike" cap="none">
              <a:solidFill>
                <a:srgbClr val="0891B2"/>
              </a:solidFill>
              <a:latin typeface="Inter Medium" panose="02000503000000020004"/>
              <a:ea typeface="Inter Medium" panose="02000503000000020004"/>
              <a:cs typeface="Inter Medium" panose="02000503000000020004"/>
              <a:sym typeface="Inter Medium" panose="02000503000000020004"/>
            </a:endParaRPr>
          </a:p>
        </p:txBody>
      </p:sp>
      <p:sp>
        <p:nvSpPr>
          <p:cNvPr id="325" name="Google Shape;325;p26"/>
          <p:cNvSpPr txBox="1"/>
          <p:nvPr/>
        </p:nvSpPr>
        <p:spPr>
          <a:xfrm>
            <a:off x="3438525" y="2495550"/>
            <a:ext cx="5676265" cy="516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475569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rPr>
              <a:t>衷心感谢各位评委老师百忙之中的聆听与蒋敏老师的精心指导！</a:t>
            </a:r>
            <a:br>
              <a:rPr lang="en-US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  <a:sym typeface="Calibri" panose="020F0502020204030204"/>
              </a:rPr>
            </a:br>
            <a:r>
              <a:rPr lang="en-US" b="0" i="0" u="none" strike="noStrike" cap="none">
                <a:solidFill>
                  <a:srgbClr val="475569"/>
                </a:solidFill>
                <a:latin typeface="Inter Medium" panose="02000503000000020004"/>
                <a:ea typeface="Inter Medium" panose="02000503000000020004"/>
                <a:cs typeface="Inter Medium" panose="02000503000000020004"/>
                <a:sym typeface="Inter Medium" panose="02000503000000020004"/>
              </a:rPr>
              <a:t> 诚挚欢迎各位老师对我们项目不完善之处提出批评、指正与宝贵提问。</a:t>
            </a:r>
            <a:endParaRPr lang="en-US" b="0" i="0" u="none" strike="noStrike" cap="none">
              <a:solidFill>
                <a:srgbClr val="475569"/>
              </a:solidFill>
              <a:latin typeface="Inter Medium" panose="02000503000000020004"/>
              <a:ea typeface="Inter Medium" panose="02000503000000020004"/>
              <a:cs typeface="Inter Medium" panose="02000503000000020004"/>
              <a:sym typeface="Inter Medium" panose="02000503000000020004"/>
            </a:endParaRPr>
          </a:p>
        </p:txBody>
      </p:sp>
      <p:sp>
        <p:nvSpPr>
          <p:cNvPr id="326" name="Google Shape;326;p26"/>
          <p:cNvSpPr txBox="1"/>
          <p:nvPr/>
        </p:nvSpPr>
        <p:spPr>
          <a:xfrm>
            <a:off x="4314825" y="3882390"/>
            <a:ext cx="4273550" cy="215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475569"/>
                </a:solidFill>
                <a:latin typeface="Inter" panose="02000503000000020004"/>
                <a:ea typeface="Inter" panose="02000503000000020004"/>
                <a:cs typeface="Inter" panose="02000503000000020004"/>
                <a:sym typeface="Inter" panose="02000503000000020004"/>
              </a:rPr>
              <a:t>《校园RPG：大学生存物语》项目开发组 2026年7月</a:t>
            </a:r>
            <a:endParaRPr lang="en-US" b="0" i="0" u="none" strike="noStrike" cap="none">
              <a:solidFill>
                <a:srgbClr val="475569"/>
              </a:solidFill>
              <a:latin typeface="Inter" panose="02000503000000020004"/>
              <a:ea typeface="Inter" panose="02000503000000020004"/>
              <a:cs typeface="Inter" panose="02000503000000020004"/>
              <a:sym typeface="Inter" panose="02000503000000020004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86.5546456692913,&quot;left&quot;:45,&quot;top&quot;:115.94527559055118,&quot;width&quot;:870}"/>
</p:tagLst>
</file>

<file path=ppt/tags/tag2.xml><?xml version="1.0" encoding="utf-8"?>
<p:tagLst xmlns:p="http://schemas.openxmlformats.org/presentationml/2006/main">
  <p:tag name="KSO_WM_DIAGRAM_VIRTUALLY_FRAME" val="{&quot;height&quot;:386.5546456692913,&quot;left&quot;:45,&quot;top&quot;:115.94527559055118,&quot;width&quot;:870}"/>
</p:tagLst>
</file>

<file path=ppt/tags/tag3.xml><?xml version="1.0" encoding="utf-8"?>
<p:tagLst xmlns:p="http://schemas.openxmlformats.org/presentationml/2006/main">
  <p:tag name="KSO_WM_DIAGRAM_VIRTUALLY_FRAME" val="{&quot;height&quot;:386.5546456692913,&quot;left&quot;:45,&quot;top&quot;:115.94527559055118,&quot;width&quot;:870}"/>
</p:tagLst>
</file>

<file path=ppt/tags/tag4.xml><?xml version="1.0" encoding="utf-8"?>
<p:tagLst xmlns:p="http://schemas.openxmlformats.org/presentationml/2006/main">
  <p:tag name="KSO_WM_DIAGRAM_VIRTUALLY_FRAME" val="{&quot;height&quot;:386.5546456692913,&quot;left&quot;:45,&quot;top&quot;:115.94527559055118,&quot;width&quot;:870}"/>
</p:tagLst>
</file>

<file path=ppt/tags/tag5.xml><?xml version="1.0" encoding="utf-8"?>
<p:tagLst xmlns:p="http://schemas.openxmlformats.org/presentationml/2006/main">
  <p:tag name="KSO_WM_DIAGRAM_VIRTUALLY_FRAME" val="{&quot;height&quot;:386.5546456692913,&quot;left&quot;:45,&quot;top&quot;:115.94527559055118,&quot;width&quot;:870}"/>
</p:tagLst>
</file>

<file path=ppt/tags/tag6.xml><?xml version="1.0" encoding="utf-8"?>
<p:tagLst xmlns:p="http://schemas.openxmlformats.org/presentationml/2006/main">
  <p:tag name="KSO_WM_DIAGRAM_VIRTUALLY_FRAME" val="{&quot;height&quot;:386.5546456692913,&quot;left&quot;:45,&quot;top&quot;:115.94527559055118,&quot;width&quot;:870}"/>
</p:tagLst>
</file>

<file path=ppt/tags/tag7.xml><?xml version="1.0" encoding="utf-8"?>
<p:tagLst xmlns:p="http://schemas.openxmlformats.org/presentationml/2006/main">
  <p:tag name="KSO_WM_DIAGRAM_VIRTUALLY_FRAME" val="{&quot;height&quot;:386.5546456692913,&quot;left&quot;:45,&quot;top&quot;:115.94527559055118,&quot;width&quot;:870}"/>
</p:tagLst>
</file>

<file path=ppt/tags/tag8.xml><?xml version="1.0" encoding="utf-8"?>
<p:tagLst xmlns:p="http://schemas.openxmlformats.org/presentationml/2006/main">
  <p:tag name="KSO_WM_DIAGRAM_VIRTUALLY_FRAME" val="{&quot;height&quot;:386.5546456692913,&quot;left&quot;:45,&quot;top&quot;:115.94527559055118,&quot;width&quot;:870}"/>
</p:tagLst>
</file>

<file path=ppt/tags/tag9.xml><?xml version="1.0" encoding="utf-8"?>
<p:tagLst xmlns:p="http://schemas.openxmlformats.org/presentationml/2006/main">
  <p:tag name="KSO_WM_DIAGRAM_VIRTUALLY_FRAME" val="{&quot;height&quot;:467.25,&quot;left&quot;:45,&quot;top&quot;:115.94527559055118,&quot;width&quot;:870}"/>
</p:tagLst>
</file>

<file path=ppt/tags/tag10.xml><?xml version="1.0" encoding="utf-8"?>
<p:tagLst xmlns:p="http://schemas.openxmlformats.org/presentationml/2006/main">
  <p:tag name="KSO_WM_DIAGRAM_VIRTUALLY_FRAME" val="{&quot;height&quot;:467.25,&quot;left&quot;:45,&quot;top&quot;:115.94527559055118,&quot;width&quot;:870}"/>
</p:tagLst>
</file>

<file path=ppt/tags/tag11.xml><?xml version="1.0" encoding="utf-8"?>
<p:tagLst xmlns:p="http://schemas.openxmlformats.org/presentationml/2006/main">
  <p:tag name="KSO_WM_DIAGRAM_VIRTUALLY_FRAME" val="{&quot;height&quot;:467.25,&quot;left&quot;:45,&quot;top&quot;:115.94527559055118,&quot;width&quot;:870}"/>
</p:tagLst>
</file>

<file path=ppt/tags/tag12.xml><?xml version="1.0" encoding="utf-8"?>
<p:tagLst xmlns:p="http://schemas.openxmlformats.org/presentationml/2006/main">
  <p:tag name="KSO_WM_DIAGRAM_VIRTUALLY_FRAME" val="{&quot;height&quot;:467.25,&quot;left&quot;:45,&quot;top&quot;:115.94527559055118,&quot;width&quot;:870}"/>
</p:tagLst>
</file>

<file path=ppt/tags/tag13.xml><?xml version="1.0" encoding="utf-8"?>
<p:tagLst xmlns:p="http://schemas.openxmlformats.org/presentationml/2006/main">
  <p:tag name="KSO_WM_DIAGRAM_VIRTUALLY_FRAME" val="{&quot;height&quot;:467.25,&quot;left&quot;:45,&quot;top&quot;:115.94527559055118,&quot;width&quot;:870}"/>
</p:tagLst>
</file>

<file path=ppt/tags/tag14.xml><?xml version="1.0" encoding="utf-8"?>
<p:tagLst xmlns:p="http://schemas.openxmlformats.org/presentationml/2006/main">
  <p:tag name="KSO_WM_DIAGRAM_VIRTUALLY_FRAME" val="{&quot;height&quot;:467.25,&quot;left&quot;:45,&quot;top&quot;:115.94527559055118,&quot;width&quot;:870}"/>
</p:tagLst>
</file>

<file path=ppt/tags/tag15.xml><?xml version="1.0" encoding="utf-8"?>
<p:tagLst xmlns:p="http://schemas.openxmlformats.org/presentationml/2006/main">
  <p:tag name="KSO_WM_DIAGRAM_VIRTUALLY_FRAME" val="{&quot;height&quot;:467.25,&quot;left&quot;:45,&quot;top&quot;:115.94527559055118,&quot;width&quot;:870}"/>
</p:tagLst>
</file>

<file path=ppt/tags/tag16.xml><?xml version="1.0" encoding="utf-8"?>
<p:tagLst xmlns:p="http://schemas.openxmlformats.org/presentationml/2006/main">
  <p:tag name="KSO_WM_DIAGRAM_VIRTUALLY_FRAME" val="{&quot;height&quot;:467.25,&quot;left&quot;:45,&quot;top&quot;:115.94527559055118,&quot;width&quot;:870}"/>
</p:tagLst>
</file>

<file path=ppt/tags/tag17.xml><?xml version="1.0" encoding="utf-8"?>
<p:tagLst xmlns:p="http://schemas.openxmlformats.org/presentationml/2006/main">
  <p:tag name="KSO_WM_DIAGRAM_VIRTUALLY_FRAME" val="{&quot;height&quot;:467.25,&quot;left&quot;:45,&quot;top&quot;:115.94527559055118,&quot;width&quot;:870}"/>
</p:tagLst>
</file>

<file path=ppt/tags/tag18.xml><?xml version="1.0" encoding="utf-8"?>
<p:tagLst xmlns:p="http://schemas.openxmlformats.org/presentationml/2006/main">
  <p:tag name="KSO_WM_DIAGRAM_VIRTUALLY_FRAME" val="{&quot;height&quot;:467.25,&quot;left&quot;:45,&quot;top&quot;:115.94527559055118,&quot;width&quot;:870}"/>
</p:tagLst>
</file>

<file path=ppt/tags/tag19.xml><?xml version="1.0" encoding="utf-8"?>
<p:tagLst xmlns:p="http://schemas.openxmlformats.org/presentationml/2006/main">
  <p:tag name="KSO_WM_DIAGRAM_VIRTUALLY_FRAME" val="{&quot;height&quot;:467.25,&quot;left&quot;:45,&quot;top&quot;:115.94527559055118,&quot;width&quot;:870}"/>
</p:tagLst>
</file>

<file path=ppt/tags/tag20.xml><?xml version="1.0" encoding="utf-8"?>
<p:tagLst xmlns:p="http://schemas.openxmlformats.org/presentationml/2006/main">
  <p:tag name="KSO_WM_DIAGRAM_VIRTUALLY_FRAME" val="{&quot;height&quot;:281.25,&quot;left&quot;:45,&quot;top&quot;:115.94527559055118,&quot;width&quot;:870}"/>
</p:tagLst>
</file>

<file path=ppt/tags/tag21.xml><?xml version="1.0" encoding="utf-8"?>
<p:tagLst xmlns:p="http://schemas.openxmlformats.org/presentationml/2006/main">
  <p:tag name="KSO_WM_DIAGRAM_VIRTUALLY_FRAME" val="{&quot;height&quot;:281.25,&quot;left&quot;:45,&quot;top&quot;:115.94527559055118,&quot;width&quot;:870}"/>
</p:tagLst>
</file>

<file path=ppt/tags/tag22.xml><?xml version="1.0" encoding="utf-8"?>
<p:tagLst xmlns:p="http://schemas.openxmlformats.org/presentationml/2006/main">
  <p:tag name="KSO_WM_DIAGRAM_VIRTUALLY_FRAME" val="{&quot;height&quot;:281.25,&quot;left&quot;:45,&quot;top&quot;:115.94527559055118,&quot;width&quot;:870}"/>
</p:tagLst>
</file>

<file path=ppt/tags/tag23.xml><?xml version="1.0" encoding="utf-8"?>
<p:tagLst xmlns:p="http://schemas.openxmlformats.org/presentationml/2006/main">
  <p:tag name="KSO_WM_DIAGRAM_VIRTUALLY_FRAME" val="{&quot;height&quot;:281.25,&quot;left&quot;:45,&quot;top&quot;:115.94527559055118,&quot;width&quot;:870}"/>
</p:tagLst>
</file>

<file path=ppt/tags/tag24.xml><?xml version="1.0" encoding="utf-8"?>
<p:tagLst xmlns:p="http://schemas.openxmlformats.org/presentationml/2006/main">
  <p:tag name="KSO_WM_DIAGRAM_VIRTUALLY_FRAME" val="{&quot;height&quot;:281.25,&quot;left&quot;:45,&quot;top&quot;:115.94527559055118,&quot;width&quot;:870}"/>
</p:tagLst>
</file>

<file path=ppt/tags/tag25.xml><?xml version="1.0" encoding="utf-8"?>
<p:tagLst xmlns:p="http://schemas.openxmlformats.org/presentationml/2006/main">
  <p:tag name="KSO_WM_DIAGRAM_VIRTUALLY_FRAME" val="{&quot;height&quot;:281.25,&quot;left&quot;:45,&quot;top&quot;:115.94527559055118,&quot;width&quot;:870}"/>
</p:tagLst>
</file>

<file path=ppt/tags/tag26.xml><?xml version="1.0" encoding="utf-8"?>
<p:tagLst xmlns:p="http://schemas.openxmlformats.org/presentationml/2006/main">
  <p:tag name="KSO_WM_DIAGRAM_VIRTUALLY_FRAME" val="{&quot;height&quot;:281.25,&quot;left&quot;:45,&quot;top&quot;:115.94527559055118,&quot;width&quot;:870}"/>
</p:tagLst>
</file>

<file path=ppt/tags/tag27.xml><?xml version="1.0" encoding="utf-8"?>
<p:tagLst xmlns:p="http://schemas.openxmlformats.org/presentationml/2006/main">
  <p:tag name="KSO_WM_DIAGRAM_VIRTUALLY_FRAME" val="{&quot;height&quot;:281.25,&quot;left&quot;:45,&quot;top&quot;:115.94527559055118,&quot;width&quot;:870}"/>
</p:tagLst>
</file>

<file path=ppt/tags/tag28.xml><?xml version="1.0" encoding="utf-8"?>
<p:tagLst xmlns:p="http://schemas.openxmlformats.org/presentationml/2006/main">
  <p:tag name="KSO_WM_DIAGRAM_VIRTUALLY_FRAME" val="{&quot;height&quot;:281.25,&quot;left&quot;:45,&quot;top&quot;:115.94527559055118,&quot;width&quot;:870}"/>
</p:tagLst>
</file>

<file path=ppt/tags/tag29.xml><?xml version="1.0" encoding="utf-8"?>
<p:tagLst xmlns:p="http://schemas.openxmlformats.org/presentationml/2006/main">
  <p:tag name="KSO_WM_DIAGRAM_VIRTUALLY_FRAME" val="{&quot;height&quot;:281.25,&quot;left&quot;:45,&quot;top&quot;:115.94527559055118,&quot;width&quot;:870}"/>
</p:tagLst>
</file>

<file path=ppt/tags/tag30.xml><?xml version="1.0" encoding="utf-8"?>
<p:tagLst xmlns:p="http://schemas.openxmlformats.org/presentationml/2006/main">
  <p:tag name="KSO_WM_DIAGRAM_VIRTUALLY_FRAME" val="{&quot;height&quot;:281.25,&quot;left&quot;:45,&quot;top&quot;:115.94527559055118,&quot;width&quot;:870}"/>
</p:tagLst>
</file>

<file path=ppt/tags/tag31.xml><?xml version="1.0" encoding="utf-8"?>
<p:tagLst xmlns:p="http://schemas.openxmlformats.org/presentationml/2006/main">
  <p:tag name="KSO_WM_DIAGRAM_VIRTUALLY_FRAME" val="{&quot;height&quot;:281.25,&quot;left&quot;:45,&quot;top&quot;:115.94527559055118,&quot;width&quot;:870}"/>
</p:tagLst>
</file>

<file path=ppt/tags/tag32.xml><?xml version="1.0" encoding="utf-8"?>
<p:tagLst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33.xml><?xml version="1.0" encoding="utf-8"?>
<p:tagLst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34.xml><?xml version="1.0" encoding="utf-8"?>
<p:tagLst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35.xml><?xml version="1.0" encoding="utf-8"?>
<p:tagLst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36.xml><?xml version="1.0" encoding="utf-8"?>
<p:tagLst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37.xml><?xml version="1.0" encoding="utf-8"?>
<p:tagLst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38.xml><?xml version="1.0" encoding="utf-8"?>
<p:tagLst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39.xml><?xml version="1.0" encoding="utf-8"?>
<p:tagLst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40.xml><?xml version="1.0" encoding="utf-8"?>
<p:tagLst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41.xml><?xml version="1.0" encoding="utf-8"?>
<p:tagLst xmlns:p="http://schemas.openxmlformats.org/presentationml/2006/main">
  <p:tag name="KSO_WM_DIAGRAM_VIRTUALLY_FRAME" val="{&quot;height&quot;:387.2734645669292,&quot;left&quot;:45,&quot;top&quot;:115.94527559055118,&quot;width&quot;:870}"/>
</p:tagLst>
</file>

<file path=ppt/tags/tag42.xml><?xml version="1.0" encoding="utf-8"?>
<p:tagLst xmlns:p="http://schemas.openxmlformats.org/presentationml/2006/main">
  <p:tag name="KSO_WM_DIAGRAM_VIRTUALLY_FRAME" val="{&quot;height&quot;:441.93984251968504,&quot;left&quot;:45,&quot;top&quot;:115.94527559055118,&quot;width&quot;:870}"/>
</p:tagLst>
</file>

<file path=ppt/tags/tag43.xml><?xml version="1.0" encoding="utf-8"?>
<p:tagLst xmlns:p="http://schemas.openxmlformats.org/presentationml/2006/main">
  <p:tag name="KSO_WM_DIAGRAM_VIRTUALLY_FRAME" val="{&quot;height&quot;:441.93984251968504,&quot;left&quot;:45,&quot;top&quot;:115.94527559055118,&quot;width&quot;:870}"/>
</p:tagLst>
</file>

<file path=ppt/tags/tag44.xml><?xml version="1.0" encoding="utf-8"?>
<p:tagLst xmlns:p="http://schemas.openxmlformats.org/presentationml/2006/main">
  <p:tag name="KSO_WM_DIAGRAM_VIRTUALLY_FRAME" val="{&quot;height&quot;:441.93984251968504,&quot;left&quot;:45,&quot;top&quot;:115.94527559055118,&quot;width&quot;:870}"/>
</p:tagLst>
</file>

<file path=ppt/tags/tag45.xml><?xml version="1.0" encoding="utf-8"?>
<p:tagLst xmlns:p="http://schemas.openxmlformats.org/presentationml/2006/main">
  <p:tag name="KSO_WM_DIAGRAM_VIRTUALLY_FRAME" val="{&quot;height&quot;:441.93984251968504,&quot;left&quot;:45,&quot;top&quot;:115.94527559055118,&quot;width&quot;:870}"/>
</p:tagLst>
</file>

<file path=ppt/tags/tag46.xml><?xml version="1.0" encoding="utf-8"?>
<p:tagLst xmlns:p="http://schemas.openxmlformats.org/presentationml/2006/main">
  <p:tag name="KSO_WM_DIAGRAM_VIRTUALLY_FRAME" val="{&quot;height&quot;:441.93984251968504,&quot;left&quot;:45,&quot;top&quot;:115.94527559055118,&quot;width&quot;:870}"/>
</p:tagLst>
</file>

<file path=ppt/tags/tag47.xml><?xml version="1.0" encoding="utf-8"?>
<p:tagLst xmlns:p="http://schemas.openxmlformats.org/presentationml/2006/main">
  <p:tag name="KSO_WM_DIAGRAM_VIRTUALLY_FRAME" val="{&quot;height&quot;:441.93984251968504,&quot;left&quot;:45,&quot;top&quot;:115.94527559055118,&quot;width&quot;:870}"/>
</p:tagLst>
</file>

<file path=ppt/tags/tag48.xml><?xml version="1.0" encoding="utf-8"?>
<p:tagLst xmlns:p="http://schemas.openxmlformats.org/presentationml/2006/main">
  <p:tag name="KSO_WM_DIAGRAM_VIRTUALLY_FRAME" val="{&quot;height&quot;:441.93984251968504,&quot;left&quot;:45,&quot;top&quot;:115.94527559055118,&quot;width&quot;:870}"/>
</p:tagLst>
</file>

<file path=ppt/tags/tag49.xml><?xml version="1.0" encoding="utf-8"?>
<p:tagLst xmlns:p="http://schemas.openxmlformats.org/presentationml/2006/main">
  <p:tag name="KSO_WM_DIAGRAM_VIRTUALLY_FRAME" val="{&quot;height&quot;:441.93984251968504,&quot;left&quot;:45,&quot;top&quot;:115.94527559055118,&quot;width&quot;:870}"/>
</p:tagLst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5474</Words>
  <Application>WPS 演示</Application>
  <PresentationFormat>宽屏</PresentationFormat>
  <Paragraphs>255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7" baseType="lpstr">
      <vt:lpstr>Arial</vt:lpstr>
      <vt:lpstr>宋体</vt:lpstr>
      <vt:lpstr>Wingdings</vt:lpstr>
      <vt:lpstr>Arial</vt:lpstr>
      <vt:lpstr>Calibri</vt:lpstr>
      <vt:lpstr>Comfortaa</vt:lpstr>
      <vt:lpstr>Inter</vt:lpstr>
      <vt:lpstr>JetBrains Mono Medium</vt:lpstr>
      <vt:lpstr>Inter Medium</vt:lpstr>
      <vt:lpstr>微软雅黑</vt:lpstr>
      <vt:lpstr>Arial Unicode MS</vt:lpstr>
      <vt:lpstr>黑体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雪枫</cp:lastModifiedBy>
  <cp:revision>21</cp:revision>
  <dcterms:created xsi:type="dcterms:W3CDTF">2026-07-15T11:23:59Z</dcterms:created>
  <dcterms:modified xsi:type="dcterms:W3CDTF">2026-07-15T13:47:34Z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3FBFC04D36D7485D8571030B580D048E_12</vt:lpwstr>
  </property>
</Properties>
</file>