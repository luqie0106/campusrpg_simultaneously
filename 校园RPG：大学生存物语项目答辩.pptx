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Comfortaa" pitchFamily="2" charset="0"/>
      <p:regular r:id="rId17"/>
      <p:bold r:id="rId18"/>
    </p:embeddedFont>
    <p:embeddedFont>
      <p:font typeface="Inter" panose="02000503000000020004"/>
      <p:regular r:id="rId19"/>
      <p:bold r:id="rId20"/>
      <p:italic r:id="rId21"/>
      <p:boldItalic r:id="rId22"/>
    </p:embeddedFont>
    <p:embeddedFont>
      <p:font typeface="Inter Medium" panose="02000503000000020004" pitchFamily="2" charset="0"/>
      <p:regular r:id="rId23"/>
      <p:bold r:id="rId24"/>
      <p:italic r:id="rId25"/>
      <p:boldItalic r:id="rId26"/>
    </p:embeddedFont>
    <p:embeddedFont>
      <p:font typeface="JetBrains Mono Medium" panose="0200000900000000000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579CC66-B2EF-4C60-BFF7-A1B67CE13D10}">
  <a:tblStyle styleId="{4579CC66-B2EF-4C60-BFF7-A1B67CE13D1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01"/>
    <p:restoredTop sz="94653"/>
  </p:normalViewPr>
  <p:slideViewPr>
    <p:cSldViewPr snapToGrid="0">
      <p:cViewPr varScale="1">
        <p:scale>
          <a:sx n="118" d="100"/>
          <a:sy n="118" d="100"/>
        </p:scale>
        <p:origin x="552" y="-81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当玩家正在白天的普通小卖部里买东西时，如果后台的 </a:t>
            </a:r>
            <a:r>
              <a:rPr lang="en" altLang="zh-CN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GameClock</a:t>
            </a:r>
            <a:r>
              <a:rPr lang="en" altLang="zh-C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zh-CN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时钟线程刚好把时间推进到了夜晚，此时小卖部逻辑必须关闭。引擎会自动触发“强制驱逐”，把玩家强制踢出商店界面（退回到地图自由探索状态）。</a:t>
            </a:r>
            <a:endParaRPr dirty="0"/>
          </a:p>
        </p:txBody>
      </p:sp>
      <p:sp>
        <p:nvSpPr>
          <p:cNvPr id="166" name="Google Shape;16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5" Type="http://schemas.openxmlformats.org/officeDocument/2006/relationships/image" Target="../media/image5.png"/><Relationship Id="rId10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3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5133975"/>
            <a:ext cx="8572500" cy="86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738562" y="2790825"/>
            <a:ext cx="4714875" cy="5143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1995487" y="1771650"/>
            <a:ext cx="8201025" cy="828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1E40AF"/>
                </a:solidFill>
                <a:latin typeface="Comfortaa"/>
                <a:ea typeface="Comfortaa"/>
                <a:cs typeface="Comfortaa"/>
                <a:sym typeface="Comfortaa"/>
              </a:rPr>
              <a:t>《</a:t>
            </a:r>
            <a:r>
              <a:rPr lang="en-US" sz="4800" b="1" i="0" u="none" strike="noStrike" cap="none" dirty="0" err="1">
                <a:solidFill>
                  <a:srgbClr val="1E40AF"/>
                </a:solidFill>
                <a:latin typeface="Comfortaa"/>
                <a:ea typeface="Comfortaa"/>
                <a:cs typeface="Comfortaa"/>
                <a:sym typeface="Comfortaa"/>
              </a:rPr>
              <a:t>校园RPG：</a:t>
            </a:r>
            <a:r>
              <a:rPr lang="en-US" sz="4800" b="1" i="0" u="none" strike="noStrike" cap="none" dirty="0" err="1">
                <a:solidFill>
                  <a:srgbClr val="06B6D4"/>
                </a:solidFill>
                <a:latin typeface="Comfortaa"/>
                <a:ea typeface="Comfortaa"/>
                <a:cs typeface="Comfortaa"/>
                <a:sym typeface="Comfortaa"/>
              </a:rPr>
              <a:t>大学生存物语</a:t>
            </a:r>
            <a:r>
              <a:rPr lang="en-US" sz="4800" b="1" i="0" u="none" strike="noStrike" cap="none" dirty="0">
                <a:solidFill>
                  <a:srgbClr val="1E40AF"/>
                </a:solidFill>
                <a:latin typeface="Comfortaa"/>
                <a:ea typeface="Comfortaa"/>
                <a:cs typeface="Comfortaa"/>
                <a:sym typeface="Comfortaa"/>
              </a:rPr>
              <a:t>》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2009775" y="5334000"/>
            <a:ext cx="190023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答辩汇报人</a:t>
            </a:r>
            <a:r>
              <a:rPr lang="en-US" sz="1200" b="0" i="0" u="none" strike="noStrike" cap="non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陆辰睿 (组长)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4100512" y="5334000"/>
            <a:ext cx="190023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课程名称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1" i="0" u="none" strike="noStrike" cap="none" dirty="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C++</a:t>
            </a:r>
            <a:r>
              <a:rPr lang="en-US" sz="1200" b="1" i="0" u="none" strike="noStrike" cap="none" dirty="0" err="1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面向对象程序设计</a:t>
            </a:r>
            <a:endParaRPr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6191250" y="5334000"/>
            <a:ext cx="190023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指导教师</a:t>
            </a:r>
            <a:r>
              <a:rPr lang="en-US" sz="1200" b="0" i="0" u="none" strike="noStrike" cap="non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蒋敏 老师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8281987" y="5334000"/>
            <a:ext cx="190023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汇报日期</a:t>
            </a:r>
            <a:r>
              <a:rPr lang="en-US" sz="1200" b="0" i="0" u="none" strike="noStrike" cap="non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2026年7月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项目初衷与重构蜕变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FROM CONSOLE TO MODERN GRAPHICS GUI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1247775" y="1767780"/>
            <a:ext cx="458057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项目背景与题材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866775" y="5355133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本作是一款极具校园情怀与代入感的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RPG 生存游戏。玩家将扮演在校大学生，真实体验涵盖“打怪、消费、生存”的多重日常。精心模拟的多样校园生活机制，极大增强了游戏的沉浸感与真实性。</a:t>
            </a:r>
            <a:endParaRPr dirty="0"/>
          </a:p>
        </p:txBody>
      </p:sp>
      <p:sp>
        <p:nvSpPr>
          <p:cNvPr id="104" name="Google Shape;104;p14"/>
          <p:cNvSpPr txBox="1"/>
          <p:nvPr/>
        </p:nvSpPr>
        <p:spPr>
          <a:xfrm>
            <a:off x="6905625" y="1767780"/>
            <a:ext cx="464058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图形重构与跃迁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6581775" y="5111353"/>
            <a:ext cx="4743450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项目设计之初为基于纯控制台的黑框字符游戏，后经联合技术攻坚，平滑升级为基于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Qt6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框架的高性能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2D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像素俯视角图形系统。底层不仅深度体现了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C++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的三大支柱（封装、继承、多态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），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且做到了业务逻辑的完全复用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pic>
        <p:nvPicPr>
          <p:cNvPr id="106" name="Google Shape;106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775" y="1805880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81775" y="1805880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46489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游戏特色与核心玩法</a:t>
            </a:r>
            <a:endParaRPr/>
          </a:p>
        </p:txBody>
      </p:sp>
      <p:sp>
        <p:nvSpPr>
          <p:cNvPr id="115" name="Google Shape;115;p15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IMMERSIVE CAMPUS EXPLORATION GAMEPLAY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904875" y="2798415"/>
            <a:ext cx="5485507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自由跑图系统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：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支持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WASD </a:t>
            </a:r>
            <a:r>
              <a:rPr lang="en-US" sz="1200" b="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极速响应，通过自研定时器融合键盘事件拦截，实现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60FPS </a:t>
            </a:r>
            <a:r>
              <a:rPr lang="en-US" sz="1200" b="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顺滑的地图探索与场景无缝切换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904875" y="3398490"/>
            <a:ext cx="548550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真实昼夜交替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：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后台独立时钟推进机制。NPC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行为随系统时间动态更新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904875" y="3998565"/>
            <a:ext cx="5485507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双态经济结构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：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白天小卖部出售标准的补血、增益装备；深夜触发地下“</a:t>
            </a:r>
            <a:r>
              <a:rPr lang="en-US" sz="1200" b="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暗影黑市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”，</a:t>
            </a:r>
            <a:r>
              <a:rPr lang="en-US" sz="1200" b="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解锁绝版隐藏道具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904875" y="4598640"/>
            <a:ext cx="5485507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硬核回合战斗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：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基于轻量状态机的行为判定，集成装备道具实时响应与数值成长算法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pic>
        <p:nvPicPr>
          <p:cNvPr id="122" name="Google Shape;12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2222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42230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022377"/>
            <a:ext cx="238125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72505"/>
            <a:ext cx="3524250" cy="3243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3875" y="1472505"/>
            <a:ext cx="3524250" cy="3243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96250" y="1472505"/>
            <a:ext cx="3524250" cy="32431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MVC 彻底解耦的底层架构</a:t>
            </a:r>
            <a:endParaRPr/>
          </a:p>
        </p:txBody>
      </p:sp>
      <p:sp>
        <p:nvSpPr>
          <p:cNvPr id="134" name="Google Shape;134;p16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ARCHITECTURE: DECOUPLING MODEL, VIEW AND CONTROLLER</a:t>
            </a:r>
            <a:endParaRPr/>
          </a:p>
        </p:txBody>
      </p:sp>
      <p:sp>
        <p:nvSpPr>
          <p:cNvPr id="136" name="Google Shape;136;p16"/>
          <p:cNvSpPr/>
          <p:nvPr/>
        </p:nvSpPr>
        <p:spPr>
          <a:xfrm>
            <a:off x="581025" y="3075012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819150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Model (数据模型层)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819150" y="2682180"/>
            <a:ext cx="302895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由</a:t>
            </a:r>
            <a:r>
              <a:rPr lang="en-US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GameEngine</a:t>
            </a:r>
            <a:r>
              <a:rPr lang="en-US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及纯业务逻辑类（</a:t>
            </a:r>
            <a:r>
              <a:rPr lang="en-US" sz="1050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Character</a:t>
            </a:r>
            <a:r>
              <a:rPr lang="en-US" sz="105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、Map、GameClock</a:t>
            </a:r>
            <a:r>
              <a:rPr lang="en-US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等）组成。独立编译，内部不引入任何界面组件代码，做到彻底的数据逻辑内聚</a:t>
            </a:r>
            <a:r>
              <a:rPr lang="en-US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139" name="Google Shape;139;p16"/>
          <p:cNvSpPr/>
          <p:nvPr/>
        </p:nvSpPr>
        <p:spPr>
          <a:xfrm>
            <a:off x="4343400" y="3075012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4581525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View (图形渲染层)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4581525" y="2682180"/>
            <a:ext cx="3028950" cy="853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基于</a:t>
            </a:r>
            <a:r>
              <a:rPr lang="en-US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Qt6 Graphics View </a:t>
            </a:r>
            <a:r>
              <a:rPr lang="en-US" sz="105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框架。由</a:t>
            </a:r>
            <a:r>
              <a:rPr lang="en-US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QGraphicsScene</a:t>
            </a:r>
            <a:r>
              <a:rPr lang="en-US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05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对瓦片、障碍物、玩家进行坐标映射与高性能绘制，完全通过信号槽接收数据变化</a:t>
            </a:r>
            <a:r>
              <a:rPr lang="en-US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142" name="Google Shape;142;p16"/>
          <p:cNvSpPr/>
          <p:nvPr/>
        </p:nvSpPr>
        <p:spPr>
          <a:xfrm>
            <a:off x="8105775" y="3075012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6"/>
          <p:cNvSpPr txBox="1"/>
          <p:nvPr/>
        </p:nvSpPr>
        <p:spPr>
          <a:xfrm>
            <a:off x="8343900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Controller (控制调度)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8343900" y="2682180"/>
            <a:ext cx="3028950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封装键鼠硬件操作，实现状态判定。将用户交互转化为事件指令传入核心模型，同时起到逻辑响应主线程的分发媒介作用</a:t>
            </a:r>
            <a:r>
              <a:rPr lang="en-US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pic>
        <p:nvPicPr>
          <p:cNvPr id="145" name="Google Shape;145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19150" y="5596235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6"/>
          <p:cNvSpPr txBox="1"/>
          <p:nvPr/>
        </p:nvSpPr>
        <p:spPr>
          <a:xfrm>
            <a:off x="1057275" y="5572422"/>
            <a:ext cx="7143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解耦优势：</a:t>
            </a:r>
            <a:endParaRPr/>
          </a:p>
        </p:txBody>
      </p:sp>
      <p:pic>
        <p:nvPicPr>
          <p:cNvPr id="147" name="Google Shape;147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19150" y="1748730"/>
            <a:ext cx="2667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581525" y="1748730"/>
            <a:ext cx="3810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59096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714375" y="476250"/>
            <a:ext cx="5400675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2D 瓦片地图与物理防穿模</a:t>
            </a:r>
            <a:endParaRPr/>
          </a:p>
        </p:txBody>
      </p:sp>
      <p:sp>
        <p:nvSpPr>
          <p:cNvPr id="156" name="Google Shape;156;p17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771525" y="967680"/>
            <a:ext cx="508635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MAP RENDERING &amp; COLLISION SYSTEM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564357" y="1288851"/>
            <a:ext cx="5550693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00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数据驱动解析</a:t>
            </a:r>
            <a:endParaRPr dirty="0"/>
          </a:p>
        </p:txBody>
      </p:sp>
      <p:sp>
        <p:nvSpPr>
          <p:cNvPr id="159" name="Google Shape;159;p17"/>
          <p:cNvSpPr txBox="1"/>
          <p:nvPr/>
        </p:nvSpPr>
        <p:spPr>
          <a:xfrm>
            <a:off x="714375" y="1580057"/>
            <a:ext cx="5286375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通过地图加载器，代码可动态解析外部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JSON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瓦片文件，将贴图图块信息映射至二维网格。极大地增强了后续扩展新地图关卡的便捷性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160" name="Google Shape;160;p17"/>
          <p:cNvSpPr txBox="1"/>
          <p:nvPr/>
        </p:nvSpPr>
        <p:spPr>
          <a:xfrm>
            <a:off x="600075" y="2375896"/>
            <a:ext cx="5550693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4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高效防穿模机制</a:t>
            </a:r>
            <a:endParaRPr dirty="0"/>
          </a:p>
        </p:txBody>
      </p:sp>
      <p:sp>
        <p:nvSpPr>
          <p:cNvPr id="161" name="Google Shape;161;p17"/>
          <p:cNvSpPr txBox="1"/>
          <p:nvPr/>
        </p:nvSpPr>
        <p:spPr>
          <a:xfrm>
            <a:off x="571500" y="2573152"/>
            <a:ext cx="5286375" cy="5909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抛弃粗暴的坐标硬编码判定，利用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QGraphicsItem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的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Bounding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Rect（包围盒）计算建立物理障碍物阻挡层，完美防御角色意外越界的恶性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Bug。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dirty="0">
                <a:solidFill>
                  <a:srgbClr val="475569"/>
                </a:solidFill>
                <a:latin typeface="Inter"/>
              </a:rPr>
              <a:t>基于 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Bounding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Rect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</a:t>
            </a:r>
            <a:r>
              <a:rPr lang="zh-CN" altLang="en-US" sz="1200" dirty="0">
                <a:solidFill>
                  <a:srgbClr val="475569"/>
                </a:solidFill>
                <a:latin typeface="Inter"/>
              </a:rPr>
              <a:t>动态缩减的“脚部滑动碰撞”算法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 err="1">
                <a:solidFill>
                  <a:srgbClr val="475569"/>
                </a:solidFill>
                <a:latin typeface="Inter"/>
              </a:rPr>
              <a:t>qreal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spriteW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=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playerSize.width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();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 err="1">
                <a:solidFill>
                  <a:srgbClr val="475569"/>
                </a:solidFill>
                <a:latin typeface="Inter"/>
              </a:rPr>
              <a:t>qreal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spriteH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=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playerSize.height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();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dirty="0">
                <a:solidFill>
                  <a:srgbClr val="475569"/>
                </a:solidFill>
                <a:latin typeface="Inter"/>
              </a:rPr>
              <a:t>抛弃全身碰撞，动态计算缩小后的“脚部碰撞箱”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dirty="0">
                <a:solidFill>
                  <a:srgbClr val="475569"/>
                </a:solidFill>
                <a:latin typeface="Inter"/>
              </a:rPr>
              <a:t>确保角色在 </a:t>
            </a:r>
            <a:r>
              <a:rPr lang="en-US" altLang="zh-CN" sz="1200" dirty="0">
                <a:solidFill>
                  <a:srgbClr val="475569"/>
                </a:solidFill>
                <a:latin typeface="Inter"/>
              </a:rPr>
              <a:t>1</a:t>
            </a:r>
            <a:r>
              <a:rPr lang="zh-CN" altLang="en-US" sz="1200" dirty="0">
                <a:solidFill>
                  <a:srgbClr val="475569"/>
                </a:solidFill>
                <a:latin typeface="Inter"/>
              </a:rPr>
              <a:t>格</a:t>
            </a:r>
            <a:r>
              <a:rPr lang="en-US" altLang="zh-CN" sz="1200" dirty="0">
                <a:solidFill>
                  <a:srgbClr val="475569"/>
                </a:solidFill>
                <a:latin typeface="Inter"/>
              </a:rPr>
              <a:t>(16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px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) </a:t>
            </a:r>
            <a:r>
              <a:rPr lang="zh-CN" altLang="en-US" sz="1200" dirty="0">
                <a:solidFill>
                  <a:srgbClr val="475569"/>
                </a:solidFill>
                <a:latin typeface="Inter"/>
              </a:rPr>
              <a:t>的狭窄走廊中不会因为肩部蹭墙而卡死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 err="1">
                <a:solidFill>
                  <a:srgbClr val="475569"/>
                </a:solidFill>
                <a:latin typeface="Inter"/>
              </a:rPr>
              <a:t>qreal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colOffsetX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=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spriteW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* 10.0 / 32.0;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 err="1">
                <a:solidFill>
                  <a:srgbClr val="475569"/>
                </a:solidFill>
                <a:latin typeface="Inter"/>
              </a:rPr>
              <a:t>qreal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colOffsetY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=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spriteH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* 20.0 / 32.0;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 err="1">
                <a:solidFill>
                  <a:srgbClr val="475569"/>
                </a:solidFill>
                <a:latin typeface="Inter"/>
              </a:rPr>
              <a:t>qreal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colWidth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  =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spriteW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* 12.0 / 32.0;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dirty="0">
                <a:solidFill>
                  <a:srgbClr val="475569"/>
                </a:solidFill>
                <a:latin typeface="Inter"/>
              </a:rPr>
              <a:t>辅助函数：利用引擎提取坐标底层的四个顶点，检测是否均在 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Walkable </a:t>
            </a:r>
            <a:r>
              <a:rPr lang="zh-CN" altLang="en-US" sz="1200" dirty="0">
                <a:solidFill>
                  <a:srgbClr val="475569"/>
                </a:solidFill>
                <a:latin typeface="Inter"/>
              </a:rPr>
              <a:t>网格内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475569"/>
                </a:solidFill>
                <a:latin typeface="Inter"/>
              </a:rPr>
              <a:t>auto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checkWalkable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= [&amp;](&lt;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qreal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tx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,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qreal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ty&gt;) {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475569"/>
                </a:solidFill>
                <a:latin typeface="Inter"/>
              </a:rPr>
              <a:t>    // ... </a:t>
            </a:r>
            <a:r>
              <a:rPr lang="zh-CN" altLang="en-US" sz="1200" dirty="0">
                <a:solidFill>
                  <a:srgbClr val="475569"/>
                </a:solidFill>
                <a:latin typeface="Inter"/>
              </a:rPr>
              <a:t>坐标到网格顶点的换算 </a:t>
            </a:r>
            <a:r>
              <a:rPr lang="en-US" altLang="zh-CN" sz="1200" dirty="0">
                <a:solidFill>
                  <a:srgbClr val="475569"/>
                </a:solidFill>
                <a:latin typeface="Inter"/>
              </a:rPr>
              <a:t>...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dirty="0">
                <a:solidFill>
                  <a:srgbClr val="475569"/>
                </a:solidFill>
                <a:latin typeface="Inter"/>
              </a:rPr>
              <a:t>    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return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mapSys.isWalkable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(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tlX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,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tlY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) &amp;&amp;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mapSys.isWalkable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(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brX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,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brY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);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475569"/>
                </a:solidFill>
                <a:latin typeface="Inter"/>
              </a:rPr>
              <a:t>};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dirty="0">
                <a:solidFill>
                  <a:srgbClr val="475569"/>
                </a:solidFill>
                <a:latin typeface="Inter"/>
              </a:rPr>
              <a:t>分轴独立判定：实现贴墙时顺滑溜边，彻底解决越界与卡死 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Bug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475569"/>
                </a:solidFill>
                <a:latin typeface="Inter"/>
              </a:rPr>
              <a:t>if (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nextX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!= player-&gt;x() &amp;&amp;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checkWalkable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(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nextX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, player-&gt;y()))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finalX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=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nextX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;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475569"/>
                </a:solidFill>
                <a:latin typeface="Inter"/>
              </a:rPr>
              <a:t>if (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nextY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!= player-&gt;y() &amp;&amp;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checkWalkable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(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finalX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,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nextY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))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finalY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 = </a:t>
            </a:r>
            <a:r>
              <a:rPr lang="en" sz="1200" dirty="0" err="1">
                <a:solidFill>
                  <a:srgbClr val="475569"/>
                </a:solidFill>
                <a:latin typeface="Inter"/>
              </a:rPr>
              <a:t>nextY</a:t>
            </a:r>
            <a:r>
              <a:rPr lang="en" sz="1200" dirty="0">
                <a:solidFill>
                  <a:srgbClr val="475569"/>
                </a:solidFill>
                <a:latin typeface="Inter"/>
              </a:rPr>
              <a:t>;</a:t>
            </a:r>
            <a:endParaRPr sz="1200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3" name="图片 2" descr="图片包含 表格&#10;&#10;AI 生成的内容可能不正确。">
            <a:extLst>
              <a:ext uri="{FF2B5EF4-FFF2-40B4-BE49-F238E27FC236}">
                <a16:creationId xmlns:a16="http://schemas.microsoft.com/office/drawing/2014/main" id="{2EC4C9B7-FAB7-C32C-A5D3-C85AC077D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9215" y="390392"/>
            <a:ext cx="4916798" cy="356119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72505"/>
            <a:ext cx="3524250" cy="31364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3875" y="1472505"/>
            <a:ext cx="3524250" cy="31364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96250" y="1472505"/>
            <a:ext cx="3524250" cy="31364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动态时钟驱动的校园环境</a:t>
            </a:r>
            <a:endParaRPr/>
          </a:p>
        </p:txBody>
      </p:sp>
      <p:sp>
        <p:nvSpPr>
          <p:cNvPr id="173" name="Google Shape;173;p18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TIME TICK ENGINE &amp; DAY-NIGHT SYSTEMS</a:t>
            </a:r>
            <a:endParaRPr/>
          </a:p>
        </p:txBody>
      </p:sp>
      <p:sp>
        <p:nvSpPr>
          <p:cNvPr id="175" name="Google Shape;175;p18"/>
          <p:cNvSpPr/>
          <p:nvPr/>
        </p:nvSpPr>
        <p:spPr>
          <a:xfrm>
            <a:off x="581025" y="3021657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819150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时钟驱动引擎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19150" y="2682180"/>
            <a:ext cx="302895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采用高性能独立后台进程控制游戏时间的流转，精准划分早、晚两个核心战略阶段，为全天候任务逻辑提供确定性时钟源</a:t>
            </a:r>
            <a:r>
              <a:rPr lang="en-US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178" name="Google Shape;178;p18"/>
          <p:cNvSpPr/>
          <p:nvPr/>
        </p:nvSpPr>
        <p:spPr>
          <a:xfrm>
            <a:off x="4343400" y="3021657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4581525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日间小卖部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4581525" y="2682180"/>
            <a:ext cx="302895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提供合规的补血、强化道具与常规装备购买通道。玩家可在日间整理行囊，通过合理的金币消费规划后续行动</a:t>
            </a:r>
            <a:r>
              <a:rPr lang="en-US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181" name="Google Shape;181;p18"/>
          <p:cNvSpPr/>
          <p:nvPr/>
        </p:nvSpPr>
        <p:spPr>
          <a:xfrm>
            <a:off x="8105775" y="3021657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8"/>
          <p:cNvSpPr txBox="1"/>
          <p:nvPr/>
        </p:nvSpPr>
        <p:spPr>
          <a:xfrm>
            <a:off x="8343900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深夜秘密黑市</a:t>
            </a:r>
            <a:endParaRPr dirty="0"/>
          </a:p>
        </p:txBody>
      </p:sp>
      <p:sp>
        <p:nvSpPr>
          <p:cNvPr id="183" name="Google Shape;183;p18"/>
          <p:cNvSpPr txBox="1"/>
          <p:nvPr/>
        </p:nvSpPr>
        <p:spPr>
          <a:xfrm>
            <a:off x="8343900" y="2682180"/>
            <a:ext cx="302895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触发极高性价比的珍贵黑市交易。额外添加**“跨时段强制驱逐”安全防线，当后台时钟跨越临界点时，系统会自动重置玩家的商店挂机状态，彻底杜绝状态机串线与跨场景穿模的恶性 </a:t>
            </a:r>
            <a:r>
              <a:rPr lang="en" altLang="zh-CN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Bug</a:t>
            </a:r>
            <a:r>
              <a:rPr lang="zh-CN" altLang="en" sz="10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。**</a:t>
            </a:r>
            <a:endParaRPr lang="zh-CN" altLang="en-US" dirty="0"/>
          </a:p>
        </p:txBody>
      </p:sp>
      <p:pic>
        <p:nvPicPr>
          <p:cNvPr id="184" name="Google Shape;184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19150" y="5542954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8"/>
          <p:cNvSpPr txBox="1"/>
          <p:nvPr/>
        </p:nvSpPr>
        <p:spPr>
          <a:xfrm>
            <a:off x="1057275" y="5519142"/>
            <a:ext cx="8572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底层防冲突：</a:t>
            </a:r>
            <a:endParaRPr/>
          </a:p>
        </p:txBody>
      </p:sp>
      <p:pic>
        <p:nvPicPr>
          <p:cNvPr id="186" name="Google Shape;186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19150" y="1748730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581525" y="1748730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8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343900" y="1748730"/>
            <a:ext cx="2286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9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 err="1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面向对象：角色与背包系统</a:t>
            </a:r>
            <a:endParaRPr dirty="0"/>
          </a:p>
        </p:txBody>
      </p:sp>
      <p:sp>
        <p:nvSpPr>
          <p:cNvPr id="197" name="Google Shape;197;p19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9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OOP BEST PRACTICES: INHERITANCE AND POLYMORPHISM</a:t>
            </a:r>
            <a:endParaRPr/>
          </a:p>
        </p:txBody>
      </p:sp>
      <p:sp>
        <p:nvSpPr>
          <p:cNvPr id="199" name="Google Shape;199;p19"/>
          <p:cNvSpPr txBox="1"/>
          <p:nvPr/>
        </p:nvSpPr>
        <p:spPr>
          <a:xfrm>
            <a:off x="1247775" y="1767780"/>
            <a:ext cx="458057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角色属性高度封装</a:t>
            </a:r>
            <a:endParaRPr/>
          </a:p>
        </p:txBody>
      </p:sp>
      <p:sp>
        <p:nvSpPr>
          <p:cNvPr id="200" name="Google Shape;200;p19"/>
          <p:cNvSpPr txBox="1"/>
          <p:nvPr/>
        </p:nvSpPr>
        <p:spPr>
          <a:xfrm>
            <a:off x="866775" y="5188880"/>
            <a:ext cx="474345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抽象统一的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Character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实体类，集成生命值（HP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）、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攻击力（ATK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）、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精力与防御等丰富属性，并在内部进行属性值变动安全阈值的边界限制，向外只暴露纯净的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API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接口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201" name="Google Shape;201;p19"/>
          <p:cNvSpPr txBox="1"/>
          <p:nvPr/>
        </p:nvSpPr>
        <p:spPr>
          <a:xfrm>
            <a:off x="6905625" y="1767780"/>
            <a:ext cx="464058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继承与多态的实战典范</a:t>
            </a:r>
            <a:endParaRPr/>
          </a:p>
        </p:txBody>
      </p:sp>
      <p:sp>
        <p:nvSpPr>
          <p:cNvPr id="202" name="Google Shape;202;p19"/>
          <p:cNvSpPr txBox="1"/>
          <p:nvPr/>
        </p:nvSpPr>
        <p:spPr>
          <a:xfrm>
            <a:off x="6581775" y="5111353"/>
            <a:ext cx="4743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构建抽象基类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Item，衍生派生出食物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，装备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等。背包统一采用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std::vector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管理，在玩家使用特定道具时利用虚函数机制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，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在运行期动态判定具体的属性变更效果，极大精简了条件分支判断代码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pic>
        <p:nvPicPr>
          <p:cNvPr id="203" name="Google Shape;203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775" y="1805880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81775" y="180588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图形 4">
            <a:extLst>
              <a:ext uri="{FF2B5EF4-FFF2-40B4-BE49-F238E27FC236}">
                <a16:creationId xmlns:a16="http://schemas.microsoft.com/office/drawing/2014/main" id="{323D69E6-9E6E-A63E-C566-92D7FE360BC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1525" y="2429220"/>
            <a:ext cx="4836779" cy="2449662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8340652D-875F-EA47-3BC4-C7B50BF5E7D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7887" y="2651655"/>
            <a:ext cx="5272613" cy="18806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308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36515"/>
            <a:ext cx="4229100" cy="218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3987" y="3227040"/>
            <a:ext cx="2524125" cy="104775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0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面向对象的战斗引擎判定</a:t>
            </a:r>
            <a:endParaRPr/>
          </a:p>
        </p:txBody>
      </p:sp>
      <p:sp>
        <p:nvSpPr>
          <p:cNvPr id="213" name="Google Shape;213;p20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STATE MACHINE DRIVEN COMBAT SYSTEM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2019300" y="4370040"/>
            <a:ext cx="13335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状态机控制判定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5610225" y="2237853"/>
            <a:ext cx="601027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回合转换状态机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：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采用经典状态模式设计战斗流程，统合玩家阶段、计算阶段、怪物阶段及结算状态，结构边界极佳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217" name="Google Shape;217;p20"/>
          <p:cNvSpPr txBox="1"/>
          <p:nvPr/>
        </p:nvSpPr>
        <p:spPr>
          <a:xfrm>
            <a:off x="5610224" y="2981715"/>
            <a:ext cx="601027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精确伤害计算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：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伤害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= </a:t>
            </a:r>
            <a:r>
              <a:rPr lang="en-US" sz="1200" b="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攻击力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* (1 - </a:t>
            </a:r>
            <a:r>
              <a:rPr lang="en-US" sz="1200" b="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减伤比率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)，</a:t>
            </a:r>
            <a:r>
              <a:rPr lang="en-US" sz="1200" b="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并加入暴击及特殊反击逻辑判定，使得攻守过程富有战术变化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r>
              <a:rPr lang="zh-CN" alt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精确数值博弈与耐久度引擎：底层基于经典阈值减法（伤害 </a:t>
            </a:r>
            <a:r>
              <a:rPr lang="en-US" altLang="zh-CN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= </a:t>
            </a:r>
            <a:r>
              <a:rPr lang="zh-CN" alt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攻击 </a:t>
            </a:r>
            <a:r>
              <a:rPr lang="en-US" altLang="zh-CN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- </a:t>
            </a:r>
            <a:r>
              <a:rPr lang="zh-CN" alt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防御）。战斗中创新引入了部位打击判定，敌人会随机攻击玩家的头部、躯干或四肢，并根据对数函数计算防具的耐久度损耗，使得攻守过程富有战术变化。</a:t>
            </a:r>
            <a:endParaRPr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5610225" y="4298602"/>
            <a:ext cx="601027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优先级调度与破韧机制</a:t>
            </a:r>
            <a:r>
              <a:rPr lang="zh-CN" alt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：特殊道具在战斗轮次中具有绝对优先权（不耗费回合的先手治愈）。此外，引入了类似</a:t>
            </a:r>
            <a:r>
              <a:rPr lang="en-US" altLang="zh-CN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《</a:t>
            </a:r>
            <a:r>
              <a:rPr lang="zh-CN" altLang="en-US" sz="1200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原神</a:t>
            </a:r>
            <a:r>
              <a:rPr lang="en-US" altLang="zh-CN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》</a:t>
            </a:r>
            <a:r>
              <a:rPr lang="zh-CN" alt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的破韧度（</a:t>
            </a:r>
            <a:r>
              <a:rPr 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Stagger）</a:t>
            </a:r>
            <a:r>
              <a:rPr lang="zh-CN" altLang="en-US" sz="1200" b="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状态机逻辑，当累积破韧值达标时，怪物将陷入瘫痪，并在引擎中被强制静止本回合的行为判定。</a:t>
            </a:r>
            <a:endParaRPr dirty="0"/>
          </a:p>
        </p:txBody>
      </p:sp>
      <p:pic>
        <p:nvPicPr>
          <p:cNvPr id="219" name="Google Shape;219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276850" y="312226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276850" y="4322415"/>
            <a:ext cx="142875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1107297"/>
            <a:ext cx="5334000" cy="5274452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1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核心挑战：图形界面的全面升级</a:t>
            </a:r>
            <a:endParaRPr/>
          </a:p>
        </p:txBody>
      </p:sp>
      <p:sp>
        <p:nvSpPr>
          <p:cNvPr id="229" name="Google Shape;229;p21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1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CHALLENGE I: COMMAND LINE RESTRUCTURING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1162050" y="1767780"/>
            <a:ext cx="467058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1. 业务逻辑“零创伤”迁徙</a:t>
            </a:r>
            <a:endParaRPr/>
          </a:p>
        </p:txBody>
      </p:sp>
      <p:sp>
        <p:nvSpPr>
          <p:cNvPr id="232" name="Google Shape;232;p21"/>
          <p:cNvSpPr txBox="1"/>
          <p:nvPr/>
        </p:nvSpPr>
        <p:spPr>
          <a:xfrm>
            <a:off x="866775" y="5355133"/>
            <a:ext cx="474345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在原有纯黑框字符版业务代码毫不知情的情况下，将其整体打包内嵌至 Qt6 视口视图架构中。在视图刷新阶段通过映射指针直接提取数据源渲染图元，完美规避重写旧逻辑的巨大工作量。</a:t>
            </a:r>
            <a:endParaRPr/>
          </a:p>
        </p:txBody>
      </p:sp>
      <p:sp>
        <p:nvSpPr>
          <p:cNvPr id="234" name="Google Shape;234;p21"/>
          <p:cNvSpPr txBox="1"/>
          <p:nvPr/>
        </p:nvSpPr>
        <p:spPr>
          <a:xfrm>
            <a:off x="6581775" y="5111353"/>
            <a:ext cx="4743450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原生的键盘响应常伴随首字卡顿，项目创造性地采用</a:t>
            </a:r>
            <a:r>
              <a:rPr lang="en-US" sz="1200" b="1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“按键信号拦截器</a:t>
            </a:r>
            <a:r>
              <a:rPr lang="en-US" sz="12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+ </a:t>
            </a:r>
            <a:r>
              <a:rPr lang="en-US" sz="1200" b="1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状态机记录</a:t>
            </a:r>
            <a:r>
              <a:rPr lang="en-US" sz="12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+ 16ms </a:t>
            </a:r>
            <a:r>
              <a:rPr lang="en-US" sz="1200" b="1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频率定时器轮询”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的技术方案。该底层改造可顺畅处理斜向同按在内的复杂手柄化按键组合，将玩家行走操纵帧率直接抬升到丝滑的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60FPS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水准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pic>
        <p:nvPicPr>
          <p:cNvPr id="235" name="Google Shape;235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775" y="1805880"/>
            <a:ext cx="200025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组合 2">
            <a:extLst>
              <a:ext uri="{FF2B5EF4-FFF2-40B4-BE49-F238E27FC236}">
                <a16:creationId xmlns:a16="http://schemas.microsoft.com/office/drawing/2014/main" id="{B9C4F0D5-1C9A-CF0F-E249-F84D85B2939C}"/>
              </a:ext>
            </a:extLst>
          </p:cNvPr>
          <p:cNvGrpSpPr/>
          <p:nvPr/>
        </p:nvGrpSpPr>
        <p:grpSpPr>
          <a:xfrm>
            <a:off x="6477000" y="1272480"/>
            <a:ext cx="4965858" cy="304800"/>
            <a:chOff x="6581775" y="1767780"/>
            <a:chExt cx="4965858" cy="304800"/>
          </a:xfrm>
        </p:grpSpPr>
        <p:sp>
          <p:nvSpPr>
            <p:cNvPr id="233" name="Google Shape;233;p21"/>
            <p:cNvSpPr txBox="1"/>
            <p:nvPr/>
          </p:nvSpPr>
          <p:spPr>
            <a:xfrm>
              <a:off x="6877050" y="1767780"/>
              <a:ext cx="4670583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u="none" strike="noStrike" cap="none" dirty="0">
                  <a:solidFill>
                    <a:srgbClr val="1E40AF"/>
                  </a:solidFill>
                  <a:latin typeface="Inter"/>
                  <a:ea typeface="Inter"/>
                  <a:cs typeface="Inter"/>
                  <a:sym typeface="Inter"/>
                </a:rPr>
                <a:t>2. </a:t>
              </a:r>
              <a:r>
                <a:rPr lang="en-US" sz="1800" b="1" i="0" u="none" strike="noStrike" cap="none" dirty="0" err="1">
                  <a:solidFill>
                    <a:srgbClr val="1E40AF"/>
                  </a:solidFill>
                  <a:latin typeface="Inter"/>
                  <a:ea typeface="Inter"/>
                  <a:cs typeface="Inter"/>
                  <a:sym typeface="Inter"/>
                </a:rPr>
                <a:t>彻底解决按键迟滞卡顿</a:t>
              </a:r>
              <a:endParaRPr dirty="0"/>
            </a:p>
          </p:txBody>
        </p:sp>
        <p:pic>
          <p:nvPicPr>
            <p:cNvPr id="236" name="Google Shape;236;p21" descr="image.png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6581775" y="1805880"/>
              <a:ext cx="200025" cy="228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AA7C9E72-C322-5E35-BECF-1C6082538457}"/>
              </a:ext>
            </a:extLst>
          </p:cNvPr>
          <p:cNvSpPr txBox="1"/>
          <p:nvPr/>
        </p:nvSpPr>
        <p:spPr>
          <a:xfrm>
            <a:off x="6496050" y="1559803"/>
            <a:ext cx="4448175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050" dirty="0"/>
              <a:t>// 🌟 </a:t>
            </a:r>
            <a:r>
              <a:rPr kumimoji="1" lang="zh-CN" altLang="en-US" sz="1050" dirty="0"/>
              <a:t>核心突破：</a:t>
            </a:r>
            <a:r>
              <a:rPr kumimoji="1" lang="en-US" altLang="zh-CN" sz="1050" dirty="0"/>
              <a:t>16</a:t>
            </a:r>
            <a:r>
              <a:rPr kumimoji="1" lang="en" altLang="zh-CN" sz="1050" dirty="0" err="1"/>
              <a:t>ms</a:t>
            </a:r>
            <a:r>
              <a:rPr kumimoji="1" lang="en" altLang="zh-CN" sz="1050" dirty="0"/>
              <a:t> </a:t>
            </a:r>
            <a:r>
              <a:rPr kumimoji="1" lang="zh-CN" altLang="en-US" sz="1050" dirty="0"/>
              <a:t>状态机轮询取代原生阻塞拦截</a:t>
            </a:r>
          </a:p>
          <a:p>
            <a:r>
              <a:rPr kumimoji="1" lang="en" altLang="zh-CN" sz="1050" dirty="0"/>
              <a:t>void </a:t>
            </a:r>
            <a:r>
              <a:rPr kumimoji="1" lang="en" altLang="zh-CN" sz="1050" dirty="0" err="1"/>
              <a:t>MainWindow</a:t>
            </a:r>
            <a:r>
              <a:rPr kumimoji="1" lang="en" altLang="zh-CN" sz="1050" dirty="0"/>
              <a:t>::</a:t>
            </a:r>
            <a:r>
              <a:rPr kumimoji="1" lang="en" altLang="zh-CN" sz="1050" dirty="0" err="1"/>
              <a:t>keyPressEvent</a:t>
            </a:r>
            <a:r>
              <a:rPr kumimoji="1" lang="en" altLang="zh-CN" sz="1050" dirty="0"/>
              <a:t>(</a:t>
            </a:r>
            <a:r>
              <a:rPr kumimoji="1" lang="en" altLang="zh-CN" sz="1050" dirty="0" err="1"/>
              <a:t>QKeyEvent</a:t>
            </a:r>
            <a:r>
              <a:rPr kumimoji="1" lang="en" altLang="zh-CN" sz="1050" dirty="0"/>
              <a:t>* event) {</a:t>
            </a:r>
          </a:p>
          <a:p>
            <a:r>
              <a:rPr kumimoji="1" lang="en" altLang="zh-CN" sz="1050" dirty="0"/>
              <a:t>    // </a:t>
            </a:r>
            <a:r>
              <a:rPr kumimoji="1" lang="zh-CN" altLang="en-US" sz="1050" dirty="0"/>
              <a:t>拦截器：仅记录按键状态，不处理移动逻辑</a:t>
            </a:r>
          </a:p>
          <a:p>
            <a:r>
              <a:rPr kumimoji="1" lang="zh-CN" altLang="en-US" sz="1050" dirty="0"/>
              <a:t>    </a:t>
            </a:r>
            <a:r>
              <a:rPr kumimoji="1" lang="en" altLang="zh-CN" sz="1050" dirty="0"/>
              <a:t>if (event-&gt;key() == Qt::</a:t>
            </a:r>
            <a:r>
              <a:rPr kumimoji="1" lang="en" altLang="zh-CN" sz="1050" dirty="0" err="1"/>
              <a:t>Key_W</a:t>
            </a:r>
            <a:r>
              <a:rPr kumimoji="1" lang="en" altLang="zh-CN" sz="1050" dirty="0"/>
              <a:t>) </a:t>
            </a:r>
            <a:r>
              <a:rPr kumimoji="1" lang="en" altLang="zh-CN" sz="1050" dirty="0" err="1"/>
              <a:t>keyW</a:t>
            </a:r>
            <a:r>
              <a:rPr kumimoji="1" lang="en" altLang="zh-CN" sz="1050" dirty="0"/>
              <a:t> = true;</a:t>
            </a:r>
          </a:p>
          <a:p>
            <a:r>
              <a:rPr kumimoji="1" lang="en" altLang="zh-CN" sz="1050" dirty="0"/>
              <a:t>    if (event-&gt;key() == Qt::</a:t>
            </a:r>
            <a:r>
              <a:rPr kumimoji="1" lang="en" altLang="zh-CN" sz="1050" dirty="0" err="1"/>
              <a:t>Key_S</a:t>
            </a:r>
            <a:r>
              <a:rPr kumimoji="1" lang="en" altLang="zh-CN" sz="1050" dirty="0"/>
              <a:t>) </a:t>
            </a:r>
            <a:r>
              <a:rPr kumimoji="1" lang="en" altLang="zh-CN" sz="1050" dirty="0" err="1"/>
              <a:t>keyS</a:t>
            </a:r>
            <a:r>
              <a:rPr kumimoji="1" lang="en" altLang="zh-CN" sz="1050" dirty="0"/>
              <a:t> = true;</a:t>
            </a:r>
          </a:p>
          <a:p>
            <a:r>
              <a:rPr kumimoji="1" lang="en" altLang="zh-CN" sz="1050" dirty="0"/>
              <a:t>    if (event-&gt;key() == Qt::</a:t>
            </a:r>
            <a:r>
              <a:rPr kumimoji="1" lang="en" altLang="zh-CN" sz="1050" dirty="0" err="1"/>
              <a:t>Key_A</a:t>
            </a:r>
            <a:r>
              <a:rPr kumimoji="1" lang="en" altLang="zh-CN" sz="1050" dirty="0"/>
              <a:t>) </a:t>
            </a:r>
            <a:r>
              <a:rPr kumimoji="1" lang="en" altLang="zh-CN" sz="1050" dirty="0" err="1"/>
              <a:t>keyA</a:t>
            </a:r>
            <a:r>
              <a:rPr kumimoji="1" lang="en" altLang="zh-CN" sz="1050" dirty="0"/>
              <a:t> = true;</a:t>
            </a:r>
          </a:p>
          <a:p>
            <a:r>
              <a:rPr kumimoji="1" lang="en" altLang="zh-CN" sz="1050" dirty="0"/>
              <a:t>    if (event-&gt;key() == Qt::</a:t>
            </a:r>
            <a:r>
              <a:rPr kumimoji="1" lang="en" altLang="zh-CN" sz="1050" dirty="0" err="1"/>
              <a:t>Key_D</a:t>
            </a:r>
            <a:r>
              <a:rPr kumimoji="1" lang="en" altLang="zh-CN" sz="1050" dirty="0"/>
              <a:t>) </a:t>
            </a:r>
            <a:r>
              <a:rPr kumimoji="1" lang="en" altLang="zh-CN" sz="1050" dirty="0" err="1"/>
              <a:t>keyD</a:t>
            </a:r>
            <a:r>
              <a:rPr kumimoji="1" lang="en" altLang="zh-CN" sz="1050" dirty="0"/>
              <a:t> = true;</a:t>
            </a:r>
          </a:p>
          <a:p>
            <a:r>
              <a:rPr kumimoji="1" lang="en" altLang="zh-CN" sz="1050" dirty="0"/>
              <a:t>}</a:t>
            </a:r>
          </a:p>
          <a:p>
            <a:endParaRPr kumimoji="1" lang="en" altLang="zh-CN" sz="1050" dirty="0"/>
          </a:p>
          <a:p>
            <a:r>
              <a:rPr kumimoji="1" lang="en" altLang="zh-CN" sz="1050" dirty="0"/>
              <a:t>// </a:t>
            </a:r>
            <a:r>
              <a:rPr kumimoji="1" lang="zh-CN" altLang="en-US" sz="1050" dirty="0"/>
              <a:t>在初始化中启动 </a:t>
            </a:r>
            <a:r>
              <a:rPr kumimoji="1" lang="en-US" altLang="zh-CN" sz="1050" dirty="0"/>
              <a:t>60</a:t>
            </a:r>
            <a:r>
              <a:rPr kumimoji="1" lang="en" altLang="zh-CN" sz="1050" dirty="0"/>
              <a:t>FPS </a:t>
            </a:r>
            <a:r>
              <a:rPr kumimoji="1" lang="zh-CN" altLang="en-US" sz="1050" dirty="0"/>
              <a:t>定时器轮询</a:t>
            </a:r>
          </a:p>
          <a:p>
            <a:r>
              <a:rPr kumimoji="1" lang="en" altLang="zh-CN" sz="1050" dirty="0" err="1"/>
              <a:t>moveTimer</a:t>
            </a:r>
            <a:r>
              <a:rPr kumimoji="1" lang="en" altLang="zh-CN" sz="1050" dirty="0"/>
              <a:t> = new </a:t>
            </a:r>
            <a:r>
              <a:rPr kumimoji="1" lang="en" altLang="zh-CN" sz="1050" dirty="0" err="1"/>
              <a:t>QTimer</a:t>
            </a:r>
            <a:r>
              <a:rPr kumimoji="1" lang="en" altLang="zh-CN" sz="1050" dirty="0"/>
              <a:t>(this);</a:t>
            </a:r>
          </a:p>
          <a:p>
            <a:r>
              <a:rPr kumimoji="1" lang="en" altLang="zh-CN" sz="1050" dirty="0"/>
              <a:t>connect(</a:t>
            </a:r>
            <a:r>
              <a:rPr kumimoji="1" lang="en" altLang="zh-CN" sz="1050" dirty="0" err="1"/>
              <a:t>moveTimer</a:t>
            </a:r>
            <a:r>
              <a:rPr kumimoji="1" lang="en" altLang="zh-CN" sz="1050" dirty="0"/>
              <a:t>, &amp;</a:t>
            </a:r>
            <a:r>
              <a:rPr kumimoji="1" lang="en" altLang="zh-CN" sz="1050" dirty="0" err="1"/>
              <a:t>QTimer</a:t>
            </a:r>
            <a:r>
              <a:rPr kumimoji="1" lang="en" altLang="zh-CN" sz="1050" dirty="0"/>
              <a:t>::timeout, this, [=]() {</a:t>
            </a:r>
          </a:p>
          <a:p>
            <a:r>
              <a:rPr kumimoji="1" lang="en" altLang="zh-CN" sz="1050" dirty="0"/>
              <a:t>    int dx = 0, </a:t>
            </a:r>
            <a:r>
              <a:rPr kumimoji="1" lang="en" altLang="zh-CN" sz="1050" dirty="0" err="1"/>
              <a:t>dy</a:t>
            </a:r>
            <a:r>
              <a:rPr kumimoji="1" lang="en" altLang="zh-CN" sz="1050" dirty="0"/>
              <a:t> = 0;</a:t>
            </a:r>
          </a:p>
          <a:p>
            <a:r>
              <a:rPr kumimoji="1" lang="en" altLang="zh-CN" sz="1050" dirty="0"/>
              <a:t>    // </a:t>
            </a:r>
            <a:r>
              <a:rPr kumimoji="1" lang="zh-CN" altLang="en-US" sz="1050" dirty="0"/>
              <a:t>状态机判定：完美支持斜向</a:t>
            </a:r>
            <a:r>
              <a:rPr kumimoji="1" lang="en-US" altLang="zh-CN" sz="1050" dirty="0"/>
              <a:t>(</a:t>
            </a:r>
            <a:r>
              <a:rPr kumimoji="1" lang="zh-CN" altLang="en-US" sz="1050" dirty="0"/>
              <a:t>如 </a:t>
            </a:r>
            <a:r>
              <a:rPr kumimoji="1" lang="en" altLang="zh-CN" sz="1050" dirty="0"/>
              <a:t>W+D </a:t>
            </a:r>
            <a:r>
              <a:rPr kumimoji="1" lang="zh-CN" altLang="en-US" sz="1050" dirty="0"/>
              <a:t>同按</a:t>
            </a:r>
            <a:r>
              <a:rPr kumimoji="1" lang="en-US" altLang="zh-CN" sz="1050" dirty="0"/>
              <a:t>)</a:t>
            </a:r>
            <a:r>
              <a:rPr kumimoji="1" lang="zh-CN" altLang="en-US" sz="1050" dirty="0"/>
              <a:t>的丝滑移动</a:t>
            </a:r>
          </a:p>
          <a:p>
            <a:r>
              <a:rPr kumimoji="1" lang="zh-CN" altLang="en-US" sz="1050" dirty="0"/>
              <a:t>    </a:t>
            </a:r>
            <a:r>
              <a:rPr kumimoji="1" lang="en" altLang="zh-CN" sz="1050" dirty="0"/>
              <a:t>if (</a:t>
            </a:r>
            <a:r>
              <a:rPr kumimoji="1" lang="en" altLang="zh-CN" sz="1050" dirty="0" err="1"/>
              <a:t>keyW</a:t>
            </a:r>
            <a:r>
              <a:rPr kumimoji="1" lang="en" altLang="zh-CN" sz="1050" dirty="0"/>
              <a:t>) </a:t>
            </a:r>
            <a:r>
              <a:rPr kumimoji="1" lang="en" altLang="zh-CN" sz="1050" dirty="0" err="1"/>
              <a:t>dy</a:t>
            </a:r>
            <a:r>
              <a:rPr kumimoji="1" lang="en" altLang="zh-CN" sz="1050" dirty="0"/>
              <a:t> -= </a:t>
            </a:r>
            <a:r>
              <a:rPr kumimoji="1" lang="en" altLang="zh-CN" sz="1050" dirty="0" err="1"/>
              <a:t>moveSpeed</a:t>
            </a:r>
            <a:r>
              <a:rPr kumimoji="1" lang="en" altLang="zh-CN" sz="1050" dirty="0"/>
              <a:t>;</a:t>
            </a:r>
          </a:p>
          <a:p>
            <a:r>
              <a:rPr kumimoji="1" lang="en" altLang="zh-CN" sz="1050" dirty="0"/>
              <a:t>    if (</a:t>
            </a:r>
            <a:r>
              <a:rPr kumimoji="1" lang="en" altLang="zh-CN" sz="1050" dirty="0" err="1"/>
              <a:t>keyS</a:t>
            </a:r>
            <a:r>
              <a:rPr kumimoji="1" lang="en" altLang="zh-CN" sz="1050" dirty="0"/>
              <a:t>) </a:t>
            </a:r>
            <a:r>
              <a:rPr kumimoji="1" lang="en" altLang="zh-CN" sz="1050" dirty="0" err="1"/>
              <a:t>dy</a:t>
            </a:r>
            <a:r>
              <a:rPr kumimoji="1" lang="en" altLang="zh-CN" sz="1050" dirty="0"/>
              <a:t> += </a:t>
            </a:r>
            <a:r>
              <a:rPr kumimoji="1" lang="en" altLang="zh-CN" sz="1050" dirty="0" err="1"/>
              <a:t>moveSpeed</a:t>
            </a:r>
            <a:r>
              <a:rPr kumimoji="1" lang="en" altLang="zh-CN" sz="1050" dirty="0"/>
              <a:t>;</a:t>
            </a:r>
          </a:p>
          <a:p>
            <a:r>
              <a:rPr kumimoji="1" lang="en" altLang="zh-CN" sz="1050" dirty="0"/>
              <a:t>    if (</a:t>
            </a:r>
            <a:r>
              <a:rPr kumimoji="1" lang="en" altLang="zh-CN" sz="1050" dirty="0" err="1"/>
              <a:t>keyA</a:t>
            </a:r>
            <a:r>
              <a:rPr kumimoji="1" lang="en" altLang="zh-CN" sz="1050" dirty="0"/>
              <a:t>) dx -= </a:t>
            </a:r>
            <a:r>
              <a:rPr kumimoji="1" lang="en" altLang="zh-CN" sz="1050" dirty="0" err="1"/>
              <a:t>moveSpeed</a:t>
            </a:r>
            <a:r>
              <a:rPr kumimoji="1" lang="en" altLang="zh-CN" sz="1050" dirty="0"/>
              <a:t>;</a:t>
            </a:r>
          </a:p>
          <a:p>
            <a:r>
              <a:rPr kumimoji="1" lang="en" altLang="zh-CN" sz="1050" dirty="0"/>
              <a:t>    if (</a:t>
            </a:r>
            <a:r>
              <a:rPr kumimoji="1" lang="en" altLang="zh-CN" sz="1050" dirty="0" err="1"/>
              <a:t>keyD</a:t>
            </a:r>
            <a:r>
              <a:rPr kumimoji="1" lang="en" altLang="zh-CN" sz="1050" dirty="0"/>
              <a:t>) dx += </a:t>
            </a:r>
            <a:r>
              <a:rPr kumimoji="1" lang="en" altLang="zh-CN" sz="1050" dirty="0" err="1"/>
              <a:t>moveSpeed</a:t>
            </a:r>
            <a:r>
              <a:rPr kumimoji="1" lang="en" altLang="zh-CN" sz="1050" dirty="0"/>
              <a:t>;</a:t>
            </a:r>
          </a:p>
          <a:p>
            <a:r>
              <a:rPr kumimoji="1" lang="en" altLang="zh-CN" sz="1050" dirty="0"/>
              <a:t>    </a:t>
            </a:r>
          </a:p>
          <a:p>
            <a:r>
              <a:rPr kumimoji="1" lang="en" altLang="zh-CN" sz="1050" dirty="0"/>
              <a:t>    player-&gt;</a:t>
            </a:r>
            <a:r>
              <a:rPr kumimoji="1" lang="en" altLang="zh-CN" sz="1050" dirty="0" err="1"/>
              <a:t>moveBy</a:t>
            </a:r>
            <a:r>
              <a:rPr kumimoji="1" lang="en" altLang="zh-CN" sz="1050" dirty="0"/>
              <a:t>(dx, </a:t>
            </a:r>
            <a:r>
              <a:rPr kumimoji="1" lang="en" altLang="zh-CN" sz="1050" dirty="0" err="1"/>
              <a:t>dy</a:t>
            </a:r>
            <a:r>
              <a:rPr kumimoji="1" lang="en" altLang="zh-CN" sz="1050" dirty="0"/>
              <a:t>); // 60</a:t>
            </a:r>
            <a:r>
              <a:rPr kumimoji="1" lang="zh-CN" altLang="en-US" sz="1050" dirty="0"/>
              <a:t>帧平滑渲染</a:t>
            </a:r>
          </a:p>
          <a:p>
            <a:r>
              <a:rPr kumimoji="1" lang="en-US" altLang="zh-CN" sz="1050" dirty="0"/>
              <a:t>});</a:t>
            </a:r>
          </a:p>
          <a:p>
            <a:r>
              <a:rPr kumimoji="1" lang="en" altLang="zh-CN" sz="1050" dirty="0" err="1"/>
              <a:t>moveTimer</a:t>
            </a:r>
            <a:r>
              <a:rPr kumimoji="1" lang="en" altLang="zh-CN" sz="1050" dirty="0"/>
              <a:t>-&gt;start(16); // 1000ms / 60</a:t>
            </a:r>
            <a:r>
              <a:rPr kumimoji="1" lang="zh-CN" altLang="en-US" sz="1050" dirty="0"/>
              <a:t>帧 ≈ </a:t>
            </a:r>
            <a:r>
              <a:rPr kumimoji="1" lang="en-US" altLang="zh-CN" sz="1050" dirty="0"/>
              <a:t>16</a:t>
            </a:r>
            <a:r>
              <a:rPr kumimoji="1" lang="en" altLang="zh-CN" sz="1050" dirty="0" err="1"/>
              <a:t>ms</a:t>
            </a:r>
            <a:endParaRPr kumimoji="1" lang="zh-CN" altLang="en-US" sz="1050" dirty="0"/>
          </a:p>
        </p:txBody>
      </p:sp>
      <p:pic>
        <p:nvPicPr>
          <p:cNvPr id="5" name="图片 4" descr="图片包含 日历&#10;&#10;AI 生成的内容可能不正确。">
            <a:extLst>
              <a:ext uri="{FF2B5EF4-FFF2-40B4-BE49-F238E27FC236}">
                <a16:creationId xmlns:a16="http://schemas.microsoft.com/office/drawing/2014/main" id="{8891EDEA-9D01-343A-D771-45A2420D11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4375" y="1960606"/>
            <a:ext cx="4495041" cy="36472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核心挑战：多线程与异步调度</a:t>
            </a:r>
            <a:endParaRPr/>
          </a:p>
        </p:txBody>
      </p:sp>
      <p:sp>
        <p:nvSpPr>
          <p:cNvPr id="245" name="Google Shape;245;p22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2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CHALLENGE II: ASYNCHRONOUS MULTI-THREADING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1190625" y="1767780"/>
            <a:ext cx="464058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界面主渲染线程完全解放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714375" y="3145601"/>
            <a:ext cx="474345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高并发下的线程解耦 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摒弃了传统的单线程阻塞轮询，项目完全利用 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C++11 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的 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std::thread 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开启了独立的底层游戏时钟引擎（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GameClock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）。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昼夜交替、实体复活等高频运算均派发至该专属后台线程执行，彻底解放了界面主渲染线程，确保前台跑图时的 </a:t>
            </a:r>
            <a:r>
              <a:rPr lang="en-US" altLang="zh-CN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60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FPS 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满血流畅度，且通过 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std::mutex 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互斥锁完美避免了脏读。</a:t>
            </a:r>
            <a:endParaRPr dirty="0"/>
          </a:p>
        </p:txBody>
      </p:sp>
      <p:sp>
        <p:nvSpPr>
          <p:cNvPr id="249" name="Google Shape;249;p22"/>
          <p:cNvSpPr txBox="1"/>
          <p:nvPr/>
        </p:nvSpPr>
        <p:spPr>
          <a:xfrm>
            <a:off x="6934200" y="1767780"/>
            <a:ext cx="4610576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平滑的黑屏淡入淡出动画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6710362" y="3188463"/>
            <a:ext cx="474345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平滑的异步 </a:t>
            </a:r>
            <a:r>
              <a:rPr lang="en-US" sz="12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UI </a:t>
            </a:r>
            <a:r>
              <a:rPr lang="zh-CN" altLang="en-US" sz="12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过渡体验 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抛弃了传统利用线程死循环 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Sleep() 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来强行控制动画的违规操作（容易导致 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UI 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卡死），创造性地引入了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QPropertyAnimation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异步属性动画引擎。在执行例如“任务更新通知”等视觉反馈时，由底层接管 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Alpha 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透明度的平滑计算（</a:t>
            </a:r>
            <a:r>
              <a:rPr lang="en-US" altLang="zh-CN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0.0 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渐变至 </a:t>
            </a:r>
            <a:r>
              <a:rPr lang="en-US" altLang="zh-CN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1.0</a:t>
            </a:r>
            <a:r>
              <a:rPr lang="zh-CN" alt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），在不阻塞任何玩家操作的前提下优雅实现了非线性渐变特效。</a:t>
            </a:r>
            <a:endParaRPr dirty="0"/>
          </a:p>
        </p:txBody>
      </p:sp>
      <p:pic>
        <p:nvPicPr>
          <p:cNvPr id="251" name="Google Shape;251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775" y="180588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81775" y="1805880"/>
            <a:ext cx="257175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3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STL 高阶应用与 A* 寻路算法</a:t>
            </a:r>
            <a:endParaRPr/>
          </a:p>
        </p:txBody>
      </p:sp>
      <p:sp>
        <p:nvSpPr>
          <p:cNvPr id="260" name="Google Shape;260;p23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3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CHALLENGE III: STL INTEGRATION &amp; A-STAR ALGORITHM</a:t>
            </a:r>
            <a:endParaRPr/>
          </a:p>
        </p:txBody>
      </p:sp>
      <p:pic>
        <p:nvPicPr>
          <p:cNvPr id="263" name="Google Shape;263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09483" y="3276600"/>
            <a:ext cx="4811017" cy="358140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23"/>
          <p:cNvSpPr txBox="1"/>
          <p:nvPr/>
        </p:nvSpPr>
        <p:spPr>
          <a:xfrm>
            <a:off x="904874" y="1531910"/>
            <a:ext cx="5485507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std::</a:t>
            </a:r>
            <a:r>
              <a:rPr lang="en-US" sz="120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priority_queue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：</a:t>
            </a: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用于存储待拓展的 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Open List，</a:t>
            </a: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以自定义的代价评估函数（</a:t>
            </a:r>
            <a:r>
              <a:rPr lang="en-US" sz="120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CompareNodePtr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）</a:t>
            </a: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实现 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f(n) = g(n) + h(n) </a:t>
            </a: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的自动排序，从而以 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O(1) </a:t>
            </a: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的时间开销获取最优下步节点。</a:t>
            </a:r>
            <a:endParaRPr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893755" y="2602977"/>
            <a:ext cx="5485507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空间换时间的二维 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std::vector：</a:t>
            </a: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抛弃了常规的哈希表记录，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Closed List </a:t>
            </a: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直接采用二维 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vector&lt;vector&lt;bool&gt;&gt; </a:t>
            </a: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进行网格坐标的绝对映射，实现了真正无哈希冲突的 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O(1) </a:t>
            </a: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超高过滤效率。</a:t>
            </a:r>
            <a:endParaRPr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904874" y="3546234"/>
            <a:ext cx="5485507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std::</a:t>
            </a:r>
            <a:r>
              <a:rPr lang="en-US" sz="120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unique_ptr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与内存安全：在节点拓展过程中产生的大量临时 </a:t>
            </a:r>
            <a:r>
              <a:rPr lang="en-US" sz="120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AStarNode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指针，统一交由 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vector&lt;</a:t>
            </a:r>
            <a:r>
              <a:rPr lang="en-US" sz="1200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unique_ptr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&gt; </a:t>
            </a: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的对象池接管，算法结束时自动析构，实现了 </a:t>
            </a:r>
            <a:r>
              <a:rPr 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C++ </a:t>
            </a:r>
            <a:r>
              <a:rPr lang="zh-CN" altLang="en-US" sz="1200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现代标准下的零内存泄漏。</a:t>
            </a:r>
            <a:endParaRPr dirty="0"/>
          </a:p>
        </p:txBody>
      </p:sp>
      <p:pic>
        <p:nvPicPr>
          <p:cNvPr id="268" name="Google Shape;26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341340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170015"/>
            <a:ext cx="1619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770090"/>
            <a:ext cx="2190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9E2155F6-420A-6EB8-DB54-C2C3455D7BF2}"/>
              </a:ext>
            </a:extLst>
          </p:cNvPr>
          <p:cNvSpPr txBox="1"/>
          <p:nvPr/>
        </p:nvSpPr>
        <p:spPr>
          <a:xfrm>
            <a:off x="6957098" y="477424"/>
            <a:ext cx="5082269" cy="2591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A* </a:t>
            </a:r>
            <a:r>
              <a:rPr lang="zh-CN" altLang="en-US" sz="1200" dirty="0">
                <a:solidFill>
                  <a:srgbClr val="0F172A"/>
                </a:solidFill>
                <a:latin typeface="Inter"/>
              </a:rPr>
              <a:t>核心 </a:t>
            </a: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STL </a:t>
            </a:r>
            <a:r>
              <a:rPr lang="zh-CN" altLang="en-US" sz="1200" dirty="0">
                <a:solidFill>
                  <a:srgbClr val="0F172A"/>
                </a:solidFill>
                <a:latin typeface="Inter"/>
              </a:rPr>
              <a:t>容器声明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0F172A"/>
                </a:solidFill>
                <a:latin typeface="Inter"/>
              </a:rPr>
              <a:t>// 1. </a:t>
            </a:r>
            <a:r>
              <a:rPr lang="zh-CN" altLang="en-US" sz="1200" dirty="0">
                <a:solidFill>
                  <a:srgbClr val="0F172A"/>
                </a:solidFill>
                <a:latin typeface="Inter"/>
              </a:rPr>
              <a:t>优先队列 </a:t>
            </a:r>
            <a:r>
              <a:rPr lang="en-US" altLang="zh-CN" sz="1200" dirty="0">
                <a:solidFill>
                  <a:srgbClr val="0F172A"/>
                </a:solidFill>
                <a:latin typeface="Inter"/>
              </a:rPr>
              <a:t>(</a:t>
            </a: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Open List)</a:t>
            </a:r>
          </a:p>
          <a:p>
            <a:pPr>
              <a:lnSpc>
                <a:spcPct val="150000"/>
              </a:lnSpc>
            </a:pP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std::</a:t>
            </a:r>
            <a:r>
              <a:rPr lang="en" altLang="zh-CN" sz="1200" dirty="0" err="1">
                <a:solidFill>
                  <a:srgbClr val="0F172A"/>
                </a:solidFill>
                <a:latin typeface="Inter"/>
              </a:rPr>
              <a:t>priority_queue</a:t>
            </a: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&lt;</a:t>
            </a:r>
            <a:r>
              <a:rPr lang="en" altLang="zh-CN" sz="1200" dirty="0" err="1">
                <a:solidFill>
                  <a:srgbClr val="0F172A"/>
                </a:solidFill>
                <a:latin typeface="Inter"/>
              </a:rPr>
              <a:t>AStarNode</a:t>
            </a: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*, std::vector&lt;</a:t>
            </a:r>
            <a:r>
              <a:rPr lang="en" altLang="zh-CN" sz="1200" dirty="0" err="1">
                <a:solidFill>
                  <a:srgbClr val="0F172A"/>
                </a:solidFill>
                <a:latin typeface="Inter"/>
              </a:rPr>
              <a:t>AStarNode</a:t>
            </a: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*&gt;, </a:t>
            </a:r>
            <a:r>
              <a:rPr lang="en" altLang="zh-CN" sz="1200" dirty="0" err="1">
                <a:solidFill>
                  <a:srgbClr val="0F172A"/>
                </a:solidFill>
                <a:latin typeface="Inter"/>
              </a:rPr>
              <a:t>CompareNodePtr</a:t>
            </a: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&gt; </a:t>
            </a:r>
            <a:r>
              <a:rPr lang="en" altLang="zh-CN" sz="1200" dirty="0" err="1">
                <a:solidFill>
                  <a:srgbClr val="0F172A"/>
                </a:solidFill>
                <a:latin typeface="Inter"/>
              </a:rPr>
              <a:t>openList</a:t>
            </a: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// 2. </a:t>
            </a:r>
            <a:r>
              <a:rPr lang="zh-CN" altLang="en-US" sz="1200" dirty="0">
                <a:solidFill>
                  <a:srgbClr val="0F172A"/>
                </a:solidFill>
                <a:latin typeface="Inter"/>
              </a:rPr>
              <a:t>二维动态数组映射 </a:t>
            </a:r>
            <a:r>
              <a:rPr lang="en-US" altLang="zh-CN" sz="1200" dirty="0">
                <a:solidFill>
                  <a:srgbClr val="0F172A"/>
                </a:solidFill>
                <a:latin typeface="Inter"/>
              </a:rPr>
              <a:t>(</a:t>
            </a: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Close List)</a:t>
            </a:r>
          </a:p>
          <a:p>
            <a:pPr>
              <a:lnSpc>
                <a:spcPct val="150000"/>
              </a:lnSpc>
            </a:pP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std::vector&lt;std::vector&lt;bool&gt;&gt; </a:t>
            </a:r>
            <a:r>
              <a:rPr lang="en" altLang="zh-CN" sz="1200" dirty="0" err="1">
                <a:solidFill>
                  <a:srgbClr val="0F172A"/>
                </a:solidFill>
                <a:latin typeface="Inter"/>
              </a:rPr>
              <a:t>closedList</a:t>
            </a: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(</a:t>
            </a:r>
            <a:r>
              <a:rPr lang="en" altLang="zh-CN" sz="1200" dirty="0" err="1">
                <a:solidFill>
                  <a:srgbClr val="0F172A"/>
                </a:solidFill>
                <a:latin typeface="Inter"/>
              </a:rPr>
              <a:t>mapHeight</a:t>
            </a: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, std::vector&lt;bool&gt;(</a:t>
            </a:r>
            <a:r>
              <a:rPr lang="en" altLang="zh-CN" sz="1200" dirty="0" err="1">
                <a:solidFill>
                  <a:srgbClr val="0F172A"/>
                </a:solidFill>
                <a:latin typeface="Inter"/>
              </a:rPr>
              <a:t>mapWidth</a:t>
            </a: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, false));</a:t>
            </a:r>
          </a:p>
          <a:p>
            <a:pPr>
              <a:lnSpc>
                <a:spcPct val="150000"/>
              </a:lnSpc>
            </a:pP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// 3. </a:t>
            </a:r>
            <a:r>
              <a:rPr lang="zh-CN" altLang="en-US" sz="1200" dirty="0">
                <a:solidFill>
                  <a:srgbClr val="0F172A"/>
                </a:solidFill>
                <a:latin typeface="Inter"/>
              </a:rPr>
              <a:t>智能指针对象池 </a:t>
            </a:r>
            <a:r>
              <a:rPr lang="en-US" altLang="zh-CN" sz="1200" dirty="0">
                <a:solidFill>
                  <a:srgbClr val="0F172A"/>
                </a:solidFill>
                <a:latin typeface="Inter"/>
              </a:rPr>
              <a:t>(</a:t>
            </a:r>
            <a:r>
              <a:rPr lang="zh-CN" altLang="en-US" sz="1200" dirty="0">
                <a:solidFill>
                  <a:srgbClr val="0F172A"/>
                </a:solidFill>
                <a:latin typeface="Inter"/>
              </a:rPr>
              <a:t>杜绝内存泄漏</a:t>
            </a:r>
            <a:r>
              <a:rPr lang="en-US" altLang="zh-CN" sz="1200" dirty="0">
                <a:solidFill>
                  <a:srgbClr val="0F172A"/>
                </a:solidFill>
                <a:latin typeface="Inter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std::vector&lt;std::</a:t>
            </a:r>
            <a:r>
              <a:rPr lang="en" altLang="zh-CN" sz="1200" dirty="0" err="1">
                <a:solidFill>
                  <a:srgbClr val="0F172A"/>
                </a:solidFill>
                <a:latin typeface="Inter"/>
              </a:rPr>
              <a:t>unique_ptr</a:t>
            </a: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&lt;</a:t>
            </a:r>
            <a:r>
              <a:rPr lang="en" altLang="zh-CN" sz="1200" dirty="0" err="1">
                <a:solidFill>
                  <a:srgbClr val="0F172A"/>
                </a:solidFill>
                <a:latin typeface="Inter"/>
              </a:rPr>
              <a:t>AStarNode</a:t>
            </a:r>
            <a:r>
              <a:rPr lang="en" altLang="zh-CN" sz="1200" dirty="0">
                <a:solidFill>
                  <a:srgbClr val="0F172A"/>
                </a:solidFill>
                <a:latin typeface="Inter"/>
              </a:rPr>
              <a:t>&gt;&gt; </a:t>
            </a:r>
            <a:r>
              <a:rPr lang="en" altLang="zh-CN" sz="1200" dirty="0" err="1">
                <a:solidFill>
                  <a:srgbClr val="0F172A"/>
                </a:solidFill>
                <a:latin typeface="Inter"/>
              </a:rPr>
              <a:t>nodePool</a:t>
            </a:r>
            <a:r>
              <a:rPr kumimoji="1" lang="en" altLang="zh-CN" dirty="0"/>
              <a:t>;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72505"/>
            <a:ext cx="11049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4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高效的模块化团队协作</a:t>
            </a:r>
            <a:endParaRPr/>
          </a:p>
        </p:txBody>
      </p:sp>
      <p:sp>
        <p:nvSpPr>
          <p:cNvPr id="278" name="Google Shape;278;p24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4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TEAM ROLES AND COLLABORATIVE WORKFLOW</a:t>
            </a:r>
            <a:endParaRPr/>
          </a:p>
        </p:txBody>
      </p:sp>
      <p:graphicFrame>
        <p:nvGraphicFramePr>
          <p:cNvPr id="280" name="Google Shape;280;p24"/>
          <p:cNvGraphicFramePr/>
          <p:nvPr/>
        </p:nvGraphicFramePr>
        <p:xfrm>
          <a:off x="581025" y="1482030"/>
          <a:ext cx="11029950" cy="3362375"/>
        </p:xfrm>
        <a:graphic>
          <a:graphicData uri="http://schemas.openxmlformats.org/drawingml/2006/table">
            <a:tbl>
              <a:tblPr firstRow="1" bandRow="1">
                <a:noFill/>
                <a:tableStyleId>{4579CC66-B2EF-4C60-BFF7-A1B67CE13D10}</a:tableStyleId>
              </a:tblPr>
              <a:tblGrid>
                <a:gridCol w="1654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5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06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40A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姓名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40A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职责分工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40A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核心贡献与产出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40A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状态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陆辰睿</a:t>
                      </a: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(组长)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架构设计 / 业务逻辑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编写全部基础头文件、定义面向对象基类、打通核心逻辑与数据流。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已完成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陈律举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图形化重构 / UI 交付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主导接入 Qt6 框架、设计 QGraphicsView 跑图逻辑、完成键鼠事件拦截与无卡顿重构。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已完成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王铭钊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文档编写 / 功能测试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整理全阶段需求与开发白皮书，进行多平台边界测试，建立覆盖核心算法的测试用例集。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已完成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游云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美术资产 / 地图与剧情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完成 2D JSON 格式地图的手工绘制，编写并注入全部校园剧情任务与黑市剧本事件。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已完成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1" name="Google Shape;281;p24"/>
          <p:cNvSpPr/>
          <p:nvPr/>
        </p:nvSpPr>
        <p:spPr>
          <a:xfrm>
            <a:off x="581025" y="2024955"/>
            <a:ext cx="1654373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4"/>
          <p:cNvSpPr/>
          <p:nvPr/>
        </p:nvSpPr>
        <p:spPr>
          <a:xfrm>
            <a:off x="2235398" y="2024955"/>
            <a:ext cx="220593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4"/>
          <p:cNvSpPr/>
          <p:nvPr/>
        </p:nvSpPr>
        <p:spPr>
          <a:xfrm>
            <a:off x="4441328" y="2024955"/>
            <a:ext cx="496341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4"/>
          <p:cNvSpPr/>
          <p:nvPr/>
        </p:nvSpPr>
        <p:spPr>
          <a:xfrm>
            <a:off x="9404746" y="2024955"/>
            <a:ext cx="2206228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4"/>
          <p:cNvSpPr/>
          <p:nvPr/>
        </p:nvSpPr>
        <p:spPr>
          <a:xfrm>
            <a:off x="581025" y="2639317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4"/>
          <p:cNvSpPr/>
          <p:nvPr/>
        </p:nvSpPr>
        <p:spPr>
          <a:xfrm>
            <a:off x="2235398" y="2639317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4"/>
          <p:cNvSpPr/>
          <p:nvPr/>
        </p:nvSpPr>
        <p:spPr>
          <a:xfrm>
            <a:off x="4441328" y="2639317"/>
            <a:ext cx="49634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4"/>
          <p:cNvSpPr/>
          <p:nvPr/>
        </p:nvSpPr>
        <p:spPr>
          <a:xfrm>
            <a:off x="9404746" y="2639317"/>
            <a:ext cx="22062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4"/>
          <p:cNvSpPr/>
          <p:nvPr/>
        </p:nvSpPr>
        <p:spPr>
          <a:xfrm>
            <a:off x="581025" y="3372742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4"/>
          <p:cNvSpPr/>
          <p:nvPr/>
        </p:nvSpPr>
        <p:spPr>
          <a:xfrm>
            <a:off x="2235398" y="3372742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4441328" y="3372742"/>
            <a:ext cx="49634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4"/>
          <p:cNvSpPr/>
          <p:nvPr/>
        </p:nvSpPr>
        <p:spPr>
          <a:xfrm>
            <a:off x="9404746" y="3372742"/>
            <a:ext cx="22062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581025" y="4106167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4"/>
          <p:cNvSpPr/>
          <p:nvPr/>
        </p:nvSpPr>
        <p:spPr>
          <a:xfrm>
            <a:off x="2235398" y="4106167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4441328" y="4106167"/>
            <a:ext cx="49634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4"/>
          <p:cNvSpPr/>
          <p:nvPr/>
        </p:nvSpPr>
        <p:spPr>
          <a:xfrm>
            <a:off x="9404746" y="4106167"/>
            <a:ext cx="22062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633346" y="2224980"/>
            <a:ext cx="5619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33346" y="2891730"/>
            <a:ext cx="5619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33346" y="3625155"/>
            <a:ext cx="5619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33346" y="4358580"/>
            <a:ext cx="561975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" name="Google Shape;305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5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总结与未来展望</a:t>
            </a:r>
            <a:endParaRPr/>
          </a:p>
        </p:txBody>
      </p:sp>
      <p:sp>
        <p:nvSpPr>
          <p:cNvPr id="309" name="Google Shape;309;p25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5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rPr>
              <a:t>CONCLUSIONS &amp; PROJECT ROADMAP</a:t>
            </a:r>
            <a:endParaRPr/>
          </a:p>
        </p:txBody>
      </p:sp>
      <p:sp>
        <p:nvSpPr>
          <p:cNvPr id="311" name="Google Shape;311;p25"/>
          <p:cNvSpPr txBox="1"/>
          <p:nvPr/>
        </p:nvSpPr>
        <p:spPr>
          <a:xfrm>
            <a:off x="1219200" y="1767780"/>
            <a:ext cx="4610576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课设攻坚总结</a:t>
            </a:r>
            <a:endParaRPr/>
          </a:p>
        </p:txBody>
      </p:sp>
      <p:sp>
        <p:nvSpPr>
          <p:cNvPr id="312" name="Google Shape;312;p25"/>
          <p:cNvSpPr txBox="1"/>
          <p:nvPr/>
        </p:nvSpPr>
        <p:spPr>
          <a:xfrm>
            <a:off x="866775" y="3232993"/>
            <a:ext cx="4743450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项目最终顺利交付。通过精益求精的开发实践，本小组成功攻克了</a:t>
            </a:r>
            <a:r>
              <a:rPr lang="en-US" sz="1200" b="1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“图形化高效重构、多线程异步流控、A</a:t>
            </a:r>
            <a:r>
              <a:rPr lang="en-US" sz="12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*</a:t>
            </a:r>
            <a:r>
              <a:rPr lang="en-US" sz="1200" b="1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寻路高阶STL应用”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三大高壁垒课设难关，形成了一套具备极佳可重用性、可读性与模块化的高内聚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2D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校园游戏底层代码库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313" name="Google Shape;313;p25"/>
          <p:cNvSpPr txBox="1"/>
          <p:nvPr/>
        </p:nvSpPr>
        <p:spPr>
          <a:xfrm>
            <a:off x="6905625" y="1767780"/>
            <a:ext cx="464058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rPr>
              <a:t>下一阶段优化蓝图</a:t>
            </a:r>
            <a:endParaRPr/>
          </a:p>
        </p:txBody>
      </p:sp>
      <p:sp>
        <p:nvSpPr>
          <p:cNvPr id="314" name="Google Shape;314;p25"/>
          <p:cNvSpPr txBox="1"/>
          <p:nvPr/>
        </p:nvSpPr>
        <p:spPr>
          <a:xfrm>
            <a:off x="6581775" y="3232992"/>
            <a:ext cx="4743450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1. </a:t>
            </a:r>
            <a:r>
              <a:rPr lang="en-US" sz="1200" b="1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声音引擎：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引入多路音频管理器，实现不同场景背景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BGM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无缝转场及玩家攻击的音效联动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2. AI </a:t>
            </a:r>
            <a:r>
              <a:rPr lang="en-US" sz="1200" b="1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与动态剧情：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大幅扩展具有行为树属性的智能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NPC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交互网络，设计更加复杂的校园多线网状支线任务与多元化结局走向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pic>
        <p:nvPicPr>
          <p:cNvPr id="315" name="Google Shape;315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775" y="1805880"/>
            <a:ext cx="2571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2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81775" y="1805880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321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322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24500" y="2028825"/>
            <a:ext cx="1143000" cy="38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26"/>
          <p:cNvSpPr txBox="1"/>
          <p:nvPr/>
        </p:nvSpPr>
        <p:spPr>
          <a:xfrm>
            <a:off x="3215639" y="476250"/>
            <a:ext cx="5760720" cy="828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E40AF"/>
                </a:solidFill>
                <a:latin typeface="Comfortaa"/>
                <a:ea typeface="Comfortaa"/>
                <a:cs typeface="Comfortaa"/>
                <a:sym typeface="Comfortaa"/>
              </a:rPr>
              <a:t>感谢聆听，请多指教</a:t>
            </a:r>
            <a:endParaRPr/>
          </a:p>
        </p:txBody>
      </p:sp>
      <p:sp>
        <p:nvSpPr>
          <p:cNvPr id="324" name="Google Shape;324;p26"/>
          <p:cNvSpPr txBox="1"/>
          <p:nvPr/>
        </p:nvSpPr>
        <p:spPr>
          <a:xfrm>
            <a:off x="4986337" y="1495425"/>
            <a:ext cx="221932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0891B2"/>
                </a:solidFill>
                <a:latin typeface="Inter Medium"/>
                <a:ea typeface="Inter Medium"/>
                <a:cs typeface="Inter Medium"/>
                <a:sym typeface="Inter Medium"/>
              </a:rPr>
              <a:t>Q &amp; A T H A N K Y O U</a:t>
            </a:r>
            <a:endParaRPr/>
          </a:p>
        </p:txBody>
      </p:sp>
      <p:sp>
        <p:nvSpPr>
          <p:cNvPr id="325" name="Google Shape;325;p26"/>
          <p:cNvSpPr txBox="1"/>
          <p:nvPr/>
        </p:nvSpPr>
        <p:spPr>
          <a:xfrm>
            <a:off x="3438525" y="2495550"/>
            <a:ext cx="53149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衷心感谢各位评委老师百忙之中的聆听与蒋敏老师的精心指导！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rPr>
              <a:t> 诚挚欢迎各位老师对我们项目不完善之处提出批评、指正与宝贵提问。</a:t>
            </a:r>
            <a:endParaRPr/>
          </a:p>
        </p:txBody>
      </p:sp>
      <p:sp>
        <p:nvSpPr>
          <p:cNvPr id="326" name="Google Shape;326;p26"/>
          <p:cNvSpPr txBox="1"/>
          <p:nvPr/>
        </p:nvSpPr>
        <p:spPr>
          <a:xfrm>
            <a:off x="4314825" y="3520380"/>
            <a:ext cx="35623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《校园RPG：大学生存物语》项目开发组 2026年7月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1684</Words>
  <Application>Microsoft Macintosh PowerPoint</Application>
  <PresentationFormat>宽屏</PresentationFormat>
  <Paragraphs>148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Inter</vt:lpstr>
      <vt:lpstr>Inter Medium</vt:lpstr>
      <vt:lpstr>JetBrains Mono Medium</vt:lpstr>
      <vt:lpstr>Arial</vt:lpstr>
      <vt:lpstr>Comfortaa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LuQie</cp:lastModifiedBy>
  <cp:revision>17</cp:revision>
  <dcterms:modified xsi:type="dcterms:W3CDTF">2026-07-14T01:49:15Z</dcterms:modified>
</cp:coreProperties>
</file>