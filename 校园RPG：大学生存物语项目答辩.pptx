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notesSlides/notesSlide6.xml" ContentType="application/vnd.openxmlformats-officedocument.presentationml.notesSlide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embeddedFontLst>
    <p:embeddedFont>
      <p:font typeface="黑体" panose="02010609060101010101" pitchFamily="49" charset="-122"/>
      <p:regular r:id="rId17"/>
    </p:embeddedFont>
    <p:embeddedFont>
      <p:font typeface="Comfortaa"/>
      <p:regular r:id="rId18"/>
      <p:bold r:id="rId19"/>
    </p:embeddedFont>
    <p:embeddedFont>
      <p:font typeface="Inter" panose="02000503000000020004"/>
      <p:regular r:id="rId20"/>
      <p:bold r:id="rId21"/>
      <p:italic r:id="rId22"/>
      <p:boldItalic r:id="rId23"/>
    </p:embeddedFont>
    <p:embeddedFont>
      <p:font typeface="Inter Medium" panose="02000503000000020004" pitchFamily="2" charset="0"/>
      <p:regular r:id="rId24"/>
      <p:bold r:id="rId25"/>
      <p:italic r:id="rId26"/>
      <p:boldItalic r:id="rId27"/>
    </p:embeddedFont>
    <p:embeddedFont>
      <p:font typeface="JetBrains Mono Medium" panose="02000009000000000000" pitchFamily="49" charset="0"/>
      <p:regular r:id="rId28"/>
      <p:bold r:id="rId29"/>
      <p:italic r:id="rId30"/>
      <p:boldItalic r:id="rId3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000000"/>
          </p15:clr>
        </p15:guide>
        <p15:guide id="2" pos="2886" userDrawn="1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4579CC66-B2EF-4C60-BFF7-A1B67CE13D10}" styleName="Table_0">
    <a:wholeTbl>
      <a:tcTxStyle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Style>
        <a:tcBdr/>
        <a:fill>
          <a:solidFill>
            <a:srgbClr val="CFD7E7"/>
          </a:solidFill>
        </a:fill>
      </a:tcStyle>
    </a:band1H>
    <a:band2H>
      <a:tcStyle>
        <a:tcBdr/>
      </a:tcStyle>
    </a:band2H>
    <a:band1V>
      <a:tcStyle>
        <a:tcBdr/>
        <a:fill>
          <a:solidFill>
            <a:srgbClr val="CFD7E7"/>
          </a:solidFill>
        </a:fill>
      </a:tcStyle>
    </a:band1V>
    <a:band2V>
      <a:tcStyle>
        <a:tcBdr/>
      </a:tcStyle>
    </a:band2V>
    <a:lastCol>
      <a:tcTxStyle b="on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489"/>
    <p:restoredTop sz="94653"/>
  </p:normalViewPr>
  <p:slideViewPr>
    <p:cSldViewPr snapToGrid="0" showGuides="1">
      <p:cViewPr varScale="1">
        <p:scale>
          <a:sx n="118" d="100"/>
          <a:sy n="118" d="100"/>
        </p:scale>
        <p:origin x="496" y="200"/>
      </p:cViewPr>
      <p:guideLst>
        <p:guide orient="horz" pos="2160"/>
        <p:guide pos="2886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26" Type="http://schemas.openxmlformats.org/officeDocument/2006/relationships/font" Target="fonts/font10.fntdata"/><Relationship Id="rId3" Type="http://schemas.openxmlformats.org/officeDocument/2006/relationships/slide" Target="slides/slide2.xml"/><Relationship Id="rId21" Type="http://schemas.openxmlformats.org/officeDocument/2006/relationships/font" Target="fonts/font5.fntdata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5" Type="http://schemas.openxmlformats.org/officeDocument/2006/relationships/font" Target="fonts/font9.fntdata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font" Target="fonts/font4.fntdata"/><Relationship Id="rId29" Type="http://schemas.openxmlformats.org/officeDocument/2006/relationships/font" Target="fonts/font1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8.fntdata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7.fntdata"/><Relationship Id="rId28" Type="http://schemas.openxmlformats.org/officeDocument/2006/relationships/font" Target="fonts/font12.fntdata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31" Type="http://schemas.openxmlformats.org/officeDocument/2006/relationships/font" Target="fonts/font1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6.fntdata"/><Relationship Id="rId27" Type="http://schemas.openxmlformats.org/officeDocument/2006/relationships/font" Target="fonts/font11.fntdata"/><Relationship Id="rId30" Type="http://schemas.openxmlformats.org/officeDocument/2006/relationships/font" Target="fonts/font14.fntdata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" name="Google Shape;110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7" name="Google Shape;127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" name="Google Shape;151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100" b="0" i="0" u="none" strike="noStrike" cap="none" dirty="0">
                <a:solidFill>
                  <a:srgbClr val="000000"/>
                </a:solidFill>
                <a:effectLst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当玩家正在白天的普通小卖部里买东西时，如果后台的 </a:t>
            </a:r>
            <a:r>
              <a:rPr lang="en-GB" altLang="zh-CN" sz="1100" b="0" i="0" u="none" strike="noStrike" cap="none" dirty="0" err="1">
                <a:solidFill>
                  <a:srgbClr val="000000"/>
                </a:solidFill>
                <a:effectLst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GameClock</a:t>
            </a:r>
            <a:r>
              <a:rPr lang="en-GB" altLang="zh-CN" sz="1100" b="0" i="0" u="none" strike="noStrike" cap="none" dirty="0">
                <a:solidFill>
                  <a:srgbClr val="000000"/>
                </a:solidFill>
                <a:effectLst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 </a:t>
            </a:r>
            <a:r>
              <a:rPr lang="zh-CN" altLang="en-US" sz="1100" b="0" i="0" u="none" strike="noStrike" cap="none" dirty="0">
                <a:solidFill>
                  <a:srgbClr val="000000"/>
                </a:solidFill>
                <a:effectLst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时钟线程刚好把时间推进到了夜晚，此时小卖部逻辑必须关闭。引擎会自动触发“强制驱逐”，把玩家强制踢出商店界面（退回到地图自由探索状态）。</a:t>
            </a:r>
            <a:endParaRPr dirty="0"/>
          </a:p>
        </p:txBody>
      </p:sp>
      <p:sp>
        <p:nvSpPr>
          <p:cNvPr id="166" name="Google Shape;166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1" name="Google Shape;191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7" name="Google Shape;207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3" name="Google Shape;223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9" name="Google Shape;239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5" name="Google Shape;255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3" name="Google Shape;303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9" name="Google Shape;319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 panose="020F0502020204030204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 panose="020F0502020204030204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 panose="020F0502020204030204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 panose="020F0502020204030204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 panose="020F0502020204030204"/>
              <a:buNone/>
              <a:defRPr sz="4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 panose="020B0604020202020204"/>
              <a:buChar char="•"/>
              <a:defRPr sz="3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Char char="–"/>
              <a:defRPr sz="2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20204"/>
              <a:buChar char="•"/>
              <a:defRPr sz="2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–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»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•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•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•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•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tags" Target="../tags/tag8.xml"/><Relationship Id="rId13" Type="http://schemas.openxmlformats.org/officeDocument/2006/relationships/image" Target="../media/image4.png"/><Relationship Id="rId3" Type="http://schemas.openxmlformats.org/officeDocument/2006/relationships/tags" Target="../tags/tag3.xml"/><Relationship Id="rId7" Type="http://schemas.openxmlformats.org/officeDocument/2006/relationships/tags" Target="../tags/tag7.xml"/><Relationship Id="rId12" Type="http://schemas.openxmlformats.org/officeDocument/2006/relationships/image" Target="../media/image3.png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6" Type="http://schemas.openxmlformats.org/officeDocument/2006/relationships/tags" Target="../tags/tag6.xml"/><Relationship Id="rId11" Type="http://schemas.openxmlformats.org/officeDocument/2006/relationships/image" Target="../media/image2.png"/><Relationship Id="rId5" Type="http://schemas.openxmlformats.org/officeDocument/2006/relationships/tags" Target="../tags/tag5.xml"/><Relationship Id="rId10" Type="http://schemas.openxmlformats.org/officeDocument/2006/relationships/notesSlide" Target="../notesSlides/notesSlide2.xml"/><Relationship Id="rId4" Type="http://schemas.openxmlformats.org/officeDocument/2006/relationships/tags" Target="../tags/tag4.xml"/><Relationship Id="rId9" Type="http://schemas.openxmlformats.org/officeDocument/2006/relationships/slideLayout" Target="../slideLayouts/slideLayout1.xml"/><Relationship Id="rId1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tags" Target="../tags/tag16.xml"/><Relationship Id="rId13" Type="http://schemas.openxmlformats.org/officeDocument/2006/relationships/notesSlide" Target="../notesSlides/notesSlide4.xml"/><Relationship Id="rId18" Type="http://schemas.openxmlformats.org/officeDocument/2006/relationships/image" Target="../media/image10.png"/><Relationship Id="rId3" Type="http://schemas.openxmlformats.org/officeDocument/2006/relationships/tags" Target="../tags/tag11.xml"/><Relationship Id="rId7" Type="http://schemas.openxmlformats.org/officeDocument/2006/relationships/tags" Target="../tags/tag15.xml"/><Relationship Id="rId12" Type="http://schemas.openxmlformats.org/officeDocument/2006/relationships/slideLayout" Target="../slideLayouts/slideLayout1.xml"/><Relationship Id="rId17" Type="http://schemas.openxmlformats.org/officeDocument/2006/relationships/image" Target="../media/image9.png"/><Relationship Id="rId2" Type="http://schemas.openxmlformats.org/officeDocument/2006/relationships/tags" Target="../tags/tag10.xml"/><Relationship Id="rId16" Type="http://schemas.openxmlformats.org/officeDocument/2006/relationships/image" Target="../media/image8.png"/><Relationship Id="rId1" Type="http://schemas.openxmlformats.org/officeDocument/2006/relationships/tags" Target="../tags/tag9.xml"/><Relationship Id="rId6" Type="http://schemas.openxmlformats.org/officeDocument/2006/relationships/tags" Target="../tags/tag14.xml"/><Relationship Id="rId11" Type="http://schemas.openxmlformats.org/officeDocument/2006/relationships/tags" Target="../tags/tag19.xml"/><Relationship Id="rId5" Type="http://schemas.openxmlformats.org/officeDocument/2006/relationships/tags" Target="../tags/tag13.xml"/><Relationship Id="rId15" Type="http://schemas.openxmlformats.org/officeDocument/2006/relationships/image" Target="../media/image7.png"/><Relationship Id="rId10" Type="http://schemas.openxmlformats.org/officeDocument/2006/relationships/tags" Target="../tags/tag18.xml"/><Relationship Id="rId19" Type="http://schemas.openxmlformats.org/officeDocument/2006/relationships/image" Target="../media/image11.png"/><Relationship Id="rId4" Type="http://schemas.openxmlformats.org/officeDocument/2006/relationships/tags" Target="../tags/tag12.xml"/><Relationship Id="rId9" Type="http://schemas.openxmlformats.org/officeDocument/2006/relationships/tags" Target="../tags/tag17.xml"/><Relationship Id="rId1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tags" Target="../tags/tag27.xml"/><Relationship Id="rId13" Type="http://schemas.openxmlformats.org/officeDocument/2006/relationships/slideLayout" Target="../slideLayouts/slideLayout1.xml"/><Relationship Id="rId18" Type="http://schemas.openxmlformats.org/officeDocument/2006/relationships/image" Target="../media/image16.png"/><Relationship Id="rId3" Type="http://schemas.openxmlformats.org/officeDocument/2006/relationships/tags" Target="../tags/tag22.xml"/><Relationship Id="rId21" Type="http://schemas.openxmlformats.org/officeDocument/2006/relationships/image" Target="../media/image19.png"/><Relationship Id="rId7" Type="http://schemas.openxmlformats.org/officeDocument/2006/relationships/tags" Target="../tags/tag26.xml"/><Relationship Id="rId12" Type="http://schemas.openxmlformats.org/officeDocument/2006/relationships/tags" Target="../tags/tag31.xml"/><Relationship Id="rId17" Type="http://schemas.openxmlformats.org/officeDocument/2006/relationships/image" Target="../media/image15.png"/><Relationship Id="rId2" Type="http://schemas.openxmlformats.org/officeDocument/2006/relationships/tags" Target="../tags/tag21.xml"/><Relationship Id="rId16" Type="http://schemas.openxmlformats.org/officeDocument/2006/relationships/image" Target="../media/image14.png"/><Relationship Id="rId20" Type="http://schemas.openxmlformats.org/officeDocument/2006/relationships/image" Target="../media/image18.png"/><Relationship Id="rId1" Type="http://schemas.openxmlformats.org/officeDocument/2006/relationships/tags" Target="../tags/tag20.xml"/><Relationship Id="rId6" Type="http://schemas.openxmlformats.org/officeDocument/2006/relationships/tags" Target="../tags/tag25.xml"/><Relationship Id="rId11" Type="http://schemas.openxmlformats.org/officeDocument/2006/relationships/tags" Target="../tags/tag30.xml"/><Relationship Id="rId5" Type="http://schemas.openxmlformats.org/officeDocument/2006/relationships/tags" Target="../tags/tag24.xml"/><Relationship Id="rId15" Type="http://schemas.openxmlformats.org/officeDocument/2006/relationships/image" Target="../media/image13.png"/><Relationship Id="rId10" Type="http://schemas.openxmlformats.org/officeDocument/2006/relationships/tags" Target="../tags/tag29.xml"/><Relationship Id="rId19" Type="http://schemas.openxmlformats.org/officeDocument/2006/relationships/image" Target="../media/image17.png"/><Relationship Id="rId4" Type="http://schemas.openxmlformats.org/officeDocument/2006/relationships/tags" Target="../tags/tag23.xml"/><Relationship Id="rId9" Type="http://schemas.openxmlformats.org/officeDocument/2006/relationships/tags" Target="../tags/tag28.xml"/><Relationship Id="rId1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tags" Target="../tags/tag39.xml"/><Relationship Id="rId13" Type="http://schemas.openxmlformats.org/officeDocument/2006/relationships/image" Target="../media/image20.png"/><Relationship Id="rId18" Type="http://schemas.openxmlformats.org/officeDocument/2006/relationships/image" Target="../media/image23.png"/><Relationship Id="rId3" Type="http://schemas.openxmlformats.org/officeDocument/2006/relationships/tags" Target="../tags/tag34.xml"/><Relationship Id="rId21" Type="http://schemas.openxmlformats.org/officeDocument/2006/relationships/image" Target="../media/image26.svg"/><Relationship Id="rId7" Type="http://schemas.openxmlformats.org/officeDocument/2006/relationships/tags" Target="../tags/tag38.xml"/><Relationship Id="rId12" Type="http://schemas.openxmlformats.org/officeDocument/2006/relationships/notesSlide" Target="../notesSlides/notesSlide7.xml"/><Relationship Id="rId17" Type="http://schemas.openxmlformats.org/officeDocument/2006/relationships/image" Target="../media/image22.png"/><Relationship Id="rId2" Type="http://schemas.openxmlformats.org/officeDocument/2006/relationships/tags" Target="../tags/tag33.xml"/><Relationship Id="rId16" Type="http://schemas.openxmlformats.org/officeDocument/2006/relationships/image" Target="../media/image21.png"/><Relationship Id="rId20" Type="http://schemas.openxmlformats.org/officeDocument/2006/relationships/image" Target="../media/image25.png"/><Relationship Id="rId1" Type="http://schemas.openxmlformats.org/officeDocument/2006/relationships/tags" Target="../tags/tag32.xml"/><Relationship Id="rId6" Type="http://schemas.openxmlformats.org/officeDocument/2006/relationships/tags" Target="../tags/tag37.xml"/><Relationship Id="rId11" Type="http://schemas.openxmlformats.org/officeDocument/2006/relationships/slideLayout" Target="../slideLayouts/slideLayout1.xml"/><Relationship Id="rId5" Type="http://schemas.openxmlformats.org/officeDocument/2006/relationships/tags" Target="../tags/tag36.xml"/><Relationship Id="rId15" Type="http://schemas.openxmlformats.org/officeDocument/2006/relationships/image" Target="../media/image3.png"/><Relationship Id="rId10" Type="http://schemas.openxmlformats.org/officeDocument/2006/relationships/tags" Target="../tags/tag41.xml"/><Relationship Id="rId19" Type="http://schemas.openxmlformats.org/officeDocument/2006/relationships/image" Target="../media/image24.svg"/><Relationship Id="rId4" Type="http://schemas.openxmlformats.org/officeDocument/2006/relationships/tags" Target="../tags/tag35.xml"/><Relationship Id="rId9" Type="http://schemas.openxmlformats.org/officeDocument/2006/relationships/tags" Target="../tags/tag40.xml"/><Relationship Id="rId1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20.png"/><Relationship Id="rId7" Type="http://schemas.openxmlformats.org/officeDocument/2006/relationships/image" Target="../media/image3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tags" Target="../tags/tag49.xml"/><Relationship Id="rId13" Type="http://schemas.openxmlformats.org/officeDocument/2006/relationships/image" Target="../media/image33.png"/><Relationship Id="rId3" Type="http://schemas.openxmlformats.org/officeDocument/2006/relationships/tags" Target="../tags/tag44.xml"/><Relationship Id="rId7" Type="http://schemas.openxmlformats.org/officeDocument/2006/relationships/tags" Target="../tags/tag48.xml"/><Relationship Id="rId12" Type="http://schemas.openxmlformats.org/officeDocument/2006/relationships/image" Target="../media/image32.png"/><Relationship Id="rId2" Type="http://schemas.openxmlformats.org/officeDocument/2006/relationships/tags" Target="../tags/tag43.xml"/><Relationship Id="rId1" Type="http://schemas.openxmlformats.org/officeDocument/2006/relationships/tags" Target="../tags/tag42.xml"/><Relationship Id="rId6" Type="http://schemas.openxmlformats.org/officeDocument/2006/relationships/tags" Target="../tags/tag47.xml"/><Relationship Id="rId11" Type="http://schemas.openxmlformats.org/officeDocument/2006/relationships/image" Target="../media/image20.png"/><Relationship Id="rId5" Type="http://schemas.openxmlformats.org/officeDocument/2006/relationships/tags" Target="../tags/tag46.xml"/><Relationship Id="rId15" Type="http://schemas.openxmlformats.org/officeDocument/2006/relationships/image" Target="../media/image35.png"/><Relationship Id="rId10" Type="http://schemas.openxmlformats.org/officeDocument/2006/relationships/notesSlide" Target="../notesSlides/notesSlide10.xml"/><Relationship Id="rId4" Type="http://schemas.openxmlformats.org/officeDocument/2006/relationships/tags" Target="../tags/tag45.xml"/><Relationship Id="rId9" Type="http://schemas.openxmlformats.org/officeDocument/2006/relationships/slideLayout" Target="../slideLayouts/slideLayout1.xml"/><Relationship Id="rId14" Type="http://schemas.openxmlformats.org/officeDocument/2006/relationships/image" Target="../media/image3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7" Type="http://schemas.openxmlformats.org/officeDocument/2006/relationships/image" Target="../media/image4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Google Shape;85;p13" descr="image.png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410845" y="3984625"/>
            <a:ext cx="11370945" cy="835025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3"/>
          <p:cNvSpPr txBox="1"/>
          <p:nvPr/>
        </p:nvSpPr>
        <p:spPr>
          <a:xfrm>
            <a:off x="2086292" y="1403350"/>
            <a:ext cx="8201025" cy="828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u="none" strike="noStrike" cap="none" dirty="0">
                <a:solidFill>
                  <a:srgbClr val="1E40AF"/>
                </a:solidFill>
                <a:latin typeface="Comfortaa"/>
                <a:ea typeface="Comfortaa"/>
                <a:cs typeface="Comfortaa"/>
                <a:sym typeface="Comfortaa"/>
              </a:rPr>
              <a:t>《</a:t>
            </a:r>
            <a:r>
              <a:rPr lang="en-US" sz="4800" b="1" i="0" u="none" strike="noStrike" cap="none" dirty="0" err="1">
                <a:solidFill>
                  <a:srgbClr val="1E40AF"/>
                </a:solidFill>
                <a:latin typeface="Comfortaa"/>
                <a:ea typeface="Comfortaa"/>
                <a:cs typeface="Comfortaa"/>
                <a:sym typeface="Comfortaa"/>
              </a:rPr>
              <a:t>校园RPG：</a:t>
            </a:r>
            <a:r>
              <a:rPr lang="en-US" sz="4800" b="1" i="0" u="none" strike="noStrike" cap="none" dirty="0" err="1">
                <a:solidFill>
                  <a:srgbClr val="06B6D4"/>
                </a:solidFill>
                <a:latin typeface="Comfortaa"/>
                <a:ea typeface="Comfortaa"/>
                <a:cs typeface="Comfortaa"/>
                <a:sym typeface="Comfortaa"/>
              </a:rPr>
              <a:t>大学生存物语</a:t>
            </a:r>
            <a:r>
              <a:rPr lang="en-US" sz="4800" b="1" i="0" u="none" strike="noStrike" cap="none" dirty="0">
                <a:solidFill>
                  <a:srgbClr val="1E40AF"/>
                </a:solidFill>
                <a:latin typeface="Comfortaa"/>
                <a:ea typeface="Comfortaa"/>
                <a:cs typeface="Comfortaa"/>
                <a:sym typeface="Comfortaa"/>
              </a:rPr>
              <a:t>》</a:t>
            </a:r>
            <a:endParaRPr dirty="0"/>
          </a:p>
        </p:txBody>
      </p:sp>
      <p:sp>
        <p:nvSpPr>
          <p:cNvPr id="88" name="Google Shape;88;p13"/>
          <p:cNvSpPr txBox="1"/>
          <p:nvPr/>
        </p:nvSpPr>
        <p:spPr>
          <a:xfrm>
            <a:off x="802640" y="4198620"/>
            <a:ext cx="2611120" cy="2457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答辩汇报人</a:t>
            </a:r>
            <a:r>
              <a:rPr lang="en-US" sz="1600" b="0" i="0" u="none" strike="noStrike" cap="none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 </a:t>
            </a:r>
            <a:r>
              <a:rPr lang="en-US" sz="1600" b="1" i="0" u="none" strike="noStrike" cap="none">
                <a:solidFill>
                  <a:srgbClr val="1E40A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陆辰睿 (组长</a:t>
            </a:r>
            <a:r>
              <a:rPr lang="en-US" sz="1200" b="1" i="0" u="none" strike="noStrike" cap="none">
                <a:solidFill>
                  <a:srgbClr val="1E40A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)</a:t>
            </a:r>
          </a:p>
        </p:txBody>
      </p:sp>
      <p:sp>
        <p:nvSpPr>
          <p:cNvPr id="89" name="Google Shape;89;p13"/>
          <p:cNvSpPr txBox="1"/>
          <p:nvPr/>
        </p:nvSpPr>
        <p:spPr>
          <a:xfrm>
            <a:off x="3357245" y="4198620"/>
            <a:ext cx="3169285" cy="2457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 dirty="0" err="1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课程名称</a:t>
            </a:r>
            <a:r>
              <a:rPr lang="en-US" sz="1600" b="0" i="0" u="none" strike="noStrike" cap="none" dirty="0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 </a:t>
            </a:r>
            <a:r>
              <a:rPr lang="en-US" sz="1600" b="1" i="0" u="none" strike="noStrike" cap="none" dirty="0">
                <a:solidFill>
                  <a:srgbClr val="1E40A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C++</a:t>
            </a:r>
            <a:r>
              <a:rPr lang="en-US" sz="1600" b="1" i="0" u="none" strike="noStrike" cap="none" dirty="0" err="1">
                <a:solidFill>
                  <a:srgbClr val="1E40A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面向对象程序设计</a:t>
            </a:r>
            <a:endParaRPr sz="1600" dirty="0"/>
          </a:p>
        </p:txBody>
      </p:sp>
      <p:sp>
        <p:nvSpPr>
          <p:cNvPr id="90" name="Google Shape;90;p13"/>
          <p:cNvSpPr txBox="1"/>
          <p:nvPr/>
        </p:nvSpPr>
        <p:spPr>
          <a:xfrm>
            <a:off x="6457950" y="4198620"/>
            <a:ext cx="1900237" cy="2457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指导教师</a:t>
            </a:r>
            <a:r>
              <a:rPr lang="en-US" sz="1600" b="0" i="0" u="none" strike="noStrike" cap="none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 </a:t>
            </a:r>
            <a:r>
              <a:rPr lang="en-US" sz="1600" b="1" i="0" u="none" strike="noStrike" cap="none">
                <a:solidFill>
                  <a:srgbClr val="1E40A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蒋敏 老师</a:t>
            </a:r>
          </a:p>
        </p:txBody>
      </p:sp>
      <p:sp>
        <p:nvSpPr>
          <p:cNvPr id="91" name="Google Shape;91;p13"/>
          <p:cNvSpPr txBox="1"/>
          <p:nvPr/>
        </p:nvSpPr>
        <p:spPr>
          <a:xfrm>
            <a:off x="8467725" y="4198620"/>
            <a:ext cx="2839720" cy="2457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汇报日期</a:t>
            </a:r>
            <a:r>
              <a:rPr lang="en-US" sz="1600" b="0" i="0" u="none" strike="noStrike" cap="none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 </a:t>
            </a:r>
            <a:r>
              <a:rPr lang="en-US" sz="1600" b="1" i="0" u="none" strike="noStrike" cap="none">
                <a:solidFill>
                  <a:srgbClr val="1E40A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2026年7月</a:t>
            </a:r>
          </a:p>
        </p:txBody>
      </p:sp>
      <p:sp>
        <p:nvSpPr>
          <p:cNvPr id="2" name="文本框 1"/>
          <p:cNvSpPr txBox="1"/>
          <p:nvPr/>
        </p:nvSpPr>
        <p:spPr>
          <a:xfrm>
            <a:off x="3528060" y="2484120"/>
            <a:ext cx="542163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基于</a:t>
            </a:r>
            <a:r>
              <a:rPr lang="en-US" altLang="zh-CN" sz="2000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C++20</a:t>
            </a:r>
            <a:r>
              <a:rPr lang="zh-CN" altLang="en-US" sz="2000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与</a:t>
            </a:r>
            <a:r>
              <a:rPr lang="en-US" altLang="zh-CN" sz="2000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Qt6</a:t>
            </a:r>
            <a:r>
              <a:rPr lang="zh-CN" altLang="en-US" sz="2000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的面向对象课程设计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7" name="Google Shape;97;p14" descr="image.png"/>
          <p:cNvPicPr preferRelativeResize="0"/>
          <p:nvPr>
            <p:custDataLst>
              <p:tags r:id="rId1"/>
            </p:custDataLst>
          </p:nvPr>
        </p:nvPicPr>
        <p:blipFill rotWithShape="1">
          <a:blip r:embed="rId11"/>
          <a:srcRect/>
          <a:stretch>
            <a:fillRect/>
          </a:stretch>
        </p:blipFill>
        <p:spPr>
          <a:xfrm>
            <a:off x="571500" y="1472505"/>
            <a:ext cx="5334000" cy="4909244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14" descr="image.png"/>
          <p:cNvPicPr preferRelativeResize="0"/>
          <p:nvPr>
            <p:custDataLst>
              <p:tags r:id="rId2"/>
            </p:custDataLst>
          </p:nvPr>
        </p:nvPicPr>
        <p:blipFill rotWithShape="1">
          <a:blip r:embed="rId12"/>
          <a:srcRect/>
          <a:stretch>
            <a:fillRect/>
          </a:stretch>
        </p:blipFill>
        <p:spPr>
          <a:xfrm>
            <a:off x="6286500" y="1472505"/>
            <a:ext cx="5334000" cy="4909244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14"/>
          <p:cNvSpPr txBox="1"/>
          <p:nvPr/>
        </p:nvSpPr>
        <p:spPr>
          <a:xfrm>
            <a:off x="714375" y="476250"/>
            <a:ext cx="11451431" cy="434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1" i="0" u="none" strike="noStrike" cap="none">
                <a:solidFill>
                  <a:srgbClr val="1E40A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项目初衷与重构蜕变</a:t>
            </a:r>
          </a:p>
        </p:txBody>
      </p:sp>
      <p:sp>
        <p:nvSpPr>
          <p:cNvPr id="100" name="Google Shape;100;p14"/>
          <p:cNvSpPr/>
          <p:nvPr/>
        </p:nvSpPr>
        <p:spPr>
          <a:xfrm>
            <a:off x="571500" y="476250"/>
            <a:ext cx="57150" cy="43428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01" name="Google Shape;101;p14"/>
          <p:cNvSpPr txBox="1"/>
          <p:nvPr/>
        </p:nvSpPr>
        <p:spPr>
          <a:xfrm>
            <a:off x="771525" y="967680"/>
            <a:ext cx="10848975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0891B2"/>
                </a:solidFill>
                <a:latin typeface="JetBrains Mono Medium" panose="02000009000000000000"/>
                <a:ea typeface="JetBrains Mono Medium" panose="02000009000000000000"/>
                <a:cs typeface="JetBrains Mono Medium" panose="02000009000000000000"/>
                <a:sym typeface="JetBrains Mono Medium" panose="02000009000000000000"/>
              </a:rPr>
              <a:t>FROM CONSOLE TO MODERN GRAPHICS GUI</a:t>
            </a:r>
          </a:p>
        </p:txBody>
      </p:sp>
      <p:sp>
        <p:nvSpPr>
          <p:cNvPr id="102" name="Google Shape;102;p14"/>
          <p:cNvSpPr txBox="1"/>
          <p:nvPr>
            <p:custDataLst>
              <p:tags r:id="rId3"/>
            </p:custDataLst>
          </p:nvPr>
        </p:nvSpPr>
        <p:spPr>
          <a:xfrm>
            <a:off x="1247775" y="1767780"/>
            <a:ext cx="4580572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1E40A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项目背景与题材</a:t>
            </a:r>
          </a:p>
        </p:txBody>
      </p:sp>
      <p:sp>
        <p:nvSpPr>
          <p:cNvPr id="103" name="Google Shape;103;p14"/>
          <p:cNvSpPr txBox="1"/>
          <p:nvPr>
            <p:custDataLst>
              <p:tags r:id="rId4"/>
            </p:custDataLst>
          </p:nvPr>
        </p:nvSpPr>
        <p:spPr>
          <a:xfrm>
            <a:off x="866775" y="2696388"/>
            <a:ext cx="4743450" cy="24618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 err="1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本作是一款极具校园情怀与代入感的</a:t>
            </a:r>
            <a:r>
              <a:rPr lang="en-US" sz="2000" b="0" i="0" u="none" strike="noStrike" cap="none" dirty="0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 RPG 生存游戏。玩家将扮演在校大学生，真实体验涵盖“打怪、消费、生存”的多重日常。精心模拟的多样校园生活机制，极大增强了游戏的沉浸感与真实性。</a:t>
            </a:r>
            <a:endParaRPr sz="2000" dirty="0"/>
          </a:p>
        </p:txBody>
      </p:sp>
      <p:sp>
        <p:nvSpPr>
          <p:cNvPr id="104" name="Google Shape;104;p14"/>
          <p:cNvSpPr txBox="1"/>
          <p:nvPr>
            <p:custDataLst>
              <p:tags r:id="rId5"/>
            </p:custDataLst>
          </p:nvPr>
        </p:nvSpPr>
        <p:spPr>
          <a:xfrm>
            <a:off x="6905625" y="1767780"/>
            <a:ext cx="464058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1E40A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图形重构与跃迁</a:t>
            </a:r>
          </a:p>
        </p:txBody>
      </p:sp>
      <p:sp>
        <p:nvSpPr>
          <p:cNvPr id="105" name="Google Shape;105;p14"/>
          <p:cNvSpPr txBox="1"/>
          <p:nvPr>
            <p:custDataLst>
              <p:tags r:id="rId6"/>
            </p:custDataLst>
          </p:nvPr>
        </p:nvSpPr>
        <p:spPr>
          <a:xfrm>
            <a:off x="6537325" y="2696448"/>
            <a:ext cx="4743450" cy="29546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 err="1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项目设计之初为基于纯控制台的黑框字符游戏，后经联合技术攻坚，平滑升级为基于</a:t>
            </a:r>
            <a:r>
              <a:rPr lang="en-US" sz="2000" b="0" i="0" u="none" strike="noStrike" cap="none" dirty="0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 Qt6 </a:t>
            </a:r>
            <a:r>
              <a:rPr lang="en-US" sz="2000" b="0" i="0" u="none" strike="noStrike" cap="none" dirty="0" err="1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框架的高性能</a:t>
            </a:r>
            <a:r>
              <a:rPr lang="en-US" sz="2000" b="0" i="0" u="none" strike="noStrike" cap="none" dirty="0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 2D </a:t>
            </a:r>
            <a:r>
              <a:rPr lang="en-US" sz="2000" b="0" i="0" u="none" strike="noStrike" cap="none" dirty="0" err="1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像素俯视角图形系统。底层不仅深度体现了</a:t>
            </a:r>
            <a:r>
              <a:rPr lang="en-US" sz="2000" b="0" i="0" u="none" strike="noStrike" cap="none" dirty="0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 C++ </a:t>
            </a:r>
            <a:r>
              <a:rPr lang="en-US" sz="2000" b="0" i="0" u="none" strike="noStrike" cap="none" dirty="0" err="1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的三大支柱（封装、继承、多态</a:t>
            </a:r>
            <a:r>
              <a:rPr lang="en-US" sz="2000" b="0" i="0" u="none" strike="noStrike" cap="none" dirty="0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），</a:t>
            </a:r>
            <a:r>
              <a:rPr lang="en-US" sz="2000" b="0" i="0" u="none" strike="noStrike" cap="none" dirty="0" err="1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且做到了业务逻辑的完全复用</a:t>
            </a:r>
            <a:r>
              <a:rPr lang="en-US" sz="2000" b="0" i="0" u="none" strike="noStrike" cap="none" dirty="0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。</a:t>
            </a:r>
            <a:endParaRPr sz="2000" dirty="0"/>
          </a:p>
        </p:txBody>
      </p:sp>
      <p:pic>
        <p:nvPicPr>
          <p:cNvPr id="106" name="Google Shape;106;p14" descr="image.png"/>
          <p:cNvPicPr preferRelativeResize="0"/>
          <p:nvPr>
            <p:custDataLst>
              <p:tags r:id="rId7"/>
            </p:custDataLst>
          </p:nvPr>
        </p:nvPicPr>
        <p:blipFill rotWithShape="1">
          <a:blip r:embed="rId13"/>
          <a:srcRect/>
          <a:stretch>
            <a:fillRect/>
          </a:stretch>
        </p:blipFill>
        <p:spPr>
          <a:xfrm>
            <a:off x="866775" y="1805880"/>
            <a:ext cx="285750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7" name="Google Shape;107;p14" descr="image.png"/>
          <p:cNvPicPr preferRelativeResize="0"/>
          <p:nvPr>
            <p:custDataLst>
              <p:tags r:id="rId8"/>
            </p:custDataLst>
          </p:nvPr>
        </p:nvPicPr>
        <p:blipFill rotWithShape="1">
          <a:blip r:embed="rId14"/>
          <a:srcRect/>
          <a:stretch>
            <a:fillRect/>
          </a:stretch>
        </p:blipFill>
        <p:spPr>
          <a:xfrm>
            <a:off x="6581775" y="1805880"/>
            <a:ext cx="228600" cy="228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/>
          <p:nvPr/>
        </p:nvSpPr>
        <p:spPr>
          <a:xfrm>
            <a:off x="740569" y="431468"/>
            <a:ext cx="11451431" cy="434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1" i="0" u="none" strike="noStrike" cap="none" dirty="0" err="1">
                <a:solidFill>
                  <a:srgbClr val="1E40A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游戏特色与核心玩法</a:t>
            </a:r>
            <a:endParaRPr lang="en-US" sz="2850" b="1" i="0" u="none" strike="noStrike" cap="none" dirty="0">
              <a:solidFill>
                <a:srgbClr val="1E40AF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115" name="Google Shape;115;p15"/>
          <p:cNvSpPr/>
          <p:nvPr/>
        </p:nvSpPr>
        <p:spPr>
          <a:xfrm>
            <a:off x="571500" y="476250"/>
            <a:ext cx="57150" cy="43428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16" name="Google Shape;116;p15"/>
          <p:cNvSpPr txBox="1"/>
          <p:nvPr/>
        </p:nvSpPr>
        <p:spPr>
          <a:xfrm>
            <a:off x="771525" y="967680"/>
            <a:ext cx="10848975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0891B2"/>
                </a:solidFill>
                <a:latin typeface="JetBrains Mono Medium" panose="02000009000000000000"/>
                <a:ea typeface="JetBrains Mono Medium" panose="02000009000000000000"/>
                <a:cs typeface="JetBrains Mono Medium" panose="02000009000000000000"/>
                <a:sym typeface="JetBrains Mono Medium" panose="02000009000000000000"/>
              </a:rPr>
              <a:t>IMMERSIVE CAMPUS EXPLORATION GAMEPLAY</a:t>
            </a:r>
          </a:p>
        </p:txBody>
      </p:sp>
      <p:sp>
        <p:nvSpPr>
          <p:cNvPr id="118" name="Google Shape;118;p15"/>
          <p:cNvSpPr txBox="1"/>
          <p:nvPr/>
        </p:nvSpPr>
        <p:spPr>
          <a:xfrm>
            <a:off x="1135289" y="1451550"/>
            <a:ext cx="3991882" cy="16619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 err="1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自由跑图系统</a:t>
            </a:r>
            <a:r>
              <a:rPr lang="en-US" sz="1800" b="1" i="0" u="none" strike="noStrike" cap="none" dirty="0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：</a:t>
            </a:r>
            <a:r>
              <a:rPr lang="en-US" sz="1800" b="0" i="0" u="none" strike="noStrike" cap="none" dirty="0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 </a:t>
            </a:r>
            <a:r>
              <a:rPr lang="en-US" sz="1800" b="0" i="0" u="none" strike="noStrike" cap="none" dirty="0" err="1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支持</a:t>
            </a:r>
            <a:r>
              <a:rPr lang="en-US" sz="1800" b="0" i="0" u="none" strike="noStrike" cap="none" dirty="0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 WASD </a:t>
            </a:r>
            <a:r>
              <a:rPr lang="en-US" sz="1800" b="0" i="0" u="none" strike="noStrike" cap="none" dirty="0" err="1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极速响应，通过自研定时器融合键盘事件拦截，实现</a:t>
            </a:r>
            <a:r>
              <a:rPr lang="en-US" sz="1800" b="0" i="0" u="none" strike="noStrike" cap="none" dirty="0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 60FPS </a:t>
            </a:r>
            <a:r>
              <a:rPr lang="en-US" sz="1800" b="0" i="0" u="none" strike="noStrike" cap="none" dirty="0" err="1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顺滑的地图探索与场景无缝切换</a:t>
            </a:r>
            <a:r>
              <a:rPr lang="en-US" sz="1800" b="0" i="0" u="none" strike="noStrike" cap="none" dirty="0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。</a:t>
            </a:r>
            <a:endParaRPr sz="1800" dirty="0"/>
          </a:p>
        </p:txBody>
      </p:sp>
      <p:sp>
        <p:nvSpPr>
          <p:cNvPr id="119" name="Google Shape;119;p15"/>
          <p:cNvSpPr txBox="1"/>
          <p:nvPr/>
        </p:nvSpPr>
        <p:spPr>
          <a:xfrm>
            <a:off x="6468397" y="1483945"/>
            <a:ext cx="3741511" cy="12464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 err="1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真实昼夜交替</a:t>
            </a:r>
            <a:r>
              <a:rPr lang="en-US" sz="1800" b="1" i="0" u="none" strike="noStrike" cap="none" dirty="0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：</a:t>
            </a:r>
            <a:r>
              <a:rPr lang="en-US" sz="1800" b="0" i="0" u="none" strike="noStrike" cap="none" dirty="0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 </a:t>
            </a:r>
            <a:r>
              <a:rPr lang="en-US" sz="1800" b="0" i="0" u="none" strike="noStrike" cap="none" dirty="0" err="1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后台独立时钟推进机制。NPC</a:t>
            </a:r>
            <a:r>
              <a:rPr lang="en-US" sz="1800" b="0" i="0" u="none" strike="noStrike" cap="none" dirty="0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 </a:t>
            </a:r>
            <a:r>
              <a:rPr lang="en-US" sz="1800" b="0" i="0" u="none" strike="noStrike" cap="none" dirty="0" err="1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行为随系统时间动态更新</a:t>
            </a:r>
            <a:r>
              <a:rPr lang="en-US" sz="1800" b="0" i="0" u="none" strike="noStrike" cap="none" dirty="0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。</a:t>
            </a:r>
            <a:endParaRPr sz="1800" dirty="0"/>
          </a:p>
        </p:txBody>
      </p:sp>
      <p:sp>
        <p:nvSpPr>
          <p:cNvPr id="120" name="Google Shape;120;p15"/>
          <p:cNvSpPr txBox="1"/>
          <p:nvPr/>
        </p:nvSpPr>
        <p:spPr>
          <a:xfrm>
            <a:off x="1135289" y="3649557"/>
            <a:ext cx="3991882" cy="12464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 err="1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双态经济结构</a:t>
            </a:r>
            <a:r>
              <a:rPr lang="en-US" sz="1800" b="1" i="0" u="none" strike="noStrike" cap="none" dirty="0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：</a:t>
            </a:r>
            <a:r>
              <a:rPr lang="en-US" sz="1800" b="0" i="0" u="none" strike="noStrike" cap="none" dirty="0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 白天小卖部出售标准的补血、增益装备；深夜触发地下“</a:t>
            </a:r>
            <a:r>
              <a:rPr lang="en-US" sz="1800" b="0" i="0" u="none" strike="noStrike" cap="none" dirty="0" err="1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黑市</a:t>
            </a:r>
            <a:r>
              <a:rPr lang="en-US" sz="1800" b="0" i="0" u="none" strike="noStrike" cap="none" dirty="0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”，</a:t>
            </a:r>
            <a:r>
              <a:rPr lang="en-US" sz="1800" b="0" i="0" u="none" strike="noStrike" cap="none" dirty="0" err="1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解锁绝版隐藏道具</a:t>
            </a:r>
            <a:r>
              <a:rPr lang="en-US" sz="1800" b="0" i="0" u="none" strike="noStrike" cap="none" dirty="0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。</a:t>
            </a:r>
            <a:endParaRPr sz="1800" dirty="0"/>
          </a:p>
        </p:txBody>
      </p:sp>
      <p:sp>
        <p:nvSpPr>
          <p:cNvPr id="121" name="Google Shape;121;p15"/>
          <p:cNvSpPr txBox="1"/>
          <p:nvPr/>
        </p:nvSpPr>
        <p:spPr>
          <a:xfrm>
            <a:off x="6466284" y="3649557"/>
            <a:ext cx="3980996" cy="12464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 err="1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硬核回合战斗</a:t>
            </a:r>
            <a:r>
              <a:rPr lang="en-US" sz="1800" b="1" i="0" u="none" strike="noStrike" cap="none" dirty="0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：</a:t>
            </a:r>
            <a:r>
              <a:rPr lang="en-US" sz="1800" b="0" i="0" u="none" strike="noStrike" cap="none" dirty="0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 </a:t>
            </a:r>
            <a:r>
              <a:rPr lang="en-US" sz="1800" b="0" i="0" u="none" strike="noStrike" cap="none" dirty="0" err="1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基于轻量状态机的行为判定，集成装备道具实时响应与数值成长算法</a:t>
            </a:r>
            <a:r>
              <a:rPr lang="en-US" sz="1800" b="0" i="0" u="none" strike="noStrike" cap="none" dirty="0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。</a:t>
            </a:r>
            <a:endParaRPr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0" name="Google Shape;130;p16" descr="image.png"/>
          <p:cNvPicPr preferRelativeResize="0"/>
          <p:nvPr>
            <p:custDataLst>
              <p:tags r:id="rId1"/>
            </p:custDataLst>
          </p:nvPr>
        </p:nvPicPr>
        <p:blipFill rotWithShape="1">
          <a:blip r:embed="rId14"/>
          <a:srcRect/>
          <a:stretch>
            <a:fillRect/>
          </a:stretch>
        </p:blipFill>
        <p:spPr>
          <a:xfrm>
            <a:off x="571500" y="1472505"/>
            <a:ext cx="3524250" cy="3243113"/>
          </a:xfrm>
          <a:prstGeom prst="rect">
            <a:avLst/>
          </a:prstGeom>
          <a:noFill/>
          <a:ln>
            <a:noFill/>
          </a:ln>
        </p:spPr>
      </p:pic>
      <p:pic>
        <p:nvPicPr>
          <p:cNvPr id="131" name="Google Shape;131;p16" descr="image.png"/>
          <p:cNvPicPr preferRelativeResize="0"/>
          <p:nvPr>
            <p:custDataLst>
              <p:tags r:id="rId2"/>
            </p:custDataLst>
          </p:nvPr>
        </p:nvPicPr>
        <p:blipFill rotWithShape="1">
          <a:blip r:embed="rId15"/>
          <a:srcRect/>
          <a:stretch>
            <a:fillRect/>
          </a:stretch>
        </p:blipFill>
        <p:spPr>
          <a:xfrm>
            <a:off x="4333875" y="1472505"/>
            <a:ext cx="3524250" cy="3243113"/>
          </a:xfrm>
          <a:prstGeom prst="rect">
            <a:avLst/>
          </a:prstGeom>
          <a:noFill/>
          <a:ln>
            <a:noFill/>
          </a:ln>
        </p:spPr>
      </p:pic>
      <p:pic>
        <p:nvPicPr>
          <p:cNvPr id="132" name="Google Shape;132;p16" descr="image.png"/>
          <p:cNvPicPr preferRelativeResize="0"/>
          <p:nvPr>
            <p:custDataLst>
              <p:tags r:id="rId3"/>
            </p:custDataLst>
          </p:nvPr>
        </p:nvPicPr>
        <p:blipFill rotWithShape="1">
          <a:blip r:embed="rId16"/>
          <a:srcRect/>
          <a:stretch>
            <a:fillRect/>
          </a:stretch>
        </p:blipFill>
        <p:spPr>
          <a:xfrm>
            <a:off x="8096250" y="1472505"/>
            <a:ext cx="3524250" cy="32431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16"/>
          <p:cNvSpPr txBox="1"/>
          <p:nvPr/>
        </p:nvSpPr>
        <p:spPr>
          <a:xfrm>
            <a:off x="714375" y="476250"/>
            <a:ext cx="11451431" cy="434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1" i="0" u="none" strike="noStrike" cap="none">
                <a:solidFill>
                  <a:srgbClr val="1E40A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MVC 彻底解耦的底层架构</a:t>
            </a:r>
          </a:p>
        </p:txBody>
      </p:sp>
      <p:sp>
        <p:nvSpPr>
          <p:cNvPr id="134" name="Google Shape;134;p16"/>
          <p:cNvSpPr/>
          <p:nvPr/>
        </p:nvSpPr>
        <p:spPr>
          <a:xfrm>
            <a:off x="571500" y="476250"/>
            <a:ext cx="57150" cy="43428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35" name="Google Shape;135;p16"/>
          <p:cNvSpPr txBox="1"/>
          <p:nvPr/>
        </p:nvSpPr>
        <p:spPr>
          <a:xfrm>
            <a:off x="771525" y="967680"/>
            <a:ext cx="10848975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0891B2"/>
                </a:solidFill>
                <a:latin typeface="JetBrains Mono Medium" panose="02000009000000000000"/>
                <a:ea typeface="JetBrains Mono Medium" panose="02000009000000000000"/>
                <a:cs typeface="JetBrains Mono Medium" panose="02000009000000000000"/>
                <a:sym typeface="JetBrains Mono Medium" panose="02000009000000000000"/>
              </a:rPr>
              <a:t>ARCHITECTURE: DECOUPLING MODEL, VIEW AND CONTROLLER</a:t>
            </a:r>
          </a:p>
        </p:txBody>
      </p:sp>
      <p:sp>
        <p:nvSpPr>
          <p:cNvPr id="136" name="Google Shape;136;p16"/>
          <p:cNvSpPr/>
          <p:nvPr/>
        </p:nvSpPr>
        <p:spPr>
          <a:xfrm>
            <a:off x="581025" y="3075012"/>
            <a:ext cx="3505200" cy="3810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37" name="Google Shape;137;p16"/>
          <p:cNvSpPr txBox="1"/>
          <p:nvPr>
            <p:custDataLst>
              <p:tags r:id="rId4"/>
            </p:custDataLst>
          </p:nvPr>
        </p:nvSpPr>
        <p:spPr>
          <a:xfrm>
            <a:off x="819150" y="2282130"/>
            <a:ext cx="3180397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1E40A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Model (数据模型层)</a:t>
            </a:r>
          </a:p>
        </p:txBody>
      </p:sp>
      <p:sp>
        <p:nvSpPr>
          <p:cNvPr id="138" name="Google Shape;138;p16"/>
          <p:cNvSpPr txBox="1"/>
          <p:nvPr>
            <p:custDataLst>
              <p:tags r:id="rId5"/>
            </p:custDataLst>
          </p:nvPr>
        </p:nvSpPr>
        <p:spPr>
          <a:xfrm>
            <a:off x="819150" y="2682180"/>
            <a:ext cx="3028950" cy="196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 dirty="0" err="1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由</a:t>
            </a:r>
            <a:r>
              <a:rPr lang="en-US" sz="1600" b="0" i="0" u="none" strike="noStrike" cap="none" dirty="0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 </a:t>
            </a:r>
            <a:r>
              <a:rPr lang="en-US" sz="1600" b="0" i="0" u="none" strike="noStrike" cap="none" dirty="0" err="1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GameEngine</a:t>
            </a:r>
            <a:r>
              <a:rPr lang="en-US" sz="1600" b="0" i="0" u="none" strike="noStrike" cap="none" dirty="0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 </a:t>
            </a:r>
            <a:r>
              <a:rPr lang="en-US" sz="1600" b="0" i="0" u="none" strike="noStrike" cap="none" dirty="0" err="1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及纯业务逻辑类（</a:t>
            </a:r>
            <a:r>
              <a:rPr lang="en-US" sz="1600" dirty="0" err="1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Character</a:t>
            </a:r>
            <a:r>
              <a:rPr lang="en-US" sz="1600" b="0" i="0" u="none" strike="noStrike" cap="none" dirty="0" err="1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、Map、GameClock</a:t>
            </a:r>
            <a:r>
              <a:rPr lang="en-US" sz="1600" b="0" i="0" u="none" strike="noStrike" cap="none" dirty="0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 </a:t>
            </a:r>
            <a:r>
              <a:rPr lang="en-US" sz="1600" b="0" i="0" u="none" strike="noStrike" cap="none" dirty="0" err="1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等）组成。独立编译，内部不引入任何界面组件代码，做到彻底的数据逻辑内聚</a:t>
            </a:r>
            <a:r>
              <a:rPr lang="en-US" sz="1600" b="0" i="0" u="none" strike="noStrike" cap="none" dirty="0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。</a:t>
            </a:r>
            <a:endParaRPr sz="1600" dirty="0"/>
          </a:p>
        </p:txBody>
      </p:sp>
      <p:sp>
        <p:nvSpPr>
          <p:cNvPr id="139" name="Google Shape;139;p16"/>
          <p:cNvSpPr/>
          <p:nvPr/>
        </p:nvSpPr>
        <p:spPr>
          <a:xfrm>
            <a:off x="4343400" y="3075012"/>
            <a:ext cx="3505200" cy="3810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40" name="Google Shape;140;p16"/>
          <p:cNvSpPr txBox="1"/>
          <p:nvPr>
            <p:custDataLst>
              <p:tags r:id="rId6"/>
            </p:custDataLst>
          </p:nvPr>
        </p:nvSpPr>
        <p:spPr>
          <a:xfrm>
            <a:off x="4581525" y="2282130"/>
            <a:ext cx="3180397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1E40A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View (图形渲染层)</a:t>
            </a:r>
          </a:p>
        </p:txBody>
      </p:sp>
      <p:sp>
        <p:nvSpPr>
          <p:cNvPr id="141" name="Google Shape;141;p16"/>
          <p:cNvSpPr txBox="1"/>
          <p:nvPr>
            <p:custDataLst>
              <p:tags r:id="rId7"/>
            </p:custDataLst>
          </p:nvPr>
        </p:nvSpPr>
        <p:spPr>
          <a:xfrm>
            <a:off x="4581525" y="2682180"/>
            <a:ext cx="3028950" cy="196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 dirty="0" err="1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基于</a:t>
            </a:r>
            <a:r>
              <a:rPr lang="en-US" sz="1600" b="0" i="0" u="none" strike="noStrike" cap="none" dirty="0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 Qt6 Graphics View </a:t>
            </a:r>
            <a:r>
              <a:rPr lang="en-US" sz="1600" b="0" i="0" u="none" strike="noStrike" cap="none" dirty="0" err="1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框架。由</a:t>
            </a:r>
            <a:r>
              <a:rPr lang="en-US" sz="1600" b="0" i="0" u="none" strike="noStrike" cap="none" dirty="0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 </a:t>
            </a:r>
            <a:r>
              <a:rPr lang="en-US" sz="1600" b="0" i="0" u="none" strike="noStrike" cap="none" dirty="0" err="1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QGraphicsScene</a:t>
            </a:r>
            <a:r>
              <a:rPr lang="en-US" sz="1600" b="0" i="0" u="none" strike="noStrike" cap="none" dirty="0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 </a:t>
            </a:r>
            <a:r>
              <a:rPr lang="en-US" sz="1600" b="0" i="0" u="none" strike="noStrike" cap="none" dirty="0" err="1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对瓦片、障碍物、玩家进行坐标映射与高性能绘制，完全通过信号槽接收数据变化</a:t>
            </a:r>
            <a:r>
              <a:rPr lang="en-US" sz="1050" b="0" i="0" u="none" strike="noStrike" cap="none" dirty="0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。</a:t>
            </a:r>
            <a:endParaRPr dirty="0"/>
          </a:p>
        </p:txBody>
      </p:sp>
      <p:sp>
        <p:nvSpPr>
          <p:cNvPr id="142" name="Google Shape;142;p16"/>
          <p:cNvSpPr/>
          <p:nvPr/>
        </p:nvSpPr>
        <p:spPr>
          <a:xfrm>
            <a:off x="8105775" y="3075012"/>
            <a:ext cx="3505200" cy="3810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43" name="Google Shape;143;p16"/>
          <p:cNvSpPr txBox="1"/>
          <p:nvPr>
            <p:custDataLst>
              <p:tags r:id="rId8"/>
            </p:custDataLst>
          </p:nvPr>
        </p:nvSpPr>
        <p:spPr>
          <a:xfrm>
            <a:off x="8343900" y="2282130"/>
            <a:ext cx="3180397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1E40A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Controller (控制调度)</a:t>
            </a:r>
          </a:p>
        </p:txBody>
      </p:sp>
      <p:sp>
        <p:nvSpPr>
          <p:cNvPr id="144" name="Google Shape;144;p16"/>
          <p:cNvSpPr txBox="1"/>
          <p:nvPr>
            <p:custDataLst>
              <p:tags r:id="rId9"/>
            </p:custDataLst>
          </p:nvPr>
        </p:nvSpPr>
        <p:spPr>
          <a:xfrm>
            <a:off x="8343900" y="2682180"/>
            <a:ext cx="3028950" cy="157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 dirty="0" err="1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封装键鼠硬件操作，实现状态判定。将用户交互转化为事件指令传入核心模型，同时起到逻辑响应主线程的分发媒介作用</a:t>
            </a:r>
            <a:r>
              <a:rPr lang="en-US" sz="1600" b="0" i="0" u="none" strike="noStrike" cap="none" dirty="0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。</a:t>
            </a:r>
            <a:endParaRPr sz="1600" dirty="0"/>
          </a:p>
        </p:txBody>
      </p:sp>
      <p:pic>
        <p:nvPicPr>
          <p:cNvPr id="145" name="Google Shape;145;p16" descr="image.png"/>
          <p:cNvPicPr preferRelativeResize="0"/>
          <p:nvPr/>
        </p:nvPicPr>
        <p:blipFill rotWithShape="1">
          <a:blip r:embed="rId17"/>
          <a:srcRect/>
          <a:stretch>
            <a:fillRect/>
          </a:stretch>
        </p:blipFill>
        <p:spPr>
          <a:xfrm>
            <a:off x="457835" y="5277485"/>
            <a:ext cx="313690" cy="304165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6"/>
          <p:cNvSpPr txBox="1"/>
          <p:nvPr/>
        </p:nvSpPr>
        <p:spPr>
          <a:xfrm>
            <a:off x="953135" y="5196840"/>
            <a:ext cx="10657840" cy="6153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 dirty="0" err="1">
                <a:solidFill>
                  <a:srgbClr val="1E40A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解耦优势</a:t>
            </a:r>
            <a:r>
              <a:rPr lang="en-US" sz="2000" b="1" i="0" u="none" strike="noStrike" cap="none" dirty="0">
                <a:solidFill>
                  <a:srgbClr val="1E40A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：</a:t>
            </a:r>
            <a:r>
              <a:rPr lang="zh-CN" altLang="en-US" sz="2000" b="1" i="0" u="none" strike="noStrike" cap="none" dirty="0">
                <a:solidFill>
                  <a:srgbClr val="1E40A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得益于标准的</a:t>
            </a:r>
            <a:r>
              <a:rPr lang="en-US" altLang="zh-CN" sz="2000" b="1" i="0" u="none" strike="noStrike" cap="none" dirty="0">
                <a:solidFill>
                  <a:srgbClr val="1E40A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MVC</a:t>
            </a:r>
            <a:r>
              <a:rPr lang="zh-CN" altLang="en-US" sz="2000" b="1" i="0" u="none" strike="noStrike" cap="none" dirty="0">
                <a:solidFill>
                  <a:srgbClr val="1E40A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设计模式，核心游戏逻辑可无缝外接</a:t>
            </a:r>
            <a:r>
              <a:rPr lang="en-US" altLang="zh-CN" sz="2000" b="1" i="0" u="none" strike="noStrike" cap="none" dirty="0">
                <a:solidFill>
                  <a:srgbClr val="1E40A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“</a:t>
            </a:r>
            <a:r>
              <a:rPr lang="zh-CN" altLang="en-US" sz="2000" b="1" i="0" u="none" strike="noStrike" cap="none" dirty="0">
                <a:solidFill>
                  <a:srgbClr val="1E40A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纯控制台文本版</a:t>
            </a:r>
            <a:r>
              <a:rPr lang="en-US" altLang="zh-CN" sz="2000" b="1" i="0" u="none" strike="noStrike" cap="none" dirty="0">
                <a:solidFill>
                  <a:srgbClr val="1E40A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”</a:t>
            </a:r>
            <a:r>
              <a:rPr lang="zh-CN" altLang="en-US" sz="2000" b="1" i="0" u="none" strike="noStrike" cap="none" dirty="0">
                <a:solidFill>
                  <a:srgbClr val="1E40A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与</a:t>
            </a:r>
            <a:r>
              <a:rPr lang="en-US" altLang="zh-CN" sz="2000" b="1" i="0" u="none" strike="noStrike" cap="none" dirty="0">
                <a:solidFill>
                  <a:srgbClr val="1E40A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“</a:t>
            </a:r>
            <a:r>
              <a:rPr lang="zh-CN" altLang="en-US" sz="2000" b="1" i="0" u="none" strike="noStrike" cap="none" dirty="0">
                <a:solidFill>
                  <a:srgbClr val="1E40A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现代图形</a:t>
            </a:r>
            <a:r>
              <a:rPr lang="en-US" altLang="zh-CN" sz="2000" b="1" i="0" u="none" strike="noStrike" cap="none" dirty="0">
                <a:solidFill>
                  <a:srgbClr val="1E40A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Qt</a:t>
            </a:r>
            <a:r>
              <a:rPr lang="zh-CN" altLang="en-US" sz="2000" b="1" i="0" u="none" strike="noStrike" cap="none" dirty="0">
                <a:solidFill>
                  <a:srgbClr val="1E40A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版</a:t>
            </a:r>
            <a:r>
              <a:rPr lang="en-US" altLang="zh-CN" sz="2000" b="1" i="0" u="none" strike="noStrike" cap="none" dirty="0">
                <a:solidFill>
                  <a:srgbClr val="1E40A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”</a:t>
            </a:r>
            <a:r>
              <a:rPr lang="zh-CN" altLang="en-US" sz="2000" b="1" i="0" u="none" strike="noStrike" cap="none" dirty="0">
                <a:solidFill>
                  <a:srgbClr val="1E40A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双向运行</a:t>
            </a:r>
          </a:p>
        </p:txBody>
      </p:sp>
      <p:pic>
        <p:nvPicPr>
          <p:cNvPr id="147" name="Google Shape;147;p16" descr="image.png"/>
          <p:cNvPicPr preferRelativeResize="0"/>
          <p:nvPr>
            <p:custDataLst>
              <p:tags r:id="rId10"/>
            </p:custDataLst>
          </p:nvPr>
        </p:nvPicPr>
        <p:blipFill rotWithShape="1">
          <a:blip r:embed="rId18"/>
          <a:srcRect/>
          <a:stretch>
            <a:fillRect/>
          </a:stretch>
        </p:blipFill>
        <p:spPr>
          <a:xfrm>
            <a:off x="819150" y="1748730"/>
            <a:ext cx="266700" cy="304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8" name="Google Shape;148;p16" descr="image.png"/>
          <p:cNvPicPr preferRelativeResize="0"/>
          <p:nvPr>
            <p:custDataLst>
              <p:tags r:id="rId11"/>
            </p:custDataLst>
          </p:nvPr>
        </p:nvPicPr>
        <p:blipFill rotWithShape="1">
          <a:blip r:embed="rId19"/>
          <a:srcRect/>
          <a:stretch>
            <a:fillRect/>
          </a:stretch>
        </p:blipFill>
        <p:spPr>
          <a:xfrm>
            <a:off x="4581525" y="1748730"/>
            <a:ext cx="381000" cy="30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17"/>
          <p:cNvSpPr txBox="1"/>
          <p:nvPr/>
        </p:nvSpPr>
        <p:spPr>
          <a:xfrm>
            <a:off x="714375" y="207037"/>
            <a:ext cx="5400675" cy="434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1" i="0" u="none" strike="noStrike" cap="none" dirty="0">
                <a:solidFill>
                  <a:srgbClr val="1E40A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2D </a:t>
            </a:r>
            <a:r>
              <a:rPr lang="en-US" sz="2850" b="1" i="0" u="none" strike="noStrike" cap="none" dirty="0" err="1">
                <a:solidFill>
                  <a:srgbClr val="1E40A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瓦片地图与物理防穿模</a:t>
            </a:r>
            <a:endParaRPr lang="en-US" sz="2850" b="1" i="0" u="none" strike="noStrike" cap="none" dirty="0">
              <a:solidFill>
                <a:srgbClr val="1E40AF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156" name="Google Shape;156;p17"/>
          <p:cNvSpPr/>
          <p:nvPr/>
        </p:nvSpPr>
        <p:spPr>
          <a:xfrm>
            <a:off x="571500" y="285384"/>
            <a:ext cx="57150" cy="43428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57" name="Google Shape;157;p17"/>
          <p:cNvSpPr txBox="1"/>
          <p:nvPr/>
        </p:nvSpPr>
        <p:spPr>
          <a:xfrm>
            <a:off x="728662" y="729747"/>
            <a:ext cx="5086350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0891B2"/>
                </a:solidFill>
                <a:latin typeface="JetBrains Mono Medium" panose="02000009000000000000"/>
                <a:ea typeface="JetBrains Mono Medium" panose="02000009000000000000"/>
                <a:cs typeface="JetBrains Mono Medium" panose="02000009000000000000"/>
                <a:sym typeface="JetBrains Mono Medium" panose="02000009000000000000"/>
              </a:rPr>
              <a:t>MAP RENDERING &amp; COLLISION SYSTEM</a:t>
            </a:r>
          </a:p>
        </p:txBody>
      </p:sp>
      <p:sp>
        <p:nvSpPr>
          <p:cNvPr id="158" name="Google Shape;158;p17"/>
          <p:cNvSpPr txBox="1"/>
          <p:nvPr/>
        </p:nvSpPr>
        <p:spPr>
          <a:xfrm>
            <a:off x="382093" y="1016789"/>
            <a:ext cx="5550693" cy="247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00025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5" b="1" i="0" u="none" strike="noStrike" cap="none" dirty="0" err="1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数据驱动解析</a:t>
            </a:r>
            <a:endParaRPr dirty="0"/>
          </a:p>
        </p:txBody>
      </p:sp>
      <p:sp>
        <p:nvSpPr>
          <p:cNvPr id="159" name="Google Shape;159;p17"/>
          <p:cNvSpPr txBox="1"/>
          <p:nvPr/>
        </p:nvSpPr>
        <p:spPr>
          <a:xfrm>
            <a:off x="571500" y="1324294"/>
            <a:ext cx="5286375" cy="5909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 err="1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通过地图加载器，代码可动态解析外部</a:t>
            </a:r>
            <a:r>
              <a:rPr lang="en-US" sz="1200" b="0" i="0" u="none" strike="noStrike" cap="none" dirty="0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 JSON </a:t>
            </a:r>
            <a:r>
              <a:rPr lang="en-US" sz="1200" b="0" i="0" u="none" strike="noStrike" cap="none" dirty="0" err="1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瓦片文件，将贴图图块信息映射至二维网格。极大地增强了后续扩展新地图关卡的便捷性</a:t>
            </a:r>
            <a:r>
              <a:rPr lang="en-US" sz="1200" b="0" i="0" u="none" strike="noStrike" cap="none" dirty="0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。</a:t>
            </a:r>
            <a:endParaRPr dirty="0"/>
          </a:p>
        </p:txBody>
      </p:sp>
      <p:sp>
        <p:nvSpPr>
          <p:cNvPr id="160" name="Google Shape;160;p17"/>
          <p:cNvSpPr txBox="1"/>
          <p:nvPr/>
        </p:nvSpPr>
        <p:spPr>
          <a:xfrm>
            <a:off x="439340" y="1975080"/>
            <a:ext cx="5550693" cy="247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5240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5" b="1" i="0" u="none" strike="noStrike" cap="none" dirty="0" err="1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高效防穿模机制</a:t>
            </a:r>
            <a:endParaRPr dirty="0"/>
          </a:p>
        </p:txBody>
      </p:sp>
      <p:sp>
        <p:nvSpPr>
          <p:cNvPr id="161" name="Google Shape;161;p17"/>
          <p:cNvSpPr txBox="1"/>
          <p:nvPr/>
        </p:nvSpPr>
        <p:spPr>
          <a:xfrm>
            <a:off x="628650" y="2222730"/>
            <a:ext cx="5286375" cy="5013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 err="1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抛弃粗暴的坐标硬编码判定，利用</a:t>
            </a:r>
            <a:r>
              <a:rPr lang="en-US" sz="1200" b="0" i="0" u="none" strike="noStrike" cap="none" dirty="0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 </a:t>
            </a:r>
            <a:r>
              <a:rPr lang="en-US" sz="1200" b="0" i="0" u="none" strike="noStrike" cap="none" dirty="0" err="1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QGraphicsItem</a:t>
            </a:r>
            <a:r>
              <a:rPr lang="en-US" sz="1200" b="0" i="0" u="none" strike="noStrike" cap="none" dirty="0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 </a:t>
            </a:r>
            <a:r>
              <a:rPr lang="en-US" sz="1200" b="0" i="0" u="none" strike="noStrike" cap="none" dirty="0" err="1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的</a:t>
            </a:r>
            <a:r>
              <a:rPr lang="en-US" sz="1200" b="0" i="0" u="none" strike="noStrike" cap="none" dirty="0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 Bounding </a:t>
            </a:r>
            <a:r>
              <a:rPr lang="en-US" sz="1200" b="0" i="0" u="none" strike="noStrike" cap="none" dirty="0" err="1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Rect（包围盒）计算建立物理障碍物阻挡层，完美防御角色意外越界的恶性</a:t>
            </a:r>
            <a:r>
              <a:rPr lang="en-US" sz="1200" b="0" i="0" u="none" strike="noStrike" cap="none" dirty="0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 Bug。</a:t>
            </a:r>
          </a:p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00" dirty="0">
                <a:solidFill>
                  <a:srgbClr val="475569"/>
                </a:solidFill>
                <a:latin typeface="Inter" panose="02000503000000020004"/>
              </a:rPr>
              <a:t>基于 </a:t>
            </a:r>
            <a:r>
              <a:rPr lang="en-GB" sz="1200" dirty="0">
                <a:solidFill>
                  <a:srgbClr val="475569"/>
                </a:solidFill>
                <a:latin typeface="Inter" panose="02000503000000020004"/>
              </a:rPr>
              <a:t>Bounding </a:t>
            </a:r>
            <a:r>
              <a:rPr lang="en-GB" sz="1200" dirty="0" err="1">
                <a:solidFill>
                  <a:srgbClr val="475569"/>
                </a:solidFill>
                <a:latin typeface="Inter" panose="02000503000000020004"/>
              </a:rPr>
              <a:t>Rect</a:t>
            </a:r>
            <a:r>
              <a:rPr lang="en-GB" sz="1200" dirty="0">
                <a:solidFill>
                  <a:srgbClr val="475569"/>
                </a:solidFill>
                <a:latin typeface="Inter" panose="02000503000000020004"/>
              </a:rPr>
              <a:t> </a:t>
            </a:r>
            <a:r>
              <a:rPr lang="zh-CN" altLang="en-US" sz="1200" dirty="0">
                <a:solidFill>
                  <a:srgbClr val="475569"/>
                </a:solidFill>
                <a:latin typeface="Inter" panose="02000503000000020004"/>
              </a:rPr>
              <a:t>动态缩减的“脚部滑动碰撞”算法</a:t>
            </a:r>
          </a:p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 err="1">
                <a:solidFill>
                  <a:srgbClr val="475569"/>
                </a:solidFill>
                <a:latin typeface="Inter" panose="02000503000000020004"/>
              </a:rPr>
              <a:t>qreal</a:t>
            </a:r>
            <a:r>
              <a:rPr lang="en-GB" sz="1200" dirty="0">
                <a:solidFill>
                  <a:srgbClr val="475569"/>
                </a:solidFill>
                <a:latin typeface="Inter" panose="02000503000000020004"/>
              </a:rPr>
              <a:t> </a:t>
            </a:r>
            <a:r>
              <a:rPr lang="en-GB" sz="1200" dirty="0" err="1">
                <a:solidFill>
                  <a:srgbClr val="475569"/>
                </a:solidFill>
                <a:latin typeface="Inter" panose="02000503000000020004"/>
              </a:rPr>
              <a:t>spriteW</a:t>
            </a:r>
            <a:r>
              <a:rPr lang="en-GB" sz="1200" dirty="0">
                <a:solidFill>
                  <a:srgbClr val="475569"/>
                </a:solidFill>
                <a:latin typeface="Inter" panose="02000503000000020004"/>
              </a:rPr>
              <a:t> = </a:t>
            </a:r>
            <a:r>
              <a:rPr lang="en-GB" sz="1200" dirty="0" err="1">
                <a:solidFill>
                  <a:srgbClr val="475569"/>
                </a:solidFill>
                <a:latin typeface="Inter" panose="02000503000000020004"/>
              </a:rPr>
              <a:t>playerSize.width</a:t>
            </a:r>
            <a:r>
              <a:rPr lang="en-GB" sz="1200" dirty="0">
                <a:solidFill>
                  <a:srgbClr val="475569"/>
                </a:solidFill>
                <a:latin typeface="Inter" panose="02000503000000020004"/>
              </a:rPr>
              <a:t>();</a:t>
            </a:r>
          </a:p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 err="1">
                <a:solidFill>
                  <a:srgbClr val="475569"/>
                </a:solidFill>
                <a:latin typeface="Inter" panose="02000503000000020004"/>
              </a:rPr>
              <a:t>qreal</a:t>
            </a:r>
            <a:r>
              <a:rPr lang="en-GB" sz="1200" dirty="0">
                <a:solidFill>
                  <a:srgbClr val="475569"/>
                </a:solidFill>
                <a:latin typeface="Inter" panose="02000503000000020004"/>
              </a:rPr>
              <a:t> </a:t>
            </a:r>
            <a:r>
              <a:rPr lang="en-GB" sz="1200" dirty="0" err="1">
                <a:solidFill>
                  <a:srgbClr val="475569"/>
                </a:solidFill>
                <a:latin typeface="Inter" panose="02000503000000020004"/>
              </a:rPr>
              <a:t>spriteH</a:t>
            </a:r>
            <a:r>
              <a:rPr lang="en-GB" sz="1200" dirty="0">
                <a:solidFill>
                  <a:srgbClr val="475569"/>
                </a:solidFill>
                <a:latin typeface="Inter" panose="02000503000000020004"/>
              </a:rPr>
              <a:t> = </a:t>
            </a:r>
            <a:r>
              <a:rPr lang="en-GB" sz="1200" dirty="0" err="1">
                <a:solidFill>
                  <a:srgbClr val="475569"/>
                </a:solidFill>
                <a:latin typeface="Inter" panose="02000503000000020004"/>
              </a:rPr>
              <a:t>playerSize.height</a:t>
            </a:r>
            <a:r>
              <a:rPr lang="en-GB" sz="1200" dirty="0">
                <a:solidFill>
                  <a:srgbClr val="475569"/>
                </a:solidFill>
                <a:latin typeface="Inter" panose="02000503000000020004"/>
              </a:rPr>
              <a:t>();</a:t>
            </a:r>
          </a:p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00" dirty="0">
                <a:solidFill>
                  <a:srgbClr val="475569"/>
                </a:solidFill>
                <a:latin typeface="Inter" panose="02000503000000020004"/>
              </a:rPr>
              <a:t>抛弃全身碰撞，动态计算缩小后的“脚部碰撞箱”</a:t>
            </a:r>
          </a:p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00" dirty="0">
                <a:solidFill>
                  <a:srgbClr val="475569"/>
                </a:solidFill>
                <a:latin typeface="Inter" panose="02000503000000020004"/>
              </a:rPr>
              <a:t>确保角色在 </a:t>
            </a:r>
            <a:r>
              <a:rPr lang="en-US" altLang="zh-CN" sz="1200" dirty="0">
                <a:solidFill>
                  <a:srgbClr val="475569"/>
                </a:solidFill>
                <a:latin typeface="Inter" panose="02000503000000020004"/>
              </a:rPr>
              <a:t>1</a:t>
            </a:r>
            <a:r>
              <a:rPr lang="zh-CN" altLang="en-US" sz="1200" dirty="0">
                <a:solidFill>
                  <a:srgbClr val="475569"/>
                </a:solidFill>
                <a:latin typeface="Inter" panose="02000503000000020004"/>
              </a:rPr>
              <a:t>格</a:t>
            </a:r>
            <a:r>
              <a:rPr lang="en-US" altLang="zh-CN" sz="1200" dirty="0">
                <a:solidFill>
                  <a:srgbClr val="475569"/>
                </a:solidFill>
                <a:latin typeface="Inter" panose="02000503000000020004"/>
              </a:rPr>
              <a:t>(16</a:t>
            </a:r>
            <a:r>
              <a:rPr lang="en-GB" sz="1200" dirty="0" err="1">
                <a:solidFill>
                  <a:srgbClr val="475569"/>
                </a:solidFill>
                <a:latin typeface="Inter" panose="02000503000000020004"/>
              </a:rPr>
              <a:t>px</a:t>
            </a:r>
            <a:r>
              <a:rPr lang="en-GB" sz="1200" dirty="0">
                <a:solidFill>
                  <a:srgbClr val="475569"/>
                </a:solidFill>
                <a:latin typeface="Inter" panose="02000503000000020004"/>
              </a:rPr>
              <a:t>) </a:t>
            </a:r>
            <a:r>
              <a:rPr lang="zh-CN" altLang="en-US" sz="1200" dirty="0">
                <a:solidFill>
                  <a:srgbClr val="475569"/>
                </a:solidFill>
                <a:latin typeface="Inter" panose="02000503000000020004"/>
              </a:rPr>
              <a:t>的狭窄走廊中不会因为肩部蹭墙而卡死</a:t>
            </a:r>
          </a:p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 err="1">
                <a:solidFill>
                  <a:srgbClr val="475569"/>
                </a:solidFill>
                <a:latin typeface="Inter" panose="02000503000000020004"/>
              </a:rPr>
              <a:t>qreal</a:t>
            </a:r>
            <a:r>
              <a:rPr lang="en-GB" sz="1200" dirty="0">
                <a:solidFill>
                  <a:srgbClr val="475569"/>
                </a:solidFill>
                <a:latin typeface="Inter" panose="02000503000000020004"/>
              </a:rPr>
              <a:t> </a:t>
            </a:r>
            <a:r>
              <a:rPr lang="en-GB" sz="1200" dirty="0" err="1">
                <a:solidFill>
                  <a:srgbClr val="475569"/>
                </a:solidFill>
                <a:latin typeface="Inter" panose="02000503000000020004"/>
              </a:rPr>
              <a:t>colOffsetX</a:t>
            </a:r>
            <a:r>
              <a:rPr lang="en-GB" sz="1200" dirty="0">
                <a:solidFill>
                  <a:srgbClr val="475569"/>
                </a:solidFill>
                <a:latin typeface="Inter" panose="02000503000000020004"/>
              </a:rPr>
              <a:t> = </a:t>
            </a:r>
            <a:r>
              <a:rPr lang="en-GB" sz="1200" dirty="0" err="1">
                <a:solidFill>
                  <a:srgbClr val="475569"/>
                </a:solidFill>
                <a:latin typeface="Inter" panose="02000503000000020004"/>
              </a:rPr>
              <a:t>spriteW</a:t>
            </a:r>
            <a:r>
              <a:rPr lang="en-GB" sz="1200" dirty="0">
                <a:solidFill>
                  <a:srgbClr val="475569"/>
                </a:solidFill>
                <a:latin typeface="Inter" panose="02000503000000020004"/>
              </a:rPr>
              <a:t> * 10.0 / 32.0;</a:t>
            </a:r>
          </a:p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 err="1">
                <a:solidFill>
                  <a:srgbClr val="475569"/>
                </a:solidFill>
                <a:latin typeface="Inter" panose="02000503000000020004"/>
              </a:rPr>
              <a:t>qreal</a:t>
            </a:r>
            <a:r>
              <a:rPr lang="en-GB" sz="1200" dirty="0">
                <a:solidFill>
                  <a:srgbClr val="475569"/>
                </a:solidFill>
                <a:latin typeface="Inter" panose="02000503000000020004"/>
              </a:rPr>
              <a:t> </a:t>
            </a:r>
            <a:r>
              <a:rPr lang="en-GB" sz="1200" dirty="0" err="1">
                <a:solidFill>
                  <a:srgbClr val="475569"/>
                </a:solidFill>
                <a:latin typeface="Inter" panose="02000503000000020004"/>
              </a:rPr>
              <a:t>colOffsetY</a:t>
            </a:r>
            <a:r>
              <a:rPr lang="en-GB" sz="1200" dirty="0">
                <a:solidFill>
                  <a:srgbClr val="475569"/>
                </a:solidFill>
                <a:latin typeface="Inter" panose="02000503000000020004"/>
              </a:rPr>
              <a:t> = </a:t>
            </a:r>
            <a:r>
              <a:rPr lang="en-GB" sz="1200" dirty="0" err="1">
                <a:solidFill>
                  <a:srgbClr val="475569"/>
                </a:solidFill>
                <a:latin typeface="Inter" panose="02000503000000020004"/>
              </a:rPr>
              <a:t>spriteH</a:t>
            </a:r>
            <a:r>
              <a:rPr lang="en-GB" sz="1200" dirty="0">
                <a:solidFill>
                  <a:srgbClr val="475569"/>
                </a:solidFill>
                <a:latin typeface="Inter" panose="02000503000000020004"/>
              </a:rPr>
              <a:t> * 20.0 / 32.0;</a:t>
            </a:r>
          </a:p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 err="1">
                <a:solidFill>
                  <a:srgbClr val="475569"/>
                </a:solidFill>
                <a:latin typeface="Inter" panose="02000503000000020004"/>
              </a:rPr>
              <a:t>qreal</a:t>
            </a:r>
            <a:r>
              <a:rPr lang="en-GB" sz="1200" dirty="0">
                <a:solidFill>
                  <a:srgbClr val="475569"/>
                </a:solidFill>
                <a:latin typeface="Inter" panose="02000503000000020004"/>
              </a:rPr>
              <a:t> </a:t>
            </a:r>
            <a:r>
              <a:rPr lang="en-GB" sz="1200" dirty="0" err="1">
                <a:solidFill>
                  <a:srgbClr val="475569"/>
                </a:solidFill>
                <a:latin typeface="Inter" panose="02000503000000020004"/>
              </a:rPr>
              <a:t>colWidth</a:t>
            </a:r>
            <a:r>
              <a:rPr lang="en-GB" sz="1200" dirty="0">
                <a:solidFill>
                  <a:srgbClr val="475569"/>
                </a:solidFill>
                <a:latin typeface="Inter" panose="02000503000000020004"/>
              </a:rPr>
              <a:t>   = </a:t>
            </a:r>
            <a:r>
              <a:rPr lang="en-GB" sz="1200" dirty="0" err="1">
                <a:solidFill>
                  <a:srgbClr val="475569"/>
                </a:solidFill>
                <a:latin typeface="Inter" panose="02000503000000020004"/>
              </a:rPr>
              <a:t>spriteW</a:t>
            </a:r>
            <a:r>
              <a:rPr lang="en-GB" sz="1200" dirty="0">
                <a:solidFill>
                  <a:srgbClr val="475569"/>
                </a:solidFill>
                <a:latin typeface="Inter" panose="02000503000000020004"/>
              </a:rPr>
              <a:t> * 12.0 / 32.0;</a:t>
            </a:r>
          </a:p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00" dirty="0">
                <a:solidFill>
                  <a:srgbClr val="475569"/>
                </a:solidFill>
                <a:latin typeface="Inter" panose="02000503000000020004"/>
              </a:rPr>
              <a:t>辅助函数：利用引擎提取坐标底层的四个顶点，检测是否均在 </a:t>
            </a:r>
            <a:r>
              <a:rPr lang="en-GB" sz="1200" dirty="0">
                <a:solidFill>
                  <a:srgbClr val="475569"/>
                </a:solidFill>
                <a:latin typeface="Inter" panose="02000503000000020004"/>
              </a:rPr>
              <a:t>Walkable </a:t>
            </a:r>
            <a:r>
              <a:rPr lang="zh-CN" altLang="en-US" sz="1200" dirty="0">
                <a:solidFill>
                  <a:srgbClr val="475569"/>
                </a:solidFill>
                <a:latin typeface="Inter" panose="02000503000000020004"/>
              </a:rPr>
              <a:t>网格内</a:t>
            </a:r>
          </a:p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rgbClr val="475569"/>
                </a:solidFill>
                <a:latin typeface="Inter" panose="02000503000000020004"/>
              </a:rPr>
              <a:t>auto </a:t>
            </a:r>
            <a:r>
              <a:rPr lang="en-GB" sz="1200" dirty="0" err="1">
                <a:solidFill>
                  <a:srgbClr val="475569"/>
                </a:solidFill>
                <a:latin typeface="Inter" panose="02000503000000020004"/>
              </a:rPr>
              <a:t>checkWalkable</a:t>
            </a:r>
            <a:r>
              <a:rPr lang="en-GB" sz="1200" dirty="0">
                <a:solidFill>
                  <a:srgbClr val="475569"/>
                </a:solidFill>
                <a:latin typeface="Inter" panose="02000503000000020004"/>
              </a:rPr>
              <a:t> = [&amp;](&lt;</a:t>
            </a:r>
            <a:r>
              <a:rPr lang="en-GB" sz="1200" dirty="0" err="1">
                <a:solidFill>
                  <a:srgbClr val="475569"/>
                </a:solidFill>
                <a:latin typeface="Inter" panose="02000503000000020004"/>
              </a:rPr>
              <a:t>qreal</a:t>
            </a:r>
            <a:r>
              <a:rPr lang="en-GB" sz="1200" dirty="0">
                <a:solidFill>
                  <a:srgbClr val="475569"/>
                </a:solidFill>
                <a:latin typeface="Inter" panose="02000503000000020004"/>
              </a:rPr>
              <a:t> </a:t>
            </a:r>
            <a:r>
              <a:rPr lang="en-GB" sz="1200" dirty="0" err="1">
                <a:solidFill>
                  <a:srgbClr val="475569"/>
                </a:solidFill>
                <a:latin typeface="Inter" panose="02000503000000020004"/>
              </a:rPr>
              <a:t>tx</a:t>
            </a:r>
            <a:r>
              <a:rPr lang="en-GB" sz="1200" dirty="0">
                <a:solidFill>
                  <a:srgbClr val="475569"/>
                </a:solidFill>
                <a:latin typeface="Inter" panose="02000503000000020004"/>
              </a:rPr>
              <a:t>, </a:t>
            </a:r>
            <a:r>
              <a:rPr lang="en-GB" sz="1200" dirty="0" err="1">
                <a:solidFill>
                  <a:srgbClr val="475569"/>
                </a:solidFill>
                <a:latin typeface="Inter" panose="02000503000000020004"/>
              </a:rPr>
              <a:t>qreal</a:t>
            </a:r>
            <a:r>
              <a:rPr lang="en-GB" sz="1200" dirty="0">
                <a:solidFill>
                  <a:srgbClr val="475569"/>
                </a:solidFill>
                <a:latin typeface="Inter" panose="02000503000000020004"/>
              </a:rPr>
              <a:t> ty&gt;) {</a:t>
            </a:r>
          </a:p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rgbClr val="475569"/>
                </a:solidFill>
                <a:latin typeface="Inter" panose="02000503000000020004"/>
              </a:rPr>
              <a:t>    // ... </a:t>
            </a:r>
            <a:r>
              <a:rPr lang="zh-CN" altLang="en-US" sz="1200" dirty="0">
                <a:solidFill>
                  <a:srgbClr val="475569"/>
                </a:solidFill>
                <a:latin typeface="Inter" panose="02000503000000020004"/>
              </a:rPr>
              <a:t>坐标到网格顶点的换算 </a:t>
            </a:r>
            <a:r>
              <a:rPr lang="en-US" altLang="zh-CN" sz="1200" dirty="0">
                <a:solidFill>
                  <a:srgbClr val="475569"/>
                </a:solidFill>
                <a:latin typeface="Inter" panose="02000503000000020004"/>
              </a:rPr>
              <a:t>...</a:t>
            </a:r>
          </a:p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1200" dirty="0">
                <a:solidFill>
                  <a:srgbClr val="475569"/>
                </a:solidFill>
                <a:latin typeface="Inter" panose="02000503000000020004"/>
              </a:rPr>
              <a:t>    </a:t>
            </a:r>
            <a:r>
              <a:rPr lang="en-GB" sz="1200" dirty="0">
                <a:solidFill>
                  <a:srgbClr val="475569"/>
                </a:solidFill>
                <a:latin typeface="Inter" panose="02000503000000020004"/>
              </a:rPr>
              <a:t>return </a:t>
            </a:r>
            <a:r>
              <a:rPr lang="en-GB" sz="1200" dirty="0" err="1">
                <a:solidFill>
                  <a:srgbClr val="475569"/>
                </a:solidFill>
                <a:latin typeface="Inter" panose="02000503000000020004"/>
              </a:rPr>
              <a:t>mapSys.isWalkable</a:t>
            </a:r>
            <a:r>
              <a:rPr lang="en-GB" sz="1200" dirty="0">
                <a:solidFill>
                  <a:srgbClr val="475569"/>
                </a:solidFill>
                <a:latin typeface="Inter" panose="02000503000000020004"/>
              </a:rPr>
              <a:t>(</a:t>
            </a:r>
            <a:r>
              <a:rPr lang="en-GB" sz="1200" dirty="0" err="1">
                <a:solidFill>
                  <a:srgbClr val="475569"/>
                </a:solidFill>
                <a:latin typeface="Inter" panose="02000503000000020004"/>
              </a:rPr>
              <a:t>tlX</a:t>
            </a:r>
            <a:r>
              <a:rPr lang="en-GB" sz="1200" dirty="0">
                <a:solidFill>
                  <a:srgbClr val="475569"/>
                </a:solidFill>
                <a:latin typeface="Inter" panose="02000503000000020004"/>
              </a:rPr>
              <a:t>, </a:t>
            </a:r>
            <a:r>
              <a:rPr lang="en-GB" sz="1200" dirty="0" err="1">
                <a:solidFill>
                  <a:srgbClr val="475569"/>
                </a:solidFill>
                <a:latin typeface="Inter" panose="02000503000000020004"/>
              </a:rPr>
              <a:t>tlY</a:t>
            </a:r>
            <a:r>
              <a:rPr lang="en-GB" sz="1200" dirty="0">
                <a:solidFill>
                  <a:srgbClr val="475569"/>
                </a:solidFill>
                <a:latin typeface="Inter" panose="02000503000000020004"/>
              </a:rPr>
              <a:t>) &amp;&amp; </a:t>
            </a:r>
            <a:r>
              <a:rPr lang="en-GB" sz="1200" dirty="0" err="1">
                <a:solidFill>
                  <a:srgbClr val="475569"/>
                </a:solidFill>
                <a:latin typeface="Inter" panose="02000503000000020004"/>
              </a:rPr>
              <a:t>mapSys.isWalkable</a:t>
            </a:r>
            <a:r>
              <a:rPr lang="en-GB" sz="1200" dirty="0">
                <a:solidFill>
                  <a:srgbClr val="475569"/>
                </a:solidFill>
                <a:latin typeface="Inter" panose="02000503000000020004"/>
              </a:rPr>
              <a:t>(</a:t>
            </a:r>
            <a:r>
              <a:rPr lang="en-GB" sz="1200" dirty="0" err="1">
                <a:solidFill>
                  <a:srgbClr val="475569"/>
                </a:solidFill>
                <a:latin typeface="Inter" panose="02000503000000020004"/>
              </a:rPr>
              <a:t>brX</a:t>
            </a:r>
            <a:r>
              <a:rPr lang="en-GB" sz="1200" dirty="0">
                <a:solidFill>
                  <a:srgbClr val="475569"/>
                </a:solidFill>
                <a:latin typeface="Inter" panose="02000503000000020004"/>
              </a:rPr>
              <a:t>, </a:t>
            </a:r>
            <a:r>
              <a:rPr lang="en-GB" sz="1200" dirty="0" err="1">
                <a:solidFill>
                  <a:srgbClr val="475569"/>
                </a:solidFill>
                <a:latin typeface="Inter" panose="02000503000000020004"/>
              </a:rPr>
              <a:t>brY</a:t>
            </a:r>
            <a:r>
              <a:rPr lang="en-GB" sz="1200" dirty="0">
                <a:solidFill>
                  <a:srgbClr val="475569"/>
                </a:solidFill>
                <a:latin typeface="Inter" panose="02000503000000020004"/>
              </a:rPr>
              <a:t>);</a:t>
            </a:r>
          </a:p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rgbClr val="475569"/>
                </a:solidFill>
                <a:latin typeface="Inter" panose="02000503000000020004"/>
              </a:rPr>
              <a:t>};</a:t>
            </a:r>
          </a:p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solidFill>
                <a:srgbClr val="475569"/>
              </a:solidFill>
              <a:latin typeface="Inter" panose="02000503000000020004"/>
            </a:endParaRPr>
          </a:p>
        </p:txBody>
      </p:sp>
      <p:pic>
        <p:nvPicPr>
          <p:cNvPr id="3" name="图片 2" descr="图片包含 表格&#10;&#10;AI 生成的内容可能不正确。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9215" y="390392"/>
            <a:ext cx="4916798" cy="3561191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6266815" y="4428490"/>
            <a:ext cx="5093335" cy="21570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dirty="0">
                <a:solidFill>
                  <a:srgbClr val="475569"/>
                </a:solidFill>
                <a:latin typeface="Inter" panose="02000503000000020004"/>
                <a:sym typeface="+mn-ea"/>
              </a:rPr>
              <a:t>分轴独立判定：实现贴墙时顺滑溜边，彻底解决越界与卡死 </a:t>
            </a:r>
            <a:r>
              <a:rPr lang="en-GB" dirty="0">
                <a:solidFill>
                  <a:srgbClr val="475569"/>
                </a:solidFill>
                <a:latin typeface="Inter" panose="02000503000000020004"/>
                <a:sym typeface="+mn-ea"/>
              </a:rPr>
              <a:t>Bug</a:t>
            </a:r>
            <a:endParaRPr lang="en-GB" dirty="0">
              <a:solidFill>
                <a:srgbClr val="475569"/>
              </a:solidFill>
              <a:latin typeface="Inter" panose="02000503000000020004"/>
            </a:endParaRPr>
          </a:p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475569"/>
                </a:solidFill>
                <a:latin typeface="Inter" panose="02000503000000020004"/>
                <a:sym typeface="+mn-ea"/>
              </a:rPr>
              <a:t>if (</a:t>
            </a:r>
            <a:r>
              <a:rPr lang="en-GB" dirty="0" err="1">
                <a:solidFill>
                  <a:srgbClr val="475569"/>
                </a:solidFill>
                <a:latin typeface="Inter" panose="02000503000000020004"/>
                <a:sym typeface="+mn-ea"/>
              </a:rPr>
              <a:t>nextX</a:t>
            </a:r>
            <a:r>
              <a:rPr lang="en-GB" dirty="0">
                <a:solidFill>
                  <a:srgbClr val="475569"/>
                </a:solidFill>
                <a:latin typeface="Inter" panose="02000503000000020004"/>
                <a:sym typeface="+mn-ea"/>
              </a:rPr>
              <a:t> != player-&gt;x() &amp;&amp; </a:t>
            </a:r>
            <a:r>
              <a:rPr lang="en-GB" dirty="0" err="1">
                <a:solidFill>
                  <a:srgbClr val="475569"/>
                </a:solidFill>
                <a:latin typeface="Inter" panose="02000503000000020004"/>
                <a:sym typeface="+mn-ea"/>
              </a:rPr>
              <a:t>checkWalkable</a:t>
            </a:r>
            <a:r>
              <a:rPr lang="en-GB" dirty="0">
                <a:solidFill>
                  <a:srgbClr val="475569"/>
                </a:solidFill>
                <a:latin typeface="Inter" panose="02000503000000020004"/>
                <a:sym typeface="+mn-ea"/>
              </a:rPr>
              <a:t>(</a:t>
            </a:r>
            <a:r>
              <a:rPr lang="en-GB" dirty="0" err="1">
                <a:solidFill>
                  <a:srgbClr val="475569"/>
                </a:solidFill>
                <a:latin typeface="Inter" panose="02000503000000020004"/>
                <a:sym typeface="+mn-ea"/>
              </a:rPr>
              <a:t>nextX</a:t>
            </a:r>
            <a:r>
              <a:rPr lang="en-GB" dirty="0">
                <a:solidFill>
                  <a:srgbClr val="475569"/>
                </a:solidFill>
                <a:latin typeface="Inter" panose="02000503000000020004"/>
                <a:sym typeface="+mn-ea"/>
              </a:rPr>
              <a:t>, player-&gt;y())) </a:t>
            </a:r>
            <a:r>
              <a:rPr lang="en-GB" dirty="0" err="1">
                <a:solidFill>
                  <a:srgbClr val="475569"/>
                </a:solidFill>
                <a:latin typeface="Inter" panose="02000503000000020004"/>
                <a:sym typeface="+mn-ea"/>
              </a:rPr>
              <a:t>finalX</a:t>
            </a:r>
            <a:r>
              <a:rPr lang="en-GB" dirty="0">
                <a:solidFill>
                  <a:srgbClr val="475569"/>
                </a:solidFill>
                <a:latin typeface="Inter" panose="02000503000000020004"/>
                <a:sym typeface="+mn-ea"/>
              </a:rPr>
              <a:t> = </a:t>
            </a:r>
            <a:r>
              <a:rPr lang="en-GB" dirty="0" err="1">
                <a:solidFill>
                  <a:srgbClr val="475569"/>
                </a:solidFill>
                <a:latin typeface="Inter" panose="02000503000000020004"/>
                <a:sym typeface="+mn-ea"/>
              </a:rPr>
              <a:t>nextX</a:t>
            </a:r>
            <a:r>
              <a:rPr lang="en-GB" dirty="0">
                <a:solidFill>
                  <a:srgbClr val="475569"/>
                </a:solidFill>
                <a:latin typeface="Inter" panose="02000503000000020004"/>
                <a:sym typeface="+mn-ea"/>
              </a:rPr>
              <a:t>;</a:t>
            </a:r>
            <a:endParaRPr lang="en-GB" dirty="0">
              <a:solidFill>
                <a:srgbClr val="475569"/>
              </a:solidFill>
              <a:latin typeface="Inter" panose="02000503000000020004"/>
            </a:endParaRPr>
          </a:p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475569"/>
                </a:solidFill>
                <a:latin typeface="Inter" panose="02000503000000020004"/>
                <a:sym typeface="+mn-ea"/>
              </a:rPr>
              <a:t>if (</a:t>
            </a:r>
            <a:r>
              <a:rPr lang="en-GB" dirty="0" err="1">
                <a:solidFill>
                  <a:srgbClr val="475569"/>
                </a:solidFill>
                <a:latin typeface="Inter" panose="02000503000000020004"/>
                <a:sym typeface="+mn-ea"/>
              </a:rPr>
              <a:t>nextY</a:t>
            </a:r>
            <a:r>
              <a:rPr lang="en-GB" dirty="0">
                <a:solidFill>
                  <a:srgbClr val="475569"/>
                </a:solidFill>
                <a:latin typeface="Inter" panose="02000503000000020004"/>
                <a:sym typeface="+mn-ea"/>
              </a:rPr>
              <a:t> != player-&gt;y() &amp;&amp; </a:t>
            </a:r>
            <a:r>
              <a:rPr lang="en-GB" dirty="0" err="1">
                <a:solidFill>
                  <a:srgbClr val="475569"/>
                </a:solidFill>
                <a:latin typeface="Inter" panose="02000503000000020004"/>
                <a:sym typeface="+mn-ea"/>
              </a:rPr>
              <a:t>checkWalkable</a:t>
            </a:r>
            <a:r>
              <a:rPr lang="en-GB" dirty="0">
                <a:solidFill>
                  <a:srgbClr val="475569"/>
                </a:solidFill>
                <a:latin typeface="Inter" panose="02000503000000020004"/>
                <a:sym typeface="+mn-ea"/>
              </a:rPr>
              <a:t>(</a:t>
            </a:r>
            <a:r>
              <a:rPr lang="en-GB" dirty="0" err="1">
                <a:solidFill>
                  <a:srgbClr val="475569"/>
                </a:solidFill>
                <a:latin typeface="Inter" panose="02000503000000020004"/>
                <a:sym typeface="+mn-ea"/>
              </a:rPr>
              <a:t>finalX</a:t>
            </a:r>
            <a:r>
              <a:rPr lang="en-GB" dirty="0">
                <a:solidFill>
                  <a:srgbClr val="475569"/>
                </a:solidFill>
                <a:latin typeface="Inter" panose="02000503000000020004"/>
                <a:sym typeface="+mn-ea"/>
              </a:rPr>
              <a:t>, </a:t>
            </a:r>
            <a:r>
              <a:rPr lang="en-GB" dirty="0" err="1">
                <a:solidFill>
                  <a:srgbClr val="475569"/>
                </a:solidFill>
                <a:latin typeface="Inter" panose="02000503000000020004"/>
                <a:sym typeface="+mn-ea"/>
              </a:rPr>
              <a:t>nextY</a:t>
            </a:r>
            <a:r>
              <a:rPr lang="en-GB" dirty="0">
                <a:solidFill>
                  <a:srgbClr val="475569"/>
                </a:solidFill>
                <a:latin typeface="Inter" panose="02000503000000020004"/>
                <a:sym typeface="+mn-ea"/>
              </a:rPr>
              <a:t>)) </a:t>
            </a:r>
            <a:r>
              <a:rPr lang="en-GB" dirty="0" err="1">
                <a:solidFill>
                  <a:srgbClr val="475569"/>
                </a:solidFill>
                <a:latin typeface="Inter" panose="02000503000000020004"/>
                <a:sym typeface="+mn-ea"/>
              </a:rPr>
              <a:t>finalY</a:t>
            </a:r>
            <a:r>
              <a:rPr lang="en-GB" dirty="0">
                <a:solidFill>
                  <a:srgbClr val="475569"/>
                </a:solidFill>
                <a:latin typeface="Inter" panose="02000503000000020004"/>
                <a:sym typeface="+mn-ea"/>
              </a:rPr>
              <a:t> = </a:t>
            </a:r>
            <a:r>
              <a:rPr lang="en-GB" dirty="0" err="1">
                <a:solidFill>
                  <a:srgbClr val="475569"/>
                </a:solidFill>
                <a:latin typeface="Inter" panose="02000503000000020004"/>
                <a:sym typeface="+mn-ea"/>
              </a:rPr>
              <a:t>nextY</a:t>
            </a:r>
            <a:r>
              <a:rPr lang="en-GB" dirty="0">
                <a:solidFill>
                  <a:srgbClr val="475569"/>
                </a:solidFill>
                <a:latin typeface="Inter" panose="02000503000000020004"/>
                <a:sym typeface="+mn-ea"/>
              </a:rPr>
              <a:t>;</a:t>
            </a:r>
            <a:endParaRPr lang="zh-CN" altLang="en-U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9" name="Google Shape;169;p18" descr="image.png"/>
          <p:cNvPicPr preferRelativeResize="0"/>
          <p:nvPr>
            <p:custDataLst>
              <p:tags r:id="rId1"/>
            </p:custDataLst>
          </p:nvPr>
        </p:nvPicPr>
        <p:blipFill rotWithShape="1">
          <a:blip r:embed="rId15"/>
          <a:srcRect/>
          <a:stretch>
            <a:fillRect/>
          </a:stretch>
        </p:blipFill>
        <p:spPr>
          <a:xfrm>
            <a:off x="571500" y="1472505"/>
            <a:ext cx="3524250" cy="31364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70" name="Google Shape;170;p18" descr="image.png"/>
          <p:cNvPicPr preferRelativeResize="0"/>
          <p:nvPr>
            <p:custDataLst>
              <p:tags r:id="rId2"/>
            </p:custDataLst>
          </p:nvPr>
        </p:nvPicPr>
        <p:blipFill rotWithShape="1">
          <a:blip r:embed="rId16"/>
          <a:srcRect/>
          <a:stretch>
            <a:fillRect/>
          </a:stretch>
        </p:blipFill>
        <p:spPr>
          <a:xfrm>
            <a:off x="4333875" y="1472505"/>
            <a:ext cx="3524250" cy="31364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71" name="Google Shape;171;p18" descr="image.png"/>
          <p:cNvPicPr preferRelativeResize="0"/>
          <p:nvPr>
            <p:custDataLst>
              <p:tags r:id="rId3"/>
            </p:custDataLst>
          </p:nvPr>
        </p:nvPicPr>
        <p:blipFill rotWithShape="1">
          <a:blip r:embed="rId17"/>
          <a:srcRect/>
          <a:stretch>
            <a:fillRect/>
          </a:stretch>
        </p:blipFill>
        <p:spPr>
          <a:xfrm>
            <a:off x="8096250" y="1472505"/>
            <a:ext cx="3524250" cy="3136403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18"/>
          <p:cNvSpPr txBox="1"/>
          <p:nvPr/>
        </p:nvSpPr>
        <p:spPr>
          <a:xfrm>
            <a:off x="714375" y="476250"/>
            <a:ext cx="11451431" cy="434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1" i="0" u="none" strike="noStrike" cap="none">
                <a:solidFill>
                  <a:srgbClr val="1E40A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动态时钟驱动的校园环境</a:t>
            </a:r>
          </a:p>
        </p:txBody>
      </p:sp>
      <p:sp>
        <p:nvSpPr>
          <p:cNvPr id="173" name="Google Shape;173;p18"/>
          <p:cNvSpPr/>
          <p:nvPr/>
        </p:nvSpPr>
        <p:spPr>
          <a:xfrm>
            <a:off x="571500" y="476250"/>
            <a:ext cx="57150" cy="43428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74" name="Google Shape;174;p18"/>
          <p:cNvSpPr txBox="1"/>
          <p:nvPr/>
        </p:nvSpPr>
        <p:spPr>
          <a:xfrm>
            <a:off x="771525" y="967680"/>
            <a:ext cx="10848975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0891B2"/>
                </a:solidFill>
                <a:latin typeface="JetBrains Mono Medium" panose="02000009000000000000"/>
                <a:ea typeface="JetBrains Mono Medium" panose="02000009000000000000"/>
                <a:cs typeface="JetBrains Mono Medium" panose="02000009000000000000"/>
                <a:sym typeface="JetBrains Mono Medium" panose="02000009000000000000"/>
              </a:rPr>
              <a:t>TIME TICK ENGINE &amp; DAY-NIGHT SYSTEMS</a:t>
            </a:r>
          </a:p>
        </p:txBody>
      </p:sp>
      <p:sp>
        <p:nvSpPr>
          <p:cNvPr id="175" name="Google Shape;175;p18"/>
          <p:cNvSpPr/>
          <p:nvPr/>
        </p:nvSpPr>
        <p:spPr>
          <a:xfrm>
            <a:off x="581025" y="3021657"/>
            <a:ext cx="3505200" cy="3810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76" name="Google Shape;176;p18"/>
          <p:cNvSpPr txBox="1"/>
          <p:nvPr>
            <p:custDataLst>
              <p:tags r:id="rId4"/>
            </p:custDataLst>
          </p:nvPr>
        </p:nvSpPr>
        <p:spPr>
          <a:xfrm>
            <a:off x="819150" y="2282130"/>
            <a:ext cx="3180397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1E40A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时钟驱动引擎</a:t>
            </a:r>
          </a:p>
        </p:txBody>
      </p:sp>
      <p:sp>
        <p:nvSpPr>
          <p:cNvPr id="177" name="Google Shape;177;p18"/>
          <p:cNvSpPr txBox="1"/>
          <p:nvPr>
            <p:custDataLst>
              <p:tags r:id="rId5"/>
            </p:custDataLst>
          </p:nvPr>
        </p:nvSpPr>
        <p:spPr>
          <a:xfrm>
            <a:off x="819150" y="2682180"/>
            <a:ext cx="3028950" cy="157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 dirty="0" err="1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采用高性能独立后台进程控制游戏时间的流转，精准划分早、晚两个核心战略阶段，为全天候任务逻辑提供确定性时钟源</a:t>
            </a:r>
            <a:r>
              <a:rPr lang="en-US" sz="1600" b="0" i="0" u="none" strike="noStrike" cap="none" dirty="0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。</a:t>
            </a:r>
            <a:endParaRPr sz="1600" dirty="0"/>
          </a:p>
        </p:txBody>
      </p:sp>
      <p:sp>
        <p:nvSpPr>
          <p:cNvPr id="178" name="Google Shape;178;p18"/>
          <p:cNvSpPr/>
          <p:nvPr/>
        </p:nvSpPr>
        <p:spPr>
          <a:xfrm>
            <a:off x="4343400" y="3021657"/>
            <a:ext cx="3505200" cy="3810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79" name="Google Shape;179;p18"/>
          <p:cNvSpPr txBox="1"/>
          <p:nvPr>
            <p:custDataLst>
              <p:tags r:id="rId6"/>
            </p:custDataLst>
          </p:nvPr>
        </p:nvSpPr>
        <p:spPr>
          <a:xfrm>
            <a:off x="4581525" y="2282130"/>
            <a:ext cx="3180397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1E40A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日间小卖部</a:t>
            </a:r>
          </a:p>
        </p:txBody>
      </p:sp>
      <p:sp>
        <p:nvSpPr>
          <p:cNvPr id="180" name="Google Shape;180;p18"/>
          <p:cNvSpPr txBox="1"/>
          <p:nvPr>
            <p:custDataLst>
              <p:tags r:id="rId7"/>
            </p:custDataLst>
          </p:nvPr>
        </p:nvSpPr>
        <p:spPr>
          <a:xfrm>
            <a:off x="4581525" y="2682180"/>
            <a:ext cx="3028950" cy="157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 dirty="0" err="1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提供合规的补血、强化道具与常规装备购买通道。玩家可在日间整理行囊，通过合理的金币消费规划后续行动</a:t>
            </a:r>
            <a:r>
              <a:rPr lang="en-US" sz="1600" b="0" i="0" u="none" strike="noStrike" cap="none" dirty="0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。</a:t>
            </a:r>
            <a:endParaRPr sz="1600" dirty="0"/>
          </a:p>
        </p:txBody>
      </p:sp>
      <p:sp>
        <p:nvSpPr>
          <p:cNvPr id="181" name="Google Shape;181;p18"/>
          <p:cNvSpPr/>
          <p:nvPr/>
        </p:nvSpPr>
        <p:spPr>
          <a:xfrm>
            <a:off x="8105775" y="3021657"/>
            <a:ext cx="3505200" cy="3810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82" name="Google Shape;182;p18"/>
          <p:cNvSpPr txBox="1"/>
          <p:nvPr>
            <p:custDataLst>
              <p:tags r:id="rId8"/>
            </p:custDataLst>
          </p:nvPr>
        </p:nvSpPr>
        <p:spPr>
          <a:xfrm>
            <a:off x="8343900" y="2282130"/>
            <a:ext cx="3180397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 err="1">
                <a:solidFill>
                  <a:srgbClr val="1E40A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深夜秘密黑市</a:t>
            </a:r>
            <a:endParaRPr dirty="0"/>
          </a:p>
        </p:txBody>
      </p:sp>
      <p:sp>
        <p:nvSpPr>
          <p:cNvPr id="183" name="Google Shape;183;p18"/>
          <p:cNvSpPr txBox="1"/>
          <p:nvPr>
            <p:custDataLst>
              <p:tags r:id="rId9"/>
            </p:custDataLst>
          </p:nvPr>
        </p:nvSpPr>
        <p:spPr>
          <a:xfrm>
            <a:off x="8343900" y="2682180"/>
            <a:ext cx="3028950" cy="17214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b="0" i="0" u="none" strike="noStrike" cap="none" dirty="0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触发极高性价比的珍贵黑市交易。额外添加“跨时段强制驱逐”安全防线，当后台时钟跨越临界点时，系统会自动重置玩家的商店挂机状态，彻底杜绝状态机串线与跨场景穿模的恶性 </a:t>
            </a:r>
            <a:r>
              <a:rPr lang="en-GB" altLang="zh-CN" b="0" i="0" u="none" strike="noStrike" cap="none" dirty="0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Bug</a:t>
            </a:r>
            <a:r>
              <a:rPr lang="zh-CN" altLang="en-GB" b="0" i="0" u="none" strike="noStrike" cap="none" dirty="0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。</a:t>
            </a:r>
            <a:endParaRPr lang="zh-CN" altLang="en-US" dirty="0"/>
          </a:p>
        </p:txBody>
      </p:sp>
      <p:pic>
        <p:nvPicPr>
          <p:cNvPr id="184" name="Google Shape;184;p18" descr="image.png"/>
          <p:cNvPicPr preferRelativeResize="0"/>
          <p:nvPr/>
        </p:nvPicPr>
        <p:blipFill rotWithShape="1">
          <a:blip r:embed="rId18"/>
          <a:srcRect/>
          <a:stretch>
            <a:fillRect/>
          </a:stretch>
        </p:blipFill>
        <p:spPr>
          <a:xfrm>
            <a:off x="571500" y="5171440"/>
            <a:ext cx="247650" cy="251460"/>
          </a:xfrm>
          <a:prstGeom prst="rect">
            <a:avLst/>
          </a:prstGeom>
          <a:noFill/>
          <a:ln>
            <a:noFill/>
          </a:ln>
        </p:spPr>
      </p:pic>
      <p:sp>
        <p:nvSpPr>
          <p:cNvPr id="185" name="Google Shape;185;p18"/>
          <p:cNvSpPr txBox="1"/>
          <p:nvPr/>
        </p:nvSpPr>
        <p:spPr>
          <a:xfrm>
            <a:off x="968375" y="5171440"/>
            <a:ext cx="9417050" cy="6153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>
                <a:solidFill>
                  <a:srgbClr val="1E40A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底层防冲突</a:t>
            </a:r>
            <a:r>
              <a:rPr lang="zh-CN" altLang="en-US" sz="2000" b="1" i="0" u="none" strike="noStrike" cap="none">
                <a:solidFill>
                  <a:srgbClr val="1E40A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通过状态模式实现多线程隔离，避免高并发读写时时钟数据异常导致的线程死锁及状态乱序。</a:t>
            </a:r>
            <a:endParaRPr lang="en-US" sz="2000" b="1" i="0" u="none" strike="noStrike" cap="none">
              <a:solidFill>
                <a:srgbClr val="1E40AF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pic>
        <p:nvPicPr>
          <p:cNvPr id="186" name="Google Shape;186;p18" descr="image.png"/>
          <p:cNvPicPr preferRelativeResize="0"/>
          <p:nvPr>
            <p:custDataLst>
              <p:tags r:id="rId10"/>
            </p:custDataLst>
          </p:nvPr>
        </p:nvPicPr>
        <p:blipFill rotWithShape="1">
          <a:blip r:embed="rId19"/>
          <a:srcRect/>
          <a:stretch>
            <a:fillRect/>
          </a:stretch>
        </p:blipFill>
        <p:spPr>
          <a:xfrm>
            <a:off x="819150" y="1748730"/>
            <a:ext cx="304800" cy="304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7" name="Google Shape;187;p18" descr="image.png"/>
          <p:cNvPicPr preferRelativeResize="0"/>
          <p:nvPr>
            <p:custDataLst>
              <p:tags r:id="rId11"/>
            </p:custDataLst>
          </p:nvPr>
        </p:nvPicPr>
        <p:blipFill rotWithShape="1">
          <a:blip r:embed="rId20"/>
          <a:srcRect/>
          <a:stretch>
            <a:fillRect/>
          </a:stretch>
        </p:blipFill>
        <p:spPr>
          <a:xfrm>
            <a:off x="4581525" y="1748730"/>
            <a:ext cx="304800" cy="304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8" name="Google Shape;188;p18" descr="image.png"/>
          <p:cNvPicPr preferRelativeResize="0"/>
          <p:nvPr>
            <p:custDataLst>
              <p:tags r:id="rId12"/>
            </p:custDataLst>
          </p:nvPr>
        </p:nvPicPr>
        <p:blipFill rotWithShape="1">
          <a:blip r:embed="rId21"/>
          <a:srcRect/>
          <a:stretch>
            <a:fillRect/>
          </a:stretch>
        </p:blipFill>
        <p:spPr>
          <a:xfrm>
            <a:off x="8343900" y="1748730"/>
            <a:ext cx="228600" cy="30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3" name="Google Shape;193;p19" descr="image.png"/>
          <p:cNvPicPr preferRelativeResize="0"/>
          <p:nvPr/>
        </p:nvPicPr>
        <p:blipFill rotWithShape="1">
          <a:blip r:embed="rId13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4" name="Google Shape;194;p19" descr="image.png"/>
          <p:cNvPicPr preferRelativeResize="0"/>
          <p:nvPr>
            <p:custDataLst>
              <p:tags r:id="rId1"/>
            </p:custDataLst>
          </p:nvPr>
        </p:nvPicPr>
        <p:blipFill rotWithShape="1">
          <a:blip r:embed="rId14"/>
          <a:srcRect/>
          <a:stretch>
            <a:fillRect/>
          </a:stretch>
        </p:blipFill>
        <p:spPr>
          <a:xfrm>
            <a:off x="571500" y="1472505"/>
            <a:ext cx="5334000" cy="4909244"/>
          </a:xfrm>
          <a:prstGeom prst="rect">
            <a:avLst/>
          </a:prstGeom>
          <a:noFill/>
          <a:ln>
            <a:noFill/>
          </a:ln>
        </p:spPr>
      </p:pic>
      <p:pic>
        <p:nvPicPr>
          <p:cNvPr id="195" name="Google Shape;195;p19" descr="image.png"/>
          <p:cNvPicPr preferRelativeResize="0"/>
          <p:nvPr>
            <p:custDataLst>
              <p:tags r:id="rId2"/>
            </p:custDataLst>
          </p:nvPr>
        </p:nvPicPr>
        <p:blipFill rotWithShape="1">
          <a:blip r:embed="rId15"/>
          <a:srcRect/>
          <a:stretch>
            <a:fillRect/>
          </a:stretch>
        </p:blipFill>
        <p:spPr>
          <a:xfrm>
            <a:off x="6286500" y="1472505"/>
            <a:ext cx="5334000" cy="4909244"/>
          </a:xfrm>
          <a:prstGeom prst="rect">
            <a:avLst/>
          </a:prstGeom>
          <a:noFill/>
          <a:ln>
            <a:noFill/>
          </a:ln>
        </p:spPr>
      </p:pic>
      <p:sp>
        <p:nvSpPr>
          <p:cNvPr id="196" name="Google Shape;196;p19"/>
          <p:cNvSpPr txBox="1"/>
          <p:nvPr/>
        </p:nvSpPr>
        <p:spPr>
          <a:xfrm>
            <a:off x="714375" y="476250"/>
            <a:ext cx="11451431" cy="434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1" i="0" u="none" strike="noStrike" cap="none" dirty="0" err="1">
                <a:solidFill>
                  <a:srgbClr val="1E40A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面向对象：角色与背包系统</a:t>
            </a:r>
            <a:endParaRPr dirty="0"/>
          </a:p>
        </p:txBody>
      </p:sp>
      <p:sp>
        <p:nvSpPr>
          <p:cNvPr id="197" name="Google Shape;197;p19"/>
          <p:cNvSpPr/>
          <p:nvPr/>
        </p:nvSpPr>
        <p:spPr>
          <a:xfrm>
            <a:off x="571500" y="476250"/>
            <a:ext cx="57150" cy="43428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98" name="Google Shape;198;p19"/>
          <p:cNvSpPr txBox="1"/>
          <p:nvPr/>
        </p:nvSpPr>
        <p:spPr>
          <a:xfrm>
            <a:off x="771525" y="967680"/>
            <a:ext cx="10848975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0891B2"/>
                </a:solidFill>
                <a:latin typeface="JetBrains Mono Medium" panose="02000009000000000000"/>
                <a:ea typeface="JetBrains Mono Medium" panose="02000009000000000000"/>
                <a:cs typeface="JetBrains Mono Medium" panose="02000009000000000000"/>
                <a:sym typeface="JetBrains Mono Medium" panose="02000009000000000000"/>
              </a:rPr>
              <a:t>OOP BEST PRACTICES: INHERITANCE AND POLYMORPHISM</a:t>
            </a:r>
          </a:p>
        </p:txBody>
      </p:sp>
      <p:sp>
        <p:nvSpPr>
          <p:cNvPr id="199" name="Google Shape;199;p19"/>
          <p:cNvSpPr txBox="1"/>
          <p:nvPr>
            <p:custDataLst>
              <p:tags r:id="rId3"/>
            </p:custDataLst>
          </p:nvPr>
        </p:nvSpPr>
        <p:spPr>
          <a:xfrm>
            <a:off x="1247775" y="1767780"/>
            <a:ext cx="4580572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1E40A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角色属性高度封装</a:t>
            </a:r>
          </a:p>
        </p:txBody>
      </p:sp>
      <p:sp>
        <p:nvSpPr>
          <p:cNvPr id="200" name="Google Shape;200;p19"/>
          <p:cNvSpPr txBox="1"/>
          <p:nvPr>
            <p:custDataLst>
              <p:tags r:id="rId4"/>
            </p:custDataLst>
          </p:nvPr>
        </p:nvSpPr>
        <p:spPr>
          <a:xfrm>
            <a:off x="866775" y="5073763"/>
            <a:ext cx="4743450" cy="9594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 dirty="0" err="1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抽象统一的</a:t>
            </a:r>
            <a:r>
              <a:rPr lang="en-US" sz="1300" b="0" i="0" u="none" strike="noStrike" cap="none" dirty="0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 Character </a:t>
            </a:r>
            <a:r>
              <a:rPr lang="en-US" sz="1300" b="0" i="0" u="none" strike="noStrike" cap="none" dirty="0" err="1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实体类，集成生命值（HP</a:t>
            </a:r>
            <a:r>
              <a:rPr lang="en-US" sz="1300" b="0" i="0" u="none" strike="noStrike" cap="none" dirty="0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）、</a:t>
            </a:r>
            <a:r>
              <a:rPr lang="en-US" sz="1300" b="0" i="0" u="none" strike="noStrike" cap="none" dirty="0" err="1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攻击力（ATK</a:t>
            </a:r>
            <a:r>
              <a:rPr lang="en-US" sz="1300" b="0" i="0" u="none" strike="noStrike" cap="none" dirty="0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）、</a:t>
            </a:r>
            <a:r>
              <a:rPr lang="en-US" sz="1300" b="0" i="0" u="none" strike="noStrike" cap="none" dirty="0" err="1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精力与防御等丰富属性，并在内部进行属性值变动安全阈值的边界限制，向外只暴露纯净的</a:t>
            </a:r>
            <a:r>
              <a:rPr lang="en-US" sz="1300" b="0" i="0" u="none" strike="noStrike" cap="none" dirty="0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 API </a:t>
            </a:r>
            <a:r>
              <a:rPr lang="en-US" sz="1300" b="0" i="0" u="none" strike="noStrike" cap="none" dirty="0" err="1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接口</a:t>
            </a:r>
            <a:r>
              <a:rPr lang="en-US" sz="1300" b="0" i="0" u="none" strike="noStrike" cap="none" dirty="0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。</a:t>
            </a:r>
            <a:endParaRPr sz="1300" dirty="0"/>
          </a:p>
        </p:txBody>
      </p:sp>
      <p:sp>
        <p:nvSpPr>
          <p:cNvPr id="201" name="Google Shape;201;p19"/>
          <p:cNvSpPr txBox="1"/>
          <p:nvPr>
            <p:custDataLst>
              <p:tags r:id="rId5"/>
            </p:custDataLst>
          </p:nvPr>
        </p:nvSpPr>
        <p:spPr>
          <a:xfrm>
            <a:off x="6905625" y="1767780"/>
            <a:ext cx="464058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1E40A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继承与多态的实战典范</a:t>
            </a:r>
          </a:p>
        </p:txBody>
      </p:sp>
      <p:sp>
        <p:nvSpPr>
          <p:cNvPr id="202" name="Google Shape;202;p19"/>
          <p:cNvSpPr txBox="1"/>
          <p:nvPr>
            <p:custDataLst>
              <p:tags r:id="rId6"/>
            </p:custDataLst>
          </p:nvPr>
        </p:nvSpPr>
        <p:spPr>
          <a:xfrm>
            <a:off x="6581775" y="5071664"/>
            <a:ext cx="4743450" cy="1279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 dirty="0" err="1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构建抽象基类</a:t>
            </a:r>
            <a:r>
              <a:rPr lang="en-US" sz="1300" b="0" i="0" u="none" strike="noStrike" cap="none" dirty="0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 </a:t>
            </a:r>
            <a:r>
              <a:rPr lang="en-US" sz="1300" b="0" i="0" u="none" strike="noStrike" cap="none" dirty="0" err="1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Item，衍生派生出食物</a:t>
            </a:r>
            <a:r>
              <a:rPr lang="zh-CN" altLang="en-US" sz="1300" b="0" i="0" u="none" strike="noStrike" cap="none" dirty="0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，装备</a:t>
            </a:r>
            <a:r>
              <a:rPr lang="en-US" sz="1300" b="0" i="0" u="none" strike="noStrike" cap="none" dirty="0" err="1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等。背包统一采用</a:t>
            </a:r>
            <a:r>
              <a:rPr lang="en-US" sz="1300" b="0" i="0" u="none" strike="noStrike" cap="none" dirty="0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 std::vector </a:t>
            </a:r>
            <a:r>
              <a:rPr lang="en-US" sz="1300" b="0" i="0" u="none" strike="noStrike" cap="none" dirty="0" err="1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管理，在玩家使用特定道具时利用虚函数机制</a:t>
            </a:r>
            <a:r>
              <a:rPr lang="zh-CN" altLang="en-US" sz="1300" b="0" i="0" u="none" strike="noStrike" cap="none" dirty="0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，</a:t>
            </a:r>
            <a:r>
              <a:rPr lang="en-US" sz="1300" b="0" i="0" u="none" strike="noStrike" cap="none" dirty="0" err="1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在运行期动态判定具体的属性变更效果，极大精简了条件分支判断代码</a:t>
            </a:r>
            <a:r>
              <a:rPr lang="en-US" sz="1300" b="0" i="0" u="none" strike="noStrike" cap="none" dirty="0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。</a:t>
            </a:r>
            <a:endParaRPr sz="1300" dirty="0"/>
          </a:p>
        </p:txBody>
      </p:sp>
      <p:pic>
        <p:nvPicPr>
          <p:cNvPr id="203" name="Google Shape;203;p19" descr="image.png"/>
          <p:cNvPicPr preferRelativeResize="0"/>
          <p:nvPr>
            <p:custDataLst>
              <p:tags r:id="rId7"/>
            </p:custDataLst>
          </p:nvPr>
        </p:nvPicPr>
        <p:blipFill rotWithShape="1">
          <a:blip r:embed="rId16"/>
          <a:srcRect/>
          <a:stretch>
            <a:fillRect/>
          </a:stretch>
        </p:blipFill>
        <p:spPr>
          <a:xfrm>
            <a:off x="866775" y="1805880"/>
            <a:ext cx="285750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4" name="Google Shape;204;p19" descr="image.png"/>
          <p:cNvPicPr preferRelativeResize="0"/>
          <p:nvPr>
            <p:custDataLst>
              <p:tags r:id="rId8"/>
            </p:custDataLst>
          </p:nvPr>
        </p:nvPicPr>
        <p:blipFill rotWithShape="1">
          <a:blip r:embed="rId17"/>
          <a:srcRect/>
          <a:stretch>
            <a:fillRect/>
          </a:stretch>
        </p:blipFill>
        <p:spPr>
          <a:xfrm>
            <a:off x="6581775" y="1805880"/>
            <a:ext cx="228600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图形 4"/>
          <p:cNvPicPr>
            <a:picLocks noChangeAspect="1"/>
          </p:cNvPicPr>
          <p:nvPr>
            <p:custDataLst>
              <p:tags r:id="rId9"/>
            </p:custDataLst>
          </p:nvPr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771525" y="2429220"/>
            <a:ext cx="4836779" cy="2449662"/>
          </a:xfrm>
          <a:prstGeom prst="rect">
            <a:avLst/>
          </a:prstGeom>
        </p:spPr>
      </p:pic>
      <p:pic>
        <p:nvPicPr>
          <p:cNvPr id="7" name="图形 6"/>
          <p:cNvPicPr>
            <a:picLocks noChangeAspect="1"/>
          </p:cNvPicPr>
          <p:nvPr>
            <p:custDataLst>
              <p:tags r:id="rId10"/>
            </p:custDataLst>
          </p:nvPr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6347887" y="2651655"/>
            <a:ext cx="5272613" cy="188062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" name="Google Shape;209;p20" descr="image.png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15308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0" name="Google Shape;210;p20" descr="image.png"/>
          <p:cNvPicPr preferRelativeResize="0"/>
          <p:nvPr/>
        </p:nvPicPr>
        <p:blipFill rotWithShape="1">
          <a:blip r:embed="rId4"/>
          <a:srcRect/>
          <a:stretch>
            <a:fillRect/>
          </a:stretch>
        </p:blipFill>
        <p:spPr>
          <a:xfrm>
            <a:off x="571500" y="2836515"/>
            <a:ext cx="4229100" cy="2181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11" name="Google Shape;211;p20" descr="image.png"/>
          <p:cNvPicPr preferRelativeResize="0"/>
          <p:nvPr/>
        </p:nvPicPr>
        <p:blipFill rotWithShape="1">
          <a:blip r:embed="rId5"/>
          <a:srcRect/>
          <a:stretch>
            <a:fillRect/>
          </a:stretch>
        </p:blipFill>
        <p:spPr>
          <a:xfrm>
            <a:off x="1423987" y="3227040"/>
            <a:ext cx="2524125" cy="1047750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0"/>
          <p:cNvSpPr txBox="1"/>
          <p:nvPr/>
        </p:nvSpPr>
        <p:spPr>
          <a:xfrm>
            <a:off x="714375" y="476250"/>
            <a:ext cx="11451431" cy="434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1" i="0" u="none" strike="noStrike" cap="none">
                <a:solidFill>
                  <a:srgbClr val="1E40A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面向对象的战斗引擎判定</a:t>
            </a:r>
          </a:p>
        </p:txBody>
      </p:sp>
      <p:sp>
        <p:nvSpPr>
          <p:cNvPr id="213" name="Google Shape;213;p20"/>
          <p:cNvSpPr/>
          <p:nvPr/>
        </p:nvSpPr>
        <p:spPr>
          <a:xfrm>
            <a:off x="571500" y="476250"/>
            <a:ext cx="57150" cy="43428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14" name="Google Shape;214;p20"/>
          <p:cNvSpPr txBox="1"/>
          <p:nvPr/>
        </p:nvSpPr>
        <p:spPr>
          <a:xfrm>
            <a:off x="771525" y="967680"/>
            <a:ext cx="10848975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0891B2"/>
                </a:solidFill>
                <a:latin typeface="JetBrains Mono Medium" panose="02000009000000000000"/>
                <a:ea typeface="JetBrains Mono Medium" panose="02000009000000000000"/>
                <a:cs typeface="JetBrains Mono Medium" panose="02000009000000000000"/>
                <a:sym typeface="JetBrains Mono Medium" panose="02000009000000000000"/>
              </a:rPr>
              <a:t>STATE MACHINE DRIVEN COMBAT SYSTEM</a:t>
            </a:r>
          </a:p>
        </p:txBody>
      </p:sp>
      <p:sp>
        <p:nvSpPr>
          <p:cNvPr id="215" name="Google Shape;215;p20"/>
          <p:cNvSpPr txBox="1"/>
          <p:nvPr/>
        </p:nvSpPr>
        <p:spPr>
          <a:xfrm>
            <a:off x="2019300" y="4370040"/>
            <a:ext cx="133350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1E40A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状态机控制判定</a:t>
            </a:r>
          </a:p>
        </p:txBody>
      </p:sp>
      <p:sp>
        <p:nvSpPr>
          <p:cNvPr id="216" name="Google Shape;216;p20"/>
          <p:cNvSpPr txBox="1"/>
          <p:nvPr/>
        </p:nvSpPr>
        <p:spPr>
          <a:xfrm>
            <a:off x="5610223" y="1386780"/>
            <a:ext cx="6010275" cy="738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 dirty="0" err="1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回合转换状态机</a:t>
            </a:r>
            <a:r>
              <a:rPr lang="en-US" sz="1600" b="1" i="0" u="none" strike="noStrike" cap="none" dirty="0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：</a:t>
            </a:r>
            <a:r>
              <a:rPr lang="en-US" sz="1600" b="0" i="0" u="none" strike="noStrike" cap="none" dirty="0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 </a:t>
            </a:r>
            <a:r>
              <a:rPr lang="en-US" sz="1600" b="0" i="0" u="none" strike="noStrike" cap="none" dirty="0" err="1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采用经典状态模式设计战斗流程，统合玩家阶段、计算阶段、怪物阶段及结算状态，结构边界极佳</a:t>
            </a:r>
            <a:r>
              <a:rPr lang="en-US" sz="1600" b="0" i="0" u="none" strike="noStrike" cap="none" dirty="0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。</a:t>
            </a:r>
            <a:endParaRPr sz="1600" dirty="0"/>
          </a:p>
        </p:txBody>
      </p:sp>
      <p:sp>
        <p:nvSpPr>
          <p:cNvPr id="217" name="Google Shape;217;p20"/>
          <p:cNvSpPr txBox="1"/>
          <p:nvPr/>
        </p:nvSpPr>
        <p:spPr>
          <a:xfrm>
            <a:off x="5610223" y="2519793"/>
            <a:ext cx="6010275" cy="22155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 dirty="0" err="1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精确伤害计算</a:t>
            </a:r>
            <a:r>
              <a:rPr lang="en-US" sz="1600" b="1" i="0" u="none" strike="noStrike" cap="none" dirty="0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：</a:t>
            </a:r>
            <a:r>
              <a:rPr lang="en-US" sz="1600" b="0" i="0" u="none" strike="noStrike" cap="none" dirty="0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 </a:t>
            </a:r>
            <a:r>
              <a:rPr lang="en-US" sz="1600" b="0" i="0" u="none" strike="noStrike" cap="none" dirty="0" err="1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伤害</a:t>
            </a:r>
            <a:r>
              <a:rPr lang="en-US" sz="1600" b="0" i="0" u="none" strike="noStrike" cap="none" dirty="0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 = </a:t>
            </a:r>
            <a:r>
              <a:rPr lang="en-US" sz="1600" b="0" i="0" u="none" strike="noStrike" cap="none" dirty="0" err="1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攻击力</a:t>
            </a:r>
            <a:r>
              <a:rPr lang="en-US" sz="1600" b="0" i="0" u="none" strike="noStrike" cap="none" dirty="0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 * (1 - </a:t>
            </a:r>
            <a:r>
              <a:rPr lang="en-US" sz="1600" b="0" i="0" u="none" strike="noStrike" cap="none" dirty="0" err="1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减伤比率</a:t>
            </a:r>
            <a:r>
              <a:rPr lang="en-US" sz="1600" b="0" i="0" u="none" strike="noStrike" cap="none" dirty="0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)，</a:t>
            </a:r>
            <a:r>
              <a:rPr lang="en-US" sz="1600" b="0" i="0" u="none" strike="noStrike" cap="none" dirty="0" err="1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并加入暴击及特殊反击逻辑判定，使得攻守过程富有战术变化</a:t>
            </a:r>
            <a:r>
              <a:rPr lang="en-US" sz="1600" b="0" i="0" u="none" strike="noStrike" cap="none" dirty="0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。</a:t>
            </a:r>
            <a:r>
              <a:rPr lang="zh-CN" altLang="en-US" sz="1600" b="0" i="0" u="none" strike="noStrike" cap="none" dirty="0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精确数值博弈与耐久度引擎：底层基于经典阈值减法（伤害 </a:t>
            </a:r>
            <a:r>
              <a:rPr lang="en-US" altLang="zh-CN" sz="1600" b="0" i="0" u="none" strike="noStrike" cap="none" dirty="0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= </a:t>
            </a:r>
            <a:r>
              <a:rPr lang="zh-CN" altLang="en-US" sz="1600" b="0" i="0" u="none" strike="noStrike" cap="none" dirty="0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攻击 </a:t>
            </a:r>
            <a:r>
              <a:rPr lang="en-US" altLang="zh-CN" sz="1600" b="0" i="0" u="none" strike="noStrike" cap="none" dirty="0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- </a:t>
            </a:r>
            <a:r>
              <a:rPr lang="zh-CN" altLang="en-US" sz="1600" b="0" i="0" u="none" strike="noStrike" cap="none" dirty="0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防御）。战斗中创新引入了部位打击判定，敌人会随机攻击玩家的头部、躯干或四肢，并根据对数函数计算防具的耐久度损耗，使得攻守过程富有战术变化。</a:t>
            </a:r>
            <a:endParaRPr sz="1600" dirty="0"/>
          </a:p>
        </p:txBody>
      </p:sp>
      <p:sp>
        <p:nvSpPr>
          <p:cNvPr id="218" name="Google Shape;218;p20"/>
          <p:cNvSpPr txBox="1"/>
          <p:nvPr/>
        </p:nvSpPr>
        <p:spPr>
          <a:xfrm>
            <a:off x="5610223" y="4839739"/>
            <a:ext cx="6010275" cy="14770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600" b="1" i="0" u="none" strike="noStrike" cap="none" dirty="0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优先级调度与破韧机制</a:t>
            </a:r>
            <a:r>
              <a:rPr lang="zh-CN" altLang="en-US" sz="1600" b="0" i="0" u="none" strike="noStrike" cap="none" dirty="0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：特殊道具在战斗轮次中具有绝对优先权（不耗费回合的先手治愈）。此外，引入了类似</a:t>
            </a:r>
            <a:r>
              <a:rPr lang="en-US" altLang="zh-CN" sz="1600" b="0" i="0" u="none" strike="noStrike" cap="none" dirty="0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《</a:t>
            </a:r>
            <a:r>
              <a:rPr lang="zh-CN" altLang="en-US" sz="1600" dirty="0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原神</a:t>
            </a:r>
            <a:r>
              <a:rPr lang="en-US" altLang="zh-CN" sz="1600" b="0" i="0" u="none" strike="noStrike" cap="none" dirty="0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》</a:t>
            </a:r>
            <a:r>
              <a:rPr lang="zh-CN" altLang="en-US" sz="1600" b="0" i="0" u="none" strike="noStrike" cap="none" dirty="0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的破韧度（</a:t>
            </a:r>
            <a:r>
              <a:rPr lang="en-US" sz="1600" b="0" i="0" u="none" strike="noStrike" cap="none" dirty="0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Stagger）</a:t>
            </a:r>
            <a:r>
              <a:rPr lang="zh-CN" altLang="en-US" sz="1600" b="0" i="0" u="none" strike="noStrike" cap="none" dirty="0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状态机逻辑，当累积破韧值达标时，怪物将陷入瘫痪，并在引擎中被强制静止本回合的行为判定。</a:t>
            </a:r>
            <a:endParaRPr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" name="Google Shape;225;p21" descr="image.png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6" name="Google Shape;226;p21" descr="image.png"/>
          <p:cNvPicPr preferRelativeResize="0"/>
          <p:nvPr/>
        </p:nvPicPr>
        <p:blipFill rotWithShape="1">
          <a:blip r:embed="rId4"/>
          <a:srcRect/>
          <a:stretch>
            <a:fillRect/>
          </a:stretch>
        </p:blipFill>
        <p:spPr>
          <a:xfrm>
            <a:off x="571500" y="1472505"/>
            <a:ext cx="5334000" cy="4909244"/>
          </a:xfrm>
          <a:prstGeom prst="rect">
            <a:avLst/>
          </a:prstGeom>
          <a:noFill/>
          <a:ln>
            <a:noFill/>
          </a:ln>
        </p:spPr>
      </p:pic>
      <p:pic>
        <p:nvPicPr>
          <p:cNvPr id="227" name="Google Shape;227;p21" descr="image.png"/>
          <p:cNvPicPr preferRelativeResize="0"/>
          <p:nvPr/>
        </p:nvPicPr>
        <p:blipFill rotWithShape="1">
          <a:blip r:embed="rId5"/>
          <a:srcRect/>
          <a:stretch>
            <a:fillRect/>
          </a:stretch>
        </p:blipFill>
        <p:spPr>
          <a:xfrm>
            <a:off x="6286500" y="1107297"/>
            <a:ext cx="5334000" cy="5274452"/>
          </a:xfrm>
          <a:prstGeom prst="rect">
            <a:avLst/>
          </a:prstGeom>
          <a:noFill/>
          <a:ln>
            <a:noFill/>
          </a:ln>
        </p:spPr>
      </p:pic>
      <p:sp>
        <p:nvSpPr>
          <p:cNvPr id="228" name="Google Shape;228;p21"/>
          <p:cNvSpPr txBox="1"/>
          <p:nvPr/>
        </p:nvSpPr>
        <p:spPr>
          <a:xfrm>
            <a:off x="714375" y="476250"/>
            <a:ext cx="11451431" cy="434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1" i="0" u="none" strike="noStrike" cap="none">
                <a:solidFill>
                  <a:srgbClr val="1E40A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核心挑战：图形界面的全面升级</a:t>
            </a:r>
          </a:p>
        </p:txBody>
      </p:sp>
      <p:sp>
        <p:nvSpPr>
          <p:cNvPr id="229" name="Google Shape;229;p21"/>
          <p:cNvSpPr/>
          <p:nvPr/>
        </p:nvSpPr>
        <p:spPr>
          <a:xfrm>
            <a:off x="571500" y="476250"/>
            <a:ext cx="57150" cy="43428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30" name="Google Shape;230;p21"/>
          <p:cNvSpPr txBox="1"/>
          <p:nvPr/>
        </p:nvSpPr>
        <p:spPr>
          <a:xfrm>
            <a:off x="771525" y="967680"/>
            <a:ext cx="10848975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0891B2"/>
                </a:solidFill>
                <a:latin typeface="JetBrains Mono Medium" panose="02000009000000000000"/>
                <a:ea typeface="JetBrains Mono Medium" panose="02000009000000000000"/>
                <a:cs typeface="JetBrains Mono Medium" panose="02000009000000000000"/>
                <a:sym typeface="JetBrains Mono Medium" panose="02000009000000000000"/>
              </a:rPr>
              <a:t>CHALLENGE I: COMMAND LINE RESTRUCTURING</a:t>
            </a:r>
          </a:p>
        </p:txBody>
      </p:sp>
      <p:sp>
        <p:nvSpPr>
          <p:cNvPr id="231" name="Google Shape;231;p21"/>
          <p:cNvSpPr txBox="1"/>
          <p:nvPr/>
        </p:nvSpPr>
        <p:spPr>
          <a:xfrm>
            <a:off x="1162050" y="1767780"/>
            <a:ext cx="4670583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1E40A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1. 业务逻辑“零创伤”迁徙</a:t>
            </a:r>
          </a:p>
        </p:txBody>
      </p:sp>
      <p:sp>
        <p:nvSpPr>
          <p:cNvPr id="232" name="Google Shape;232;p21"/>
          <p:cNvSpPr txBox="1"/>
          <p:nvPr/>
        </p:nvSpPr>
        <p:spPr>
          <a:xfrm>
            <a:off x="866775" y="5355133"/>
            <a:ext cx="4743450" cy="7313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在原有纯黑框字符版业务代码毫不知情的情况下，将其整体打包内嵌至 Qt6 视口视图架构中。在视图刷新阶段通过映射指针直接提取数据源渲染图元，完美规避重写旧逻辑的巨大工作量。</a:t>
            </a:r>
          </a:p>
        </p:txBody>
      </p:sp>
      <p:sp>
        <p:nvSpPr>
          <p:cNvPr id="234" name="Google Shape;234;p21"/>
          <p:cNvSpPr txBox="1"/>
          <p:nvPr/>
        </p:nvSpPr>
        <p:spPr>
          <a:xfrm>
            <a:off x="6581775" y="5111353"/>
            <a:ext cx="4743450" cy="9751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 err="1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原生的键盘响应常伴随首字卡顿，项目创造性地采用</a:t>
            </a:r>
            <a:r>
              <a:rPr lang="en-US" sz="1200" b="1" i="0" u="none" strike="noStrike" cap="none" dirty="0" err="1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“按键信号拦截器</a:t>
            </a:r>
            <a:r>
              <a:rPr lang="en-US" sz="1200" b="1" i="0" u="none" strike="noStrike" cap="none" dirty="0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 + </a:t>
            </a:r>
            <a:r>
              <a:rPr lang="en-US" sz="1200" b="1" i="0" u="none" strike="noStrike" cap="none" dirty="0" err="1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状态机记录</a:t>
            </a:r>
            <a:r>
              <a:rPr lang="en-US" sz="1200" b="1" i="0" u="none" strike="noStrike" cap="none" dirty="0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 + 16ms </a:t>
            </a:r>
            <a:r>
              <a:rPr lang="en-US" sz="1200" b="1" i="0" u="none" strike="noStrike" cap="none" dirty="0" err="1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频率定时器轮询”</a:t>
            </a:r>
            <a:r>
              <a:rPr lang="en-US" sz="1200" b="0" i="0" u="none" strike="noStrike" cap="none" dirty="0" err="1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的技术方案。该底层改造可顺畅处理斜向同按在内的复杂手柄化按键组合，将玩家行走操纵帧率直接抬升到丝滑的</a:t>
            </a:r>
            <a:r>
              <a:rPr lang="en-US" sz="1200" b="0" i="0" u="none" strike="noStrike" cap="none" dirty="0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 60FPS </a:t>
            </a:r>
            <a:r>
              <a:rPr lang="en-US" sz="1200" b="0" i="0" u="none" strike="noStrike" cap="none" dirty="0" err="1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水准</a:t>
            </a:r>
            <a:r>
              <a:rPr lang="en-US" sz="1200" b="0" i="0" u="none" strike="noStrike" cap="none" dirty="0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。</a:t>
            </a:r>
            <a:endParaRPr dirty="0"/>
          </a:p>
        </p:txBody>
      </p:sp>
      <p:pic>
        <p:nvPicPr>
          <p:cNvPr id="235" name="Google Shape;235;p21" descr="image.png"/>
          <p:cNvPicPr preferRelativeResize="0"/>
          <p:nvPr/>
        </p:nvPicPr>
        <p:blipFill rotWithShape="1">
          <a:blip r:embed="rId6"/>
          <a:srcRect/>
          <a:stretch>
            <a:fillRect/>
          </a:stretch>
        </p:blipFill>
        <p:spPr>
          <a:xfrm>
            <a:off x="866775" y="1805880"/>
            <a:ext cx="200025" cy="2286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" name="组合 2"/>
          <p:cNvGrpSpPr/>
          <p:nvPr/>
        </p:nvGrpSpPr>
        <p:grpSpPr>
          <a:xfrm>
            <a:off x="6477000" y="1272480"/>
            <a:ext cx="4965858" cy="304800"/>
            <a:chOff x="6581775" y="1767780"/>
            <a:chExt cx="4965858" cy="304800"/>
          </a:xfrm>
        </p:grpSpPr>
        <p:sp>
          <p:nvSpPr>
            <p:cNvPr id="233" name="Google Shape;233;p21"/>
            <p:cNvSpPr txBox="1"/>
            <p:nvPr/>
          </p:nvSpPr>
          <p:spPr>
            <a:xfrm>
              <a:off x="6877050" y="1767780"/>
              <a:ext cx="4670583" cy="304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b="1" i="0" u="none" strike="noStrike" cap="none" dirty="0">
                  <a:solidFill>
                    <a:srgbClr val="1E40AF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2. </a:t>
              </a:r>
              <a:r>
                <a:rPr lang="en-US" sz="1800" b="1" i="0" u="none" strike="noStrike" cap="none" dirty="0" err="1">
                  <a:solidFill>
                    <a:srgbClr val="1E40AF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彻底解决按键迟滞卡顿</a:t>
              </a:r>
              <a:endParaRPr dirty="0"/>
            </a:p>
          </p:txBody>
        </p:sp>
        <p:pic>
          <p:nvPicPr>
            <p:cNvPr id="236" name="Google Shape;236;p21" descr="image.png"/>
            <p:cNvPicPr preferRelativeResize="0"/>
            <p:nvPr/>
          </p:nvPicPr>
          <p:blipFill rotWithShape="1">
            <a:blip r:embed="rId7"/>
            <a:srcRect/>
            <a:stretch>
              <a:fillRect/>
            </a:stretch>
          </p:blipFill>
          <p:spPr>
            <a:xfrm>
              <a:off x="6581775" y="1805880"/>
              <a:ext cx="200025" cy="2286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" name="文本框 1"/>
          <p:cNvSpPr txBox="1"/>
          <p:nvPr/>
        </p:nvSpPr>
        <p:spPr>
          <a:xfrm>
            <a:off x="6496050" y="1559803"/>
            <a:ext cx="4448175" cy="36471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050" dirty="0"/>
              <a:t>// 🌟 </a:t>
            </a:r>
            <a:r>
              <a:rPr kumimoji="1" lang="zh-CN" altLang="en-US" sz="1050" dirty="0"/>
              <a:t>核心突破：</a:t>
            </a:r>
            <a:r>
              <a:rPr kumimoji="1" lang="en-US" altLang="zh-CN" sz="1050" dirty="0"/>
              <a:t>16</a:t>
            </a:r>
            <a:r>
              <a:rPr kumimoji="1" lang="en-GB" altLang="zh-CN" sz="1050" dirty="0" err="1"/>
              <a:t>ms</a:t>
            </a:r>
            <a:r>
              <a:rPr kumimoji="1" lang="en-GB" altLang="zh-CN" sz="1050" dirty="0"/>
              <a:t> </a:t>
            </a:r>
            <a:r>
              <a:rPr kumimoji="1" lang="zh-CN" altLang="en-US" sz="1050" dirty="0"/>
              <a:t>状态机轮询取代原生阻塞拦截</a:t>
            </a:r>
          </a:p>
          <a:p>
            <a:r>
              <a:rPr kumimoji="1" lang="en-GB" altLang="zh-CN" sz="1050" dirty="0"/>
              <a:t>void </a:t>
            </a:r>
            <a:r>
              <a:rPr kumimoji="1" lang="en-GB" altLang="zh-CN" sz="1050" dirty="0" err="1"/>
              <a:t>MainWindow</a:t>
            </a:r>
            <a:r>
              <a:rPr kumimoji="1" lang="en-GB" altLang="zh-CN" sz="1050" dirty="0"/>
              <a:t>::</a:t>
            </a:r>
            <a:r>
              <a:rPr kumimoji="1" lang="en-GB" altLang="zh-CN" sz="1050" dirty="0" err="1"/>
              <a:t>keyPressEvent</a:t>
            </a:r>
            <a:r>
              <a:rPr kumimoji="1" lang="en-GB" altLang="zh-CN" sz="1050" dirty="0"/>
              <a:t>(</a:t>
            </a:r>
            <a:r>
              <a:rPr kumimoji="1" lang="en-GB" altLang="zh-CN" sz="1050" dirty="0" err="1"/>
              <a:t>QKeyEvent</a:t>
            </a:r>
            <a:r>
              <a:rPr kumimoji="1" lang="en-GB" altLang="zh-CN" sz="1050" dirty="0"/>
              <a:t>* event) {</a:t>
            </a:r>
          </a:p>
          <a:p>
            <a:r>
              <a:rPr kumimoji="1" lang="en-GB" altLang="zh-CN" sz="1050" dirty="0"/>
              <a:t>    // </a:t>
            </a:r>
            <a:r>
              <a:rPr kumimoji="1" lang="zh-CN" altLang="en-US" sz="1050" dirty="0"/>
              <a:t>拦截器：仅记录按键状态，不处理移动逻辑</a:t>
            </a:r>
          </a:p>
          <a:p>
            <a:r>
              <a:rPr kumimoji="1" lang="zh-CN" altLang="en-US" sz="1050" dirty="0"/>
              <a:t>    </a:t>
            </a:r>
            <a:r>
              <a:rPr kumimoji="1" lang="en-GB" altLang="zh-CN" sz="1050" dirty="0"/>
              <a:t>if (event-&gt;key() == Qt::</a:t>
            </a:r>
            <a:r>
              <a:rPr kumimoji="1" lang="en-GB" altLang="zh-CN" sz="1050" dirty="0" err="1"/>
              <a:t>Key_W</a:t>
            </a:r>
            <a:r>
              <a:rPr kumimoji="1" lang="en-GB" altLang="zh-CN" sz="1050" dirty="0"/>
              <a:t>) </a:t>
            </a:r>
            <a:r>
              <a:rPr kumimoji="1" lang="en-GB" altLang="zh-CN" sz="1050" dirty="0" err="1"/>
              <a:t>keyW</a:t>
            </a:r>
            <a:r>
              <a:rPr kumimoji="1" lang="en-GB" altLang="zh-CN" sz="1050" dirty="0"/>
              <a:t> = true;</a:t>
            </a:r>
          </a:p>
          <a:p>
            <a:r>
              <a:rPr kumimoji="1" lang="en-GB" altLang="zh-CN" sz="1050" dirty="0"/>
              <a:t>    if (event-&gt;key() == Qt::</a:t>
            </a:r>
            <a:r>
              <a:rPr kumimoji="1" lang="en-GB" altLang="zh-CN" sz="1050" dirty="0" err="1"/>
              <a:t>Key_S</a:t>
            </a:r>
            <a:r>
              <a:rPr kumimoji="1" lang="en-GB" altLang="zh-CN" sz="1050" dirty="0"/>
              <a:t>) </a:t>
            </a:r>
            <a:r>
              <a:rPr kumimoji="1" lang="en-GB" altLang="zh-CN" sz="1050" dirty="0" err="1"/>
              <a:t>keyS</a:t>
            </a:r>
            <a:r>
              <a:rPr kumimoji="1" lang="en-GB" altLang="zh-CN" sz="1050" dirty="0"/>
              <a:t> = true;</a:t>
            </a:r>
          </a:p>
          <a:p>
            <a:r>
              <a:rPr kumimoji="1" lang="en-GB" altLang="zh-CN" sz="1050" dirty="0"/>
              <a:t>    if (event-&gt;key() == Qt::</a:t>
            </a:r>
            <a:r>
              <a:rPr kumimoji="1" lang="en-GB" altLang="zh-CN" sz="1050" dirty="0" err="1"/>
              <a:t>Key_A</a:t>
            </a:r>
            <a:r>
              <a:rPr kumimoji="1" lang="en-GB" altLang="zh-CN" sz="1050" dirty="0"/>
              <a:t>) </a:t>
            </a:r>
            <a:r>
              <a:rPr kumimoji="1" lang="en-GB" altLang="zh-CN" sz="1050" dirty="0" err="1"/>
              <a:t>keyA</a:t>
            </a:r>
            <a:r>
              <a:rPr kumimoji="1" lang="en-GB" altLang="zh-CN" sz="1050" dirty="0"/>
              <a:t> = true;</a:t>
            </a:r>
          </a:p>
          <a:p>
            <a:r>
              <a:rPr kumimoji="1" lang="en-GB" altLang="zh-CN" sz="1050" dirty="0"/>
              <a:t>    if (event-&gt;key() == Qt::</a:t>
            </a:r>
            <a:r>
              <a:rPr kumimoji="1" lang="en-GB" altLang="zh-CN" sz="1050" dirty="0" err="1"/>
              <a:t>Key_D</a:t>
            </a:r>
            <a:r>
              <a:rPr kumimoji="1" lang="en-GB" altLang="zh-CN" sz="1050" dirty="0"/>
              <a:t>) </a:t>
            </a:r>
            <a:r>
              <a:rPr kumimoji="1" lang="en-GB" altLang="zh-CN" sz="1050" dirty="0" err="1"/>
              <a:t>keyD</a:t>
            </a:r>
            <a:r>
              <a:rPr kumimoji="1" lang="en-GB" altLang="zh-CN" sz="1050" dirty="0"/>
              <a:t> = true;</a:t>
            </a:r>
          </a:p>
          <a:p>
            <a:r>
              <a:rPr kumimoji="1" lang="en-GB" altLang="zh-CN" sz="1050" dirty="0"/>
              <a:t>}</a:t>
            </a:r>
          </a:p>
          <a:p>
            <a:endParaRPr kumimoji="1" lang="en-GB" altLang="zh-CN" sz="1050" dirty="0"/>
          </a:p>
          <a:p>
            <a:r>
              <a:rPr kumimoji="1" lang="en-GB" altLang="zh-CN" sz="1050" dirty="0"/>
              <a:t>// </a:t>
            </a:r>
            <a:r>
              <a:rPr kumimoji="1" lang="zh-CN" altLang="en-US" sz="1050" dirty="0"/>
              <a:t>在初始化中启动 </a:t>
            </a:r>
            <a:r>
              <a:rPr kumimoji="1" lang="en-US" altLang="zh-CN" sz="1050" dirty="0"/>
              <a:t>60</a:t>
            </a:r>
            <a:r>
              <a:rPr kumimoji="1" lang="en-GB" altLang="zh-CN" sz="1050" dirty="0"/>
              <a:t>FPS </a:t>
            </a:r>
            <a:r>
              <a:rPr kumimoji="1" lang="zh-CN" altLang="en-US" sz="1050" dirty="0"/>
              <a:t>定时器轮询</a:t>
            </a:r>
          </a:p>
          <a:p>
            <a:r>
              <a:rPr kumimoji="1" lang="en-GB" altLang="zh-CN" sz="1050" dirty="0" err="1"/>
              <a:t>moveTimer</a:t>
            </a:r>
            <a:r>
              <a:rPr kumimoji="1" lang="en-GB" altLang="zh-CN" sz="1050" dirty="0"/>
              <a:t> = new </a:t>
            </a:r>
            <a:r>
              <a:rPr kumimoji="1" lang="en-GB" altLang="zh-CN" sz="1050" dirty="0" err="1"/>
              <a:t>QTimer</a:t>
            </a:r>
            <a:r>
              <a:rPr kumimoji="1" lang="en-GB" altLang="zh-CN" sz="1050" dirty="0"/>
              <a:t>(this);</a:t>
            </a:r>
          </a:p>
          <a:p>
            <a:r>
              <a:rPr kumimoji="1" lang="en-GB" altLang="zh-CN" sz="1050" dirty="0"/>
              <a:t>connect(</a:t>
            </a:r>
            <a:r>
              <a:rPr kumimoji="1" lang="en-GB" altLang="zh-CN" sz="1050" dirty="0" err="1"/>
              <a:t>moveTimer</a:t>
            </a:r>
            <a:r>
              <a:rPr kumimoji="1" lang="en-GB" altLang="zh-CN" sz="1050" dirty="0"/>
              <a:t>, &amp;</a:t>
            </a:r>
            <a:r>
              <a:rPr kumimoji="1" lang="en-GB" altLang="zh-CN" sz="1050" dirty="0" err="1"/>
              <a:t>QTimer</a:t>
            </a:r>
            <a:r>
              <a:rPr kumimoji="1" lang="en-GB" altLang="zh-CN" sz="1050" dirty="0"/>
              <a:t>::timeout, this, [=]() {</a:t>
            </a:r>
          </a:p>
          <a:p>
            <a:r>
              <a:rPr kumimoji="1" lang="en-GB" altLang="zh-CN" sz="1050" dirty="0"/>
              <a:t>    int dx = 0, </a:t>
            </a:r>
            <a:r>
              <a:rPr kumimoji="1" lang="en-GB" altLang="zh-CN" sz="1050" dirty="0" err="1"/>
              <a:t>dy</a:t>
            </a:r>
            <a:r>
              <a:rPr kumimoji="1" lang="en-GB" altLang="zh-CN" sz="1050" dirty="0"/>
              <a:t> = 0;</a:t>
            </a:r>
          </a:p>
          <a:p>
            <a:r>
              <a:rPr kumimoji="1" lang="en-GB" altLang="zh-CN" sz="1050" dirty="0"/>
              <a:t>    // </a:t>
            </a:r>
            <a:r>
              <a:rPr kumimoji="1" lang="zh-CN" altLang="en-US" sz="1050" dirty="0"/>
              <a:t>状态机判定：完美支持斜向</a:t>
            </a:r>
            <a:r>
              <a:rPr kumimoji="1" lang="en-US" altLang="zh-CN" sz="1050" dirty="0"/>
              <a:t>(</a:t>
            </a:r>
            <a:r>
              <a:rPr kumimoji="1" lang="zh-CN" altLang="en-US" sz="1050" dirty="0"/>
              <a:t>如 </a:t>
            </a:r>
            <a:r>
              <a:rPr kumimoji="1" lang="en-GB" altLang="zh-CN" sz="1050" dirty="0"/>
              <a:t>W+D </a:t>
            </a:r>
            <a:r>
              <a:rPr kumimoji="1" lang="zh-CN" altLang="en-US" sz="1050" dirty="0"/>
              <a:t>同按</a:t>
            </a:r>
            <a:r>
              <a:rPr kumimoji="1" lang="en-US" altLang="zh-CN" sz="1050" dirty="0"/>
              <a:t>)</a:t>
            </a:r>
            <a:r>
              <a:rPr kumimoji="1" lang="zh-CN" altLang="en-US" sz="1050" dirty="0"/>
              <a:t>的丝滑移动</a:t>
            </a:r>
          </a:p>
          <a:p>
            <a:r>
              <a:rPr kumimoji="1" lang="zh-CN" altLang="en-US" sz="1050" dirty="0"/>
              <a:t>    </a:t>
            </a:r>
            <a:r>
              <a:rPr kumimoji="1" lang="en-GB" altLang="zh-CN" sz="1050" dirty="0"/>
              <a:t>if (</a:t>
            </a:r>
            <a:r>
              <a:rPr kumimoji="1" lang="en-GB" altLang="zh-CN" sz="1050" dirty="0" err="1"/>
              <a:t>keyW</a:t>
            </a:r>
            <a:r>
              <a:rPr kumimoji="1" lang="en-GB" altLang="zh-CN" sz="1050" dirty="0"/>
              <a:t>) </a:t>
            </a:r>
            <a:r>
              <a:rPr kumimoji="1" lang="en-GB" altLang="zh-CN" sz="1050" dirty="0" err="1"/>
              <a:t>dy</a:t>
            </a:r>
            <a:r>
              <a:rPr kumimoji="1" lang="en-GB" altLang="zh-CN" sz="1050" dirty="0"/>
              <a:t> -= </a:t>
            </a:r>
            <a:r>
              <a:rPr kumimoji="1" lang="en-GB" altLang="zh-CN" sz="1050" dirty="0" err="1"/>
              <a:t>moveSpeed</a:t>
            </a:r>
            <a:r>
              <a:rPr kumimoji="1" lang="en-GB" altLang="zh-CN" sz="1050" dirty="0"/>
              <a:t>;</a:t>
            </a:r>
          </a:p>
          <a:p>
            <a:r>
              <a:rPr kumimoji="1" lang="en-GB" altLang="zh-CN" sz="1050" dirty="0"/>
              <a:t>    if (</a:t>
            </a:r>
            <a:r>
              <a:rPr kumimoji="1" lang="en-GB" altLang="zh-CN" sz="1050" dirty="0" err="1"/>
              <a:t>keyS</a:t>
            </a:r>
            <a:r>
              <a:rPr kumimoji="1" lang="en-GB" altLang="zh-CN" sz="1050" dirty="0"/>
              <a:t>) </a:t>
            </a:r>
            <a:r>
              <a:rPr kumimoji="1" lang="en-GB" altLang="zh-CN" sz="1050" dirty="0" err="1"/>
              <a:t>dy</a:t>
            </a:r>
            <a:r>
              <a:rPr kumimoji="1" lang="en-GB" altLang="zh-CN" sz="1050" dirty="0"/>
              <a:t> += </a:t>
            </a:r>
            <a:r>
              <a:rPr kumimoji="1" lang="en-GB" altLang="zh-CN" sz="1050" dirty="0" err="1"/>
              <a:t>moveSpeed</a:t>
            </a:r>
            <a:r>
              <a:rPr kumimoji="1" lang="en-GB" altLang="zh-CN" sz="1050" dirty="0"/>
              <a:t>;</a:t>
            </a:r>
          </a:p>
          <a:p>
            <a:r>
              <a:rPr kumimoji="1" lang="en-GB" altLang="zh-CN" sz="1050" dirty="0"/>
              <a:t>    if (</a:t>
            </a:r>
            <a:r>
              <a:rPr kumimoji="1" lang="en-GB" altLang="zh-CN" sz="1050" dirty="0" err="1"/>
              <a:t>keyA</a:t>
            </a:r>
            <a:r>
              <a:rPr kumimoji="1" lang="en-GB" altLang="zh-CN" sz="1050" dirty="0"/>
              <a:t>) dx -= </a:t>
            </a:r>
            <a:r>
              <a:rPr kumimoji="1" lang="en-GB" altLang="zh-CN" sz="1050" dirty="0" err="1"/>
              <a:t>moveSpeed</a:t>
            </a:r>
            <a:r>
              <a:rPr kumimoji="1" lang="en-GB" altLang="zh-CN" sz="1050" dirty="0"/>
              <a:t>;</a:t>
            </a:r>
          </a:p>
          <a:p>
            <a:r>
              <a:rPr kumimoji="1" lang="en-GB" altLang="zh-CN" sz="1050" dirty="0"/>
              <a:t>    if (</a:t>
            </a:r>
            <a:r>
              <a:rPr kumimoji="1" lang="en-GB" altLang="zh-CN" sz="1050" dirty="0" err="1"/>
              <a:t>keyD</a:t>
            </a:r>
            <a:r>
              <a:rPr kumimoji="1" lang="en-GB" altLang="zh-CN" sz="1050" dirty="0"/>
              <a:t>) dx += </a:t>
            </a:r>
            <a:r>
              <a:rPr kumimoji="1" lang="en-GB" altLang="zh-CN" sz="1050" dirty="0" err="1"/>
              <a:t>moveSpeed</a:t>
            </a:r>
            <a:r>
              <a:rPr kumimoji="1" lang="en-GB" altLang="zh-CN" sz="1050" dirty="0"/>
              <a:t>;</a:t>
            </a:r>
          </a:p>
          <a:p>
            <a:r>
              <a:rPr kumimoji="1" lang="en-GB" altLang="zh-CN" sz="1050" dirty="0"/>
              <a:t>    </a:t>
            </a:r>
          </a:p>
          <a:p>
            <a:r>
              <a:rPr kumimoji="1" lang="en-GB" altLang="zh-CN" sz="1050" dirty="0"/>
              <a:t>    player-&gt;</a:t>
            </a:r>
            <a:r>
              <a:rPr kumimoji="1" lang="en-GB" altLang="zh-CN" sz="1050" dirty="0" err="1"/>
              <a:t>moveBy</a:t>
            </a:r>
            <a:r>
              <a:rPr kumimoji="1" lang="en-GB" altLang="zh-CN" sz="1050" dirty="0"/>
              <a:t>(dx, </a:t>
            </a:r>
            <a:r>
              <a:rPr kumimoji="1" lang="en-GB" altLang="zh-CN" sz="1050" dirty="0" err="1"/>
              <a:t>dy</a:t>
            </a:r>
            <a:r>
              <a:rPr kumimoji="1" lang="en-GB" altLang="zh-CN" sz="1050" dirty="0"/>
              <a:t>); // 60</a:t>
            </a:r>
            <a:r>
              <a:rPr kumimoji="1" lang="zh-CN" altLang="en-US" sz="1050" dirty="0"/>
              <a:t>帧平滑渲染</a:t>
            </a:r>
          </a:p>
          <a:p>
            <a:r>
              <a:rPr kumimoji="1" lang="en-US" altLang="zh-CN" sz="1050" dirty="0"/>
              <a:t>});</a:t>
            </a:r>
          </a:p>
          <a:p>
            <a:r>
              <a:rPr kumimoji="1" lang="en-GB" altLang="zh-CN" sz="1050" dirty="0" err="1"/>
              <a:t>moveTimer</a:t>
            </a:r>
            <a:r>
              <a:rPr kumimoji="1" lang="en-GB" altLang="zh-CN" sz="1050" dirty="0"/>
              <a:t>-&gt;start(16); // 1000ms / 60</a:t>
            </a:r>
            <a:r>
              <a:rPr kumimoji="1" lang="zh-CN" altLang="en-US" sz="1050" dirty="0"/>
              <a:t>帧 ≈ </a:t>
            </a:r>
            <a:r>
              <a:rPr kumimoji="1" lang="en-US" altLang="zh-CN" sz="1050" dirty="0"/>
              <a:t>16</a:t>
            </a:r>
            <a:r>
              <a:rPr kumimoji="1" lang="en-GB" altLang="zh-CN" sz="1050" dirty="0" err="1"/>
              <a:t>ms</a:t>
            </a:r>
            <a:endParaRPr kumimoji="1" lang="zh-CN" altLang="en-US" sz="1050" dirty="0"/>
          </a:p>
        </p:txBody>
      </p:sp>
      <p:pic>
        <p:nvPicPr>
          <p:cNvPr id="5" name="图片 4" descr="图片包含 日历&#10;&#10;AI 生成的内容可能不正确。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4375" y="1960606"/>
            <a:ext cx="4495041" cy="364729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1" name="Google Shape;241;p22" descr="image.png"/>
          <p:cNvPicPr preferRelativeResize="0"/>
          <p:nvPr/>
        </p:nvPicPr>
        <p:blipFill rotWithShape="1">
          <a:blip r:embed="rId11"/>
          <a:srcRect/>
          <a:stretch>
            <a:fillRect/>
          </a:stretch>
        </p:blipFill>
        <p:spPr>
          <a:xfrm>
            <a:off x="-76200" y="-7620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2" name="Google Shape;242;p22" descr="image.png"/>
          <p:cNvPicPr preferRelativeResize="0"/>
          <p:nvPr>
            <p:custDataLst>
              <p:tags r:id="rId1"/>
            </p:custDataLst>
          </p:nvPr>
        </p:nvPicPr>
        <p:blipFill rotWithShape="1">
          <a:blip r:embed="rId12"/>
          <a:srcRect/>
          <a:stretch>
            <a:fillRect/>
          </a:stretch>
        </p:blipFill>
        <p:spPr>
          <a:xfrm>
            <a:off x="571500" y="1472505"/>
            <a:ext cx="5334000" cy="4909244"/>
          </a:xfrm>
          <a:prstGeom prst="rect">
            <a:avLst/>
          </a:prstGeom>
          <a:noFill/>
          <a:ln>
            <a:noFill/>
          </a:ln>
        </p:spPr>
      </p:pic>
      <p:pic>
        <p:nvPicPr>
          <p:cNvPr id="243" name="Google Shape;243;p22" descr="image.png"/>
          <p:cNvPicPr preferRelativeResize="0"/>
          <p:nvPr>
            <p:custDataLst>
              <p:tags r:id="rId2"/>
            </p:custDataLst>
          </p:nvPr>
        </p:nvPicPr>
        <p:blipFill rotWithShape="1">
          <a:blip r:embed="rId13"/>
          <a:srcRect/>
          <a:stretch>
            <a:fillRect/>
          </a:stretch>
        </p:blipFill>
        <p:spPr>
          <a:xfrm>
            <a:off x="6286500" y="1472505"/>
            <a:ext cx="5334000" cy="4909244"/>
          </a:xfrm>
          <a:prstGeom prst="rect">
            <a:avLst/>
          </a:prstGeom>
          <a:noFill/>
          <a:ln>
            <a:noFill/>
          </a:ln>
        </p:spPr>
      </p:pic>
      <p:sp>
        <p:nvSpPr>
          <p:cNvPr id="244" name="Google Shape;244;p22"/>
          <p:cNvSpPr txBox="1"/>
          <p:nvPr/>
        </p:nvSpPr>
        <p:spPr>
          <a:xfrm>
            <a:off x="714375" y="476250"/>
            <a:ext cx="11451431" cy="434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1" i="0" u="none" strike="noStrike" cap="none">
                <a:solidFill>
                  <a:srgbClr val="1E40A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核心挑战：多线程与异步调度</a:t>
            </a:r>
          </a:p>
        </p:txBody>
      </p:sp>
      <p:sp>
        <p:nvSpPr>
          <p:cNvPr id="245" name="Google Shape;245;p22"/>
          <p:cNvSpPr/>
          <p:nvPr/>
        </p:nvSpPr>
        <p:spPr>
          <a:xfrm>
            <a:off x="571500" y="476250"/>
            <a:ext cx="57150" cy="43428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46" name="Google Shape;246;p22"/>
          <p:cNvSpPr txBox="1"/>
          <p:nvPr/>
        </p:nvSpPr>
        <p:spPr>
          <a:xfrm>
            <a:off x="771525" y="967680"/>
            <a:ext cx="10848975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0891B2"/>
                </a:solidFill>
                <a:latin typeface="JetBrains Mono Medium" panose="02000009000000000000"/>
                <a:ea typeface="JetBrains Mono Medium" panose="02000009000000000000"/>
                <a:cs typeface="JetBrains Mono Medium" panose="02000009000000000000"/>
                <a:sym typeface="JetBrains Mono Medium" panose="02000009000000000000"/>
              </a:rPr>
              <a:t>CHALLENGE II: ASYNCHRONOUS MULTI-THREADING</a:t>
            </a:r>
          </a:p>
        </p:txBody>
      </p:sp>
      <p:sp>
        <p:nvSpPr>
          <p:cNvPr id="247" name="Google Shape;247;p22"/>
          <p:cNvSpPr txBox="1"/>
          <p:nvPr>
            <p:custDataLst>
              <p:tags r:id="rId3"/>
            </p:custDataLst>
          </p:nvPr>
        </p:nvSpPr>
        <p:spPr>
          <a:xfrm>
            <a:off x="1190625" y="1767780"/>
            <a:ext cx="464058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1E40A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界面主渲染线程完全解放</a:t>
            </a:r>
          </a:p>
        </p:txBody>
      </p:sp>
      <p:sp>
        <p:nvSpPr>
          <p:cNvPr id="248" name="Google Shape;248;p22"/>
          <p:cNvSpPr txBox="1"/>
          <p:nvPr>
            <p:custDataLst>
              <p:tags r:id="rId4"/>
            </p:custDataLst>
          </p:nvPr>
        </p:nvSpPr>
        <p:spPr>
          <a:xfrm>
            <a:off x="714375" y="2510601"/>
            <a:ext cx="4743450" cy="3101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800" b="1" i="0" u="none" strike="noStrike" cap="none" dirty="0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高并发下的线程解耦 </a:t>
            </a:r>
            <a:r>
              <a:rPr lang="zh-CN" altLang="en-US" sz="1800" b="0" i="0" u="none" strike="noStrike" cap="none" dirty="0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摒弃了传统的单线程阻塞轮询，项目完全利用 </a:t>
            </a:r>
            <a:r>
              <a:rPr lang="en-US" sz="1800" b="0" i="0" u="none" strike="noStrike" cap="none" dirty="0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C++11 </a:t>
            </a:r>
            <a:r>
              <a:rPr lang="zh-CN" altLang="en-US" sz="1800" b="0" i="0" u="none" strike="noStrike" cap="none" dirty="0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的 </a:t>
            </a:r>
            <a:r>
              <a:rPr lang="en-US" sz="1800" b="0" i="0" u="none" strike="noStrike" cap="none" dirty="0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std::thread </a:t>
            </a:r>
            <a:r>
              <a:rPr lang="zh-CN" altLang="en-US" sz="1800" b="0" i="0" u="none" strike="noStrike" cap="none" dirty="0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开启了独立的底层游戏时钟引擎（</a:t>
            </a:r>
            <a:r>
              <a:rPr lang="en-US" sz="1800" b="0" i="0" u="none" strike="noStrike" cap="none" dirty="0" err="1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GameClock</a:t>
            </a:r>
            <a:r>
              <a:rPr lang="en-US" sz="1800" b="0" i="0" u="none" strike="noStrike" cap="none" dirty="0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）。</a:t>
            </a:r>
            <a:r>
              <a:rPr lang="zh-CN" altLang="en-US" sz="1800" b="0" i="0" u="none" strike="noStrike" cap="none" dirty="0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昼夜交替、实体复活等高频运算均派发至该专属后台线程执行，彻底解放了界面主渲染线程，确保前台跑图时的 </a:t>
            </a:r>
            <a:r>
              <a:rPr lang="en-US" altLang="zh-CN" sz="1800" b="0" i="0" u="none" strike="noStrike" cap="none" dirty="0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60</a:t>
            </a:r>
            <a:r>
              <a:rPr lang="en-US" sz="1800" b="0" i="0" u="none" strike="noStrike" cap="none" dirty="0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FPS </a:t>
            </a:r>
            <a:r>
              <a:rPr lang="zh-CN" altLang="en-US" sz="1800" b="0" i="0" u="none" strike="noStrike" cap="none" dirty="0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满血流畅度，且通过 </a:t>
            </a:r>
            <a:r>
              <a:rPr lang="en-US" sz="1800" b="0" i="0" u="none" strike="noStrike" cap="none" dirty="0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std::mutex </a:t>
            </a:r>
            <a:r>
              <a:rPr lang="zh-CN" altLang="en-US" sz="1800" b="0" i="0" u="none" strike="noStrike" cap="none" dirty="0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互斥锁完美避免了脏读。</a:t>
            </a:r>
            <a:endParaRPr sz="1800" dirty="0"/>
          </a:p>
        </p:txBody>
      </p:sp>
      <p:sp>
        <p:nvSpPr>
          <p:cNvPr id="249" name="Google Shape;249;p22"/>
          <p:cNvSpPr txBox="1"/>
          <p:nvPr>
            <p:custDataLst>
              <p:tags r:id="rId5"/>
            </p:custDataLst>
          </p:nvPr>
        </p:nvSpPr>
        <p:spPr>
          <a:xfrm>
            <a:off x="6934200" y="1767780"/>
            <a:ext cx="4610576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1E40A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平滑的黑屏淡入淡出动画</a:t>
            </a:r>
          </a:p>
        </p:txBody>
      </p:sp>
      <p:sp>
        <p:nvSpPr>
          <p:cNvPr id="250" name="Google Shape;250;p22"/>
          <p:cNvSpPr txBox="1"/>
          <p:nvPr>
            <p:custDataLst>
              <p:tags r:id="rId6"/>
            </p:custDataLst>
          </p:nvPr>
        </p:nvSpPr>
        <p:spPr>
          <a:xfrm>
            <a:off x="6553200" y="2510601"/>
            <a:ext cx="4743450" cy="3544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800" b="1" i="0" u="none" strike="noStrike" cap="none" dirty="0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平滑的异步 </a:t>
            </a:r>
            <a:r>
              <a:rPr lang="en-US" sz="1800" b="1" i="0" u="none" strike="noStrike" cap="none" dirty="0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UI </a:t>
            </a:r>
            <a:r>
              <a:rPr lang="zh-CN" altLang="en-US" sz="1800" b="1" i="0" u="none" strike="noStrike" cap="none" dirty="0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过渡体验 </a:t>
            </a:r>
            <a:r>
              <a:rPr lang="zh-CN" altLang="en-US" sz="1800" b="0" i="0" u="none" strike="noStrike" cap="none" dirty="0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抛弃了传统利用线程死循环 </a:t>
            </a:r>
            <a:r>
              <a:rPr lang="en-US" sz="1800" b="0" i="0" u="none" strike="noStrike" cap="none" dirty="0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Sleep() </a:t>
            </a:r>
            <a:r>
              <a:rPr lang="zh-CN" altLang="en-US" sz="1800" b="0" i="0" u="none" strike="noStrike" cap="none" dirty="0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来强行控制动画的违规操作（容易导致 </a:t>
            </a:r>
            <a:r>
              <a:rPr lang="en-US" sz="1800" b="0" i="0" u="none" strike="noStrike" cap="none" dirty="0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UI </a:t>
            </a:r>
            <a:r>
              <a:rPr lang="zh-CN" altLang="en-US" sz="1800" b="0" i="0" u="none" strike="noStrike" cap="none" dirty="0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卡死），创造性地引入了 </a:t>
            </a:r>
            <a:r>
              <a:rPr lang="en-US" sz="1800" b="0" i="0" u="none" strike="noStrike" cap="none" dirty="0" err="1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QPropertyAnimation</a:t>
            </a:r>
            <a:r>
              <a:rPr lang="en-US" sz="1800" b="0" i="0" u="none" strike="noStrike" cap="none" dirty="0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 </a:t>
            </a:r>
            <a:r>
              <a:rPr lang="zh-CN" altLang="en-US" sz="1800" b="0" i="0" u="none" strike="noStrike" cap="none" dirty="0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异步属性动画引擎。在执行例如“任务更新通知”等视觉反馈时，由底层接管 </a:t>
            </a:r>
            <a:r>
              <a:rPr lang="en-US" sz="1800" b="0" i="0" u="none" strike="noStrike" cap="none" dirty="0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Alpha </a:t>
            </a:r>
            <a:r>
              <a:rPr lang="zh-CN" altLang="en-US" sz="1800" b="0" i="0" u="none" strike="noStrike" cap="none" dirty="0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透明度的平滑计算（</a:t>
            </a:r>
            <a:r>
              <a:rPr lang="en-US" altLang="zh-CN" sz="1800" b="0" i="0" u="none" strike="noStrike" cap="none" dirty="0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0.0 </a:t>
            </a:r>
            <a:r>
              <a:rPr lang="zh-CN" altLang="en-US" sz="1800" b="0" i="0" u="none" strike="noStrike" cap="none" dirty="0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渐变至 </a:t>
            </a:r>
            <a:r>
              <a:rPr lang="en-US" altLang="zh-CN" sz="1800" b="0" i="0" u="none" strike="noStrike" cap="none" dirty="0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1.0</a:t>
            </a:r>
            <a:r>
              <a:rPr lang="zh-CN" altLang="en-US" sz="1800" b="0" i="0" u="none" strike="noStrike" cap="none" dirty="0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），在不阻塞任何玩家操作的前提下优雅实现了非线性渐变特效。</a:t>
            </a:r>
            <a:endParaRPr sz="1800" dirty="0"/>
          </a:p>
        </p:txBody>
      </p:sp>
      <p:pic>
        <p:nvPicPr>
          <p:cNvPr id="251" name="Google Shape;251;p22" descr="image.png"/>
          <p:cNvPicPr preferRelativeResize="0"/>
          <p:nvPr>
            <p:custDataLst>
              <p:tags r:id="rId7"/>
            </p:custDataLst>
          </p:nvPr>
        </p:nvPicPr>
        <p:blipFill rotWithShape="1">
          <a:blip r:embed="rId14"/>
          <a:srcRect/>
          <a:stretch>
            <a:fillRect/>
          </a:stretch>
        </p:blipFill>
        <p:spPr>
          <a:xfrm>
            <a:off x="866775" y="1805880"/>
            <a:ext cx="228600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2" name="Google Shape;252;p22" descr="image.png"/>
          <p:cNvPicPr preferRelativeResize="0"/>
          <p:nvPr>
            <p:custDataLst>
              <p:tags r:id="rId8"/>
            </p:custDataLst>
          </p:nvPr>
        </p:nvPicPr>
        <p:blipFill rotWithShape="1">
          <a:blip r:embed="rId15"/>
          <a:srcRect/>
          <a:stretch>
            <a:fillRect/>
          </a:stretch>
        </p:blipFill>
        <p:spPr>
          <a:xfrm>
            <a:off x="6581775" y="1805880"/>
            <a:ext cx="257175" cy="228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23"/>
          <p:cNvSpPr txBox="1"/>
          <p:nvPr/>
        </p:nvSpPr>
        <p:spPr>
          <a:xfrm>
            <a:off x="714375" y="476250"/>
            <a:ext cx="11451431" cy="434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1" i="0" u="none" strike="noStrike" cap="none">
                <a:solidFill>
                  <a:srgbClr val="1E40A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STL 高阶应用与 A* 寻路算法</a:t>
            </a:r>
          </a:p>
        </p:txBody>
      </p:sp>
      <p:sp>
        <p:nvSpPr>
          <p:cNvPr id="260" name="Google Shape;260;p23"/>
          <p:cNvSpPr/>
          <p:nvPr/>
        </p:nvSpPr>
        <p:spPr>
          <a:xfrm>
            <a:off x="571500" y="476250"/>
            <a:ext cx="57150" cy="43428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61" name="Google Shape;261;p23"/>
          <p:cNvSpPr txBox="1"/>
          <p:nvPr/>
        </p:nvSpPr>
        <p:spPr>
          <a:xfrm>
            <a:off x="771525" y="967680"/>
            <a:ext cx="10848975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0891B2"/>
                </a:solidFill>
                <a:latin typeface="JetBrains Mono Medium" panose="02000009000000000000"/>
                <a:ea typeface="JetBrains Mono Medium" panose="02000009000000000000"/>
                <a:cs typeface="JetBrains Mono Medium" panose="02000009000000000000"/>
                <a:sym typeface="JetBrains Mono Medium" panose="02000009000000000000"/>
              </a:rPr>
              <a:t>CHALLENGE III: STL INTEGRATION &amp; A-STAR ALGORITHM</a:t>
            </a:r>
          </a:p>
        </p:txBody>
      </p:sp>
      <p:pic>
        <p:nvPicPr>
          <p:cNvPr id="263" name="Google Shape;263;p23" descr="image.png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6809483" y="3276600"/>
            <a:ext cx="4811017" cy="3581400"/>
          </a:xfrm>
          <a:prstGeom prst="rect">
            <a:avLst/>
          </a:prstGeom>
          <a:noFill/>
          <a:ln>
            <a:noFill/>
          </a:ln>
        </p:spPr>
      </p:pic>
      <p:sp>
        <p:nvSpPr>
          <p:cNvPr id="264" name="Google Shape;264;p23"/>
          <p:cNvSpPr txBox="1"/>
          <p:nvPr/>
        </p:nvSpPr>
        <p:spPr>
          <a:xfrm>
            <a:off x="904874" y="1531910"/>
            <a:ext cx="5485507" cy="1107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i="0" u="none" strike="noStrike" cap="none" dirty="0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std::</a:t>
            </a:r>
            <a:r>
              <a:rPr lang="en-US" sz="1600" i="0" u="none" strike="noStrike" cap="none" dirty="0" err="1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priority_queue</a:t>
            </a:r>
            <a:r>
              <a:rPr lang="en-US" sz="1600" i="0" u="none" strike="noStrike" cap="none" dirty="0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：</a:t>
            </a:r>
            <a:r>
              <a:rPr lang="zh-CN" altLang="en-US" sz="1600" i="0" u="none" strike="noStrike" cap="none" dirty="0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用于存储待拓展的 </a:t>
            </a:r>
            <a:r>
              <a:rPr lang="en-US" sz="1600" i="0" u="none" strike="noStrike" cap="none" dirty="0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Open List，</a:t>
            </a:r>
            <a:r>
              <a:rPr lang="zh-CN" altLang="en-US" sz="1600" i="0" u="none" strike="noStrike" cap="none" dirty="0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以自定义的代价评估函数（</a:t>
            </a:r>
            <a:r>
              <a:rPr lang="en-US" sz="1600" i="0" u="none" strike="noStrike" cap="none" dirty="0" err="1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CompareNodePtr</a:t>
            </a:r>
            <a:r>
              <a:rPr lang="en-US" sz="1600" i="0" u="none" strike="noStrike" cap="none" dirty="0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）</a:t>
            </a:r>
            <a:r>
              <a:rPr lang="zh-CN" altLang="en-US" sz="1600" i="0" u="none" strike="noStrike" cap="none" dirty="0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实现 </a:t>
            </a:r>
            <a:r>
              <a:rPr lang="en-US" sz="1600" i="0" u="none" strike="noStrike" cap="none" dirty="0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f(n) = g(n) + h(n) </a:t>
            </a:r>
            <a:r>
              <a:rPr lang="zh-CN" altLang="en-US" sz="1600" i="0" u="none" strike="noStrike" cap="none" dirty="0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的自动排序，从而以 </a:t>
            </a:r>
            <a:r>
              <a:rPr lang="en-US" sz="1600" i="0" u="none" strike="noStrike" cap="none" dirty="0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O(1) </a:t>
            </a:r>
            <a:r>
              <a:rPr lang="zh-CN" altLang="en-US" sz="1600" i="0" u="none" strike="noStrike" cap="none" dirty="0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的时间开销获取最优下步节点。</a:t>
            </a:r>
            <a:endParaRPr sz="1600" dirty="0"/>
          </a:p>
        </p:txBody>
      </p:sp>
      <p:sp>
        <p:nvSpPr>
          <p:cNvPr id="265" name="Google Shape;265;p23"/>
          <p:cNvSpPr txBox="1"/>
          <p:nvPr/>
        </p:nvSpPr>
        <p:spPr>
          <a:xfrm>
            <a:off x="905185" y="3069067"/>
            <a:ext cx="5485507" cy="14770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600" i="0" u="none" strike="noStrike" cap="none" dirty="0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空间换时间的二维 </a:t>
            </a:r>
            <a:r>
              <a:rPr lang="en-US" sz="1600" i="0" u="none" strike="noStrike" cap="none" dirty="0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std::vector：</a:t>
            </a:r>
            <a:r>
              <a:rPr lang="zh-CN" altLang="en-US" sz="1600" i="0" u="none" strike="noStrike" cap="none" dirty="0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抛弃了常规的哈希表记录，</a:t>
            </a:r>
            <a:r>
              <a:rPr lang="en-US" sz="1600" i="0" u="none" strike="noStrike" cap="none" dirty="0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Closed List </a:t>
            </a:r>
            <a:r>
              <a:rPr lang="zh-CN" altLang="en-US" sz="1600" i="0" u="none" strike="noStrike" cap="none" dirty="0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直接采用二维 </a:t>
            </a:r>
            <a:r>
              <a:rPr lang="en-US" sz="1600" i="0" u="none" strike="noStrike" cap="none" dirty="0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vector&lt;vector&lt;bool&gt;&gt; </a:t>
            </a:r>
            <a:r>
              <a:rPr lang="zh-CN" altLang="en-US" sz="1600" i="0" u="none" strike="noStrike" cap="none" dirty="0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进行网格坐标的绝对映射，实现了真正无哈希冲突的 </a:t>
            </a:r>
            <a:r>
              <a:rPr lang="en-US" sz="1600" i="0" u="none" strike="noStrike" cap="none" dirty="0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O(1) </a:t>
            </a:r>
            <a:r>
              <a:rPr lang="zh-CN" altLang="en-US" sz="1600" i="0" u="none" strike="noStrike" cap="none" dirty="0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超高过滤效率。</a:t>
            </a:r>
            <a:endParaRPr sz="1600" dirty="0"/>
          </a:p>
        </p:txBody>
      </p:sp>
      <p:sp>
        <p:nvSpPr>
          <p:cNvPr id="266" name="Google Shape;266;p23"/>
          <p:cNvSpPr txBox="1"/>
          <p:nvPr/>
        </p:nvSpPr>
        <p:spPr>
          <a:xfrm>
            <a:off x="904874" y="4853699"/>
            <a:ext cx="5485507" cy="14770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i="0" u="none" strike="noStrike" cap="none" dirty="0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std::</a:t>
            </a:r>
            <a:r>
              <a:rPr lang="en-US" sz="1600" i="0" u="none" strike="noStrike" cap="none" dirty="0" err="1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unique_ptr</a:t>
            </a:r>
            <a:r>
              <a:rPr lang="en-US" sz="1600" i="0" u="none" strike="noStrike" cap="none" dirty="0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 </a:t>
            </a:r>
            <a:r>
              <a:rPr lang="zh-CN" altLang="en-US" sz="1600" i="0" u="none" strike="noStrike" cap="none" dirty="0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与内存安全：在节点拓展过程中产生的大量临时 </a:t>
            </a:r>
            <a:r>
              <a:rPr lang="en-US" sz="1600" i="0" u="none" strike="noStrike" cap="none" dirty="0" err="1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AStarNode</a:t>
            </a:r>
            <a:r>
              <a:rPr lang="en-US" sz="1600" i="0" u="none" strike="noStrike" cap="none" dirty="0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 </a:t>
            </a:r>
            <a:r>
              <a:rPr lang="zh-CN" altLang="en-US" sz="1600" i="0" u="none" strike="noStrike" cap="none" dirty="0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指针，统一交由 </a:t>
            </a:r>
            <a:r>
              <a:rPr lang="en-US" sz="1600" i="0" u="none" strike="noStrike" cap="none" dirty="0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vector&lt;</a:t>
            </a:r>
            <a:r>
              <a:rPr lang="en-US" sz="1600" i="0" u="none" strike="noStrike" cap="none" dirty="0" err="1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unique_ptr</a:t>
            </a:r>
            <a:r>
              <a:rPr lang="en-US" sz="1600" i="0" u="none" strike="noStrike" cap="none" dirty="0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&gt; </a:t>
            </a:r>
            <a:r>
              <a:rPr lang="zh-CN" altLang="en-US" sz="1600" i="0" u="none" strike="noStrike" cap="none" dirty="0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的对象池接管，算法结束时自动析构，实现了 </a:t>
            </a:r>
            <a:r>
              <a:rPr lang="en-US" sz="1600" i="0" u="none" strike="noStrike" cap="none" dirty="0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C++ </a:t>
            </a:r>
            <a:r>
              <a:rPr lang="zh-CN" altLang="en-US" sz="1600" i="0" u="none" strike="noStrike" cap="none" dirty="0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现代标准下的零内存泄漏。</a:t>
            </a:r>
            <a:endParaRPr sz="1600" dirty="0"/>
          </a:p>
        </p:txBody>
      </p:sp>
      <p:pic>
        <p:nvPicPr>
          <p:cNvPr id="268" name="Google Shape;268;p23" descr="image.png"/>
          <p:cNvPicPr preferRelativeResize="0"/>
          <p:nvPr/>
        </p:nvPicPr>
        <p:blipFill rotWithShape="1">
          <a:blip r:embed="rId4"/>
          <a:srcRect/>
          <a:stretch>
            <a:fillRect/>
          </a:stretch>
        </p:blipFill>
        <p:spPr>
          <a:xfrm>
            <a:off x="571500" y="3341340"/>
            <a:ext cx="21907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69" name="Google Shape;269;p23" descr="image.png"/>
          <p:cNvPicPr preferRelativeResize="0"/>
          <p:nvPr/>
        </p:nvPicPr>
        <p:blipFill rotWithShape="1">
          <a:blip r:embed="rId5"/>
          <a:srcRect/>
          <a:stretch>
            <a:fillRect/>
          </a:stretch>
        </p:blipFill>
        <p:spPr>
          <a:xfrm>
            <a:off x="571500" y="4170015"/>
            <a:ext cx="16192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70" name="Google Shape;270;p23" descr="image.png"/>
          <p:cNvPicPr preferRelativeResize="0"/>
          <p:nvPr/>
        </p:nvPicPr>
        <p:blipFill rotWithShape="1">
          <a:blip r:embed="rId6"/>
          <a:srcRect/>
          <a:stretch>
            <a:fillRect/>
          </a:stretch>
        </p:blipFill>
        <p:spPr>
          <a:xfrm>
            <a:off x="571500" y="4770090"/>
            <a:ext cx="219075" cy="20002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文本框 1"/>
          <p:cNvSpPr txBox="1"/>
          <p:nvPr/>
        </p:nvSpPr>
        <p:spPr>
          <a:xfrm>
            <a:off x="6957098" y="477424"/>
            <a:ext cx="5082269" cy="29997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altLang="zh-CN" dirty="0">
                <a:solidFill>
                  <a:srgbClr val="0F172A"/>
                </a:solidFill>
                <a:latin typeface="Inter" panose="02000503000000020004"/>
              </a:rPr>
              <a:t>A* </a:t>
            </a:r>
            <a:r>
              <a:rPr lang="zh-CN" altLang="en-US" dirty="0">
                <a:solidFill>
                  <a:srgbClr val="0F172A"/>
                </a:solidFill>
                <a:latin typeface="Inter" panose="02000503000000020004"/>
              </a:rPr>
              <a:t>核心 </a:t>
            </a:r>
            <a:r>
              <a:rPr lang="en-GB" altLang="zh-CN" dirty="0">
                <a:solidFill>
                  <a:srgbClr val="0F172A"/>
                </a:solidFill>
                <a:latin typeface="Inter" panose="02000503000000020004"/>
              </a:rPr>
              <a:t>STL </a:t>
            </a:r>
            <a:r>
              <a:rPr lang="zh-CN" altLang="en-US" dirty="0">
                <a:solidFill>
                  <a:srgbClr val="0F172A"/>
                </a:solidFill>
                <a:latin typeface="Inter" panose="02000503000000020004"/>
              </a:rPr>
              <a:t>容器声明</a:t>
            </a:r>
          </a:p>
          <a:p>
            <a:pPr>
              <a:lnSpc>
                <a:spcPct val="150000"/>
              </a:lnSpc>
            </a:pPr>
            <a:r>
              <a:rPr lang="en-US" altLang="zh-CN" dirty="0">
                <a:solidFill>
                  <a:srgbClr val="0F172A"/>
                </a:solidFill>
                <a:latin typeface="Inter" panose="02000503000000020004"/>
              </a:rPr>
              <a:t>// 1. </a:t>
            </a:r>
            <a:r>
              <a:rPr lang="zh-CN" altLang="en-US" dirty="0">
                <a:solidFill>
                  <a:srgbClr val="0F172A"/>
                </a:solidFill>
                <a:latin typeface="Inter" panose="02000503000000020004"/>
              </a:rPr>
              <a:t>优先队列 </a:t>
            </a:r>
            <a:r>
              <a:rPr lang="en-US" altLang="zh-CN" dirty="0">
                <a:solidFill>
                  <a:srgbClr val="0F172A"/>
                </a:solidFill>
                <a:latin typeface="Inter" panose="02000503000000020004"/>
              </a:rPr>
              <a:t>(</a:t>
            </a:r>
            <a:r>
              <a:rPr lang="en-GB" altLang="zh-CN" dirty="0">
                <a:solidFill>
                  <a:srgbClr val="0F172A"/>
                </a:solidFill>
                <a:latin typeface="Inter" panose="02000503000000020004"/>
              </a:rPr>
              <a:t>Open List)</a:t>
            </a:r>
          </a:p>
          <a:p>
            <a:pPr>
              <a:lnSpc>
                <a:spcPct val="150000"/>
              </a:lnSpc>
            </a:pPr>
            <a:r>
              <a:rPr lang="en-GB" altLang="zh-CN" dirty="0">
                <a:solidFill>
                  <a:srgbClr val="0F172A"/>
                </a:solidFill>
                <a:latin typeface="Inter" panose="02000503000000020004"/>
              </a:rPr>
              <a:t>std::</a:t>
            </a:r>
            <a:r>
              <a:rPr lang="en-GB" altLang="zh-CN" dirty="0" err="1">
                <a:solidFill>
                  <a:srgbClr val="0F172A"/>
                </a:solidFill>
                <a:latin typeface="Inter" panose="02000503000000020004"/>
              </a:rPr>
              <a:t>priority_queue</a:t>
            </a:r>
            <a:r>
              <a:rPr lang="en-GB" altLang="zh-CN" dirty="0">
                <a:solidFill>
                  <a:srgbClr val="0F172A"/>
                </a:solidFill>
                <a:latin typeface="Inter" panose="02000503000000020004"/>
              </a:rPr>
              <a:t>&lt;</a:t>
            </a:r>
            <a:r>
              <a:rPr lang="en-GB" altLang="zh-CN" dirty="0" err="1">
                <a:solidFill>
                  <a:srgbClr val="0F172A"/>
                </a:solidFill>
                <a:latin typeface="Inter" panose="02000503000000020004"/>
              </a:rPr>
              <a:t>AStarNode</a:t>
            </a:r>
            <a:r>
              <a:rPr lang="en-GB" altLang="zh-CN" dirty="0">
                <a:solidFill>
                  <a:srgbClr val="0F172A"/>
                </a:solidFill>
                <a:latin typeface="Inter" panose="02000503000000020004"/>
              </a:rPr>
              <a:t>*, std::vector&lt;</a:t>
            </a:r>
            <a:r>
              <a:rPr lang="en-GB" altLang="zh-CN" dirty="0" err="1">
                <a:solidFill>
                  <a:srgbClr val="0F172A"/>
                </a:solidFill>
                <a:latin typeface="Inter" panose="02000503000000020004"/>
              </a:rPr>
              <a:t>AStarNode</a:t>
            </a:r>
            <a:r>
              <a:rPr lang="en-GB" altLang="zh-CN" dirty="0">
                <a:solidFill>
                  <a:srgbClr val="0F172A"/>
                </a:solidFill>
                <a:latin typeface="Inter" panose="02000503000000020004"/>
              </a:rPr>
              <a:t>*&gt;, </a:t>
            </a:r>
            <a:r>
              <a:rPr lang="en-GB" altLang="zh-CN" dirty="0" err="1">
                <a:solidFill>
                  <a:srgbClr val="0F172A"/>
                </a:solidFill>
                <a:latin typeface="Inter" panose="02000503000000020004"/>
              </a:rPr>
              <a:t>CompareNodePtr</a:t>
            </a:r>
            <a:r>
              <a:rPr lang="en-GB" altLang="zh-CN" dirty="0">
                <a:solidFill>
                  <a:srgbClr val="0F172A"/>
                </a:solidFill>
                <a:latin typeface="Inter" panose="02000503000000020004"/>
              </a:rPr>
              <a:t>&gt; </a:t>
            </a:r>
            <a:r>
              <a:rPr lang="en-GB" altLang="zh-CN" dirty="0" err="1">
                <a:solidFill>
                  <a:srgbClr val="0F172A"/>
                </a:solidFill>
                <a:latin typeface="Inter" panose="02000503000000020004"/>
              </a:rPr>
              <a:t>openList</a:t>
            </a:r>
            <a:r>
              <a:rPr lang="en-GB" altLang="zh-CN" dirty="0">
                <a:solidFill>
                  <a:srgbClr val="0F172A"/>
                </a:solidFill>
                <a:latin typeface="Inter" panose="02000503000000020004"/>
              </a:rPr>
              <a:t>;</a:t>
            </a:r>
          </a:p>
          <a:p>
            <a:pPr>
              <a:lnSpc>
                <a:spcPct val="150000"/>
              </a:lnSpc>
            </a:pPr>
            <a:r>
              <a:rPr lang="en-GB" altLang="zh-CN" dirty="0">
                <a:solidFill>
                  <a:srgbClr val="0F172A"/>
                </a:solidFill>
                <a:latin typeface="Inter" panose="02000503000000020004"/>
              </a:rPr>
              <a:t>// 2. </a:t>
            </a:r>
            <a:r>
              <a:rPr lang="zh-CN" altLang="en-US" dirty="0">
                <a:solidFill>
                  <a:srgbClr val="0F172A"/>
                </a:solidFill>
                <a:latin typeface="Inter" panose="02000503000000020004"/>
              </a:rPr>
              <a:t>二维动态数组映射 </a:t>
            </a:r>
            <a:r>
              <a:rPr lang="en-US" altLang="zh-CN" dirty="0">
                <a:solidFill>
                  <a:srgbClr val="0F172A"/>
                </a:solidFill>
                <a:latin typeface="Inter" panose="02000503000000020004"/>
              </a:rPr>
              <a:t>(</a:t>
            </a:r>
            <a:r>
              <a:rPr lang="en-GB" altLang="zh-CN" dirty="0">
                <a:solidFill>
                  <a:srgbClr val="0F172A"/>
                </a:solidFill>
                <a:latin typeface="Inter" panose="02000503000000020004"/>
              </a:rPr>
              <a:t>Close List)</a:t>
            </a:r>
          </a:p>
          <a:p>
            <a:pPr>
              <a:lnSpc>
                <a:spcPct val="150000"/>
              </a:lnSpc>
            </a:pPr>
            <a:r>
              <a:rPr lang="en-GB" altLang="zh-CN" dirty="0">
                <a:solidFill>
                  <a:srgbClr val="0F172A"/>
                </a:solidFill>
                <a:latin typeface="Inter" panose="02000503000000020004"/>
              </a:rPr>
              <a:t>std::vector&lt;std::vector&lt;bool&gt;&gt; </a:t>
            </a:r>
            <a:r>
              <a:rPr lang="en-GB" altLang="zh-CN" dirty="0" err="1">
                <a:solidFill>
                  <a:srgbClr val="0F172A"/>
                </a:solidFill>
                <a:latin typeface="Inter" panose="02000503000000020004"/>
              </a:rPr>
              <a:t>closedList</a:t>
            </a:r>
            <a:r>
              <a:rPr lang="en-GB" altLang="zh-CN" dirty="0">
                <a:solidFill>
                  <a:srgbClr val="0F172A"/>
                </a:solidFill>
                <a:latin typeface="Inter" panose="02000503000000020004"/>
              </a:rPr>
              <a:t>(</a:t>
            </a:r>
            <a:r>
              <a:rPr lang="en-GB" altLang="zh-CN" dirty="0" err="1">
                <a:solidFill>
                  <a:srgbClr val="0F172A"/>
                </a:solidFill>
                <a:latin typeface="Inter" panose="02000503000000020004"/>
              </a:rPr>
              <a:t>mapHeight</a:t>
            </a:r>
            <a:r>
              <a:rPr lang="en-GB" altLang="zh-CN" dirty="0">
                <a:solidFill>
                  <a:srgbClr val="0F172A"/>
                </a:solidFill>
                <a:latin typeface="Inter" panose="02000503000000020004"/>
              </a:rPr>
              <a:t>, std::vector&lt;bool&gt;(</a:t>
            </a:r>
            <a:r>
              <a:rPr lang="en-GB" altLang="zh-CN" dirty="0" err="1">
                <a:solidFill>
                  <a:srgbClr val="0F172A"/>
                </a:solidFill>
                <a:latin typeface="Inter" panose="02000503000000020004"/>
              </a:rPr>
              <a:t>mapWidth</a:t>
            </a:r>
            <a:r>
              <a:rPr lang="en-GB" altLang="zh-CN" dirty="0">
                <a:solidFill>
                  <a:srgbClr val="0F172A"/>
                </a:solidFill>
                <a:latin typeface="Inter" panose="02000503000000020004"/>
              </a:rPr>
              <a:t>, false));</a:t>
            </a:r>
          </a:p>
          <a:p>
            <a:pPr>
              <a:lnSpc>
                <a:spcPct val="150000"/>
              </a:lnSpc>
            </a:pPr>
            <a:r>
              <a:rPr lang="en-GB" altLang="zh-CN" dirty="0">
                <a:solidFill>
                  <a:srgbClr val="0F172A"/>
                </a:solidFill>
                <a:latin typeface="Inter" panose="02000503000000020004"/>
              </a:rPr>
              <a:t>// 3. </a:t>
            </a:r>
            <a:r>
              <a:rPr lang="zh-CN" altLang="en-US" dirty="0">
                <a:solidFill>
                  <a:srgbClr val="0F172A"/>
                </a:solidFill>
                <a:latin typeface="Inter" panose="02000503000000020004"/>
              </a:rPr>
              <a:t>智能指针对象池 </a:t>
            </a:r>
            <a:r>
              <a:rPr lang="en-US" altLang="zh-CN" dirty="0">
                <a:solidFill>
                  <a:srgbClr val="0F172A"/>
                </a:solidFill>
                <a:latin typeface="Inter" panose="02000503000000020004"/>
              </a:rPr>
              <a:t>(</a:t>
            </a:r>
            <a:r>
              <a:rPr lang="zh-CN" altLang="en-US" dirty="0">
                <a:solidFill>
                  <a:srgbClr val="0F172A"/>
                </a:solidFill>
                <a:latin typeface="Inter" panose="02000503000000020004"/>
              </a:rPr>
              <a:t>杜绝内存泄漏</a:t>
            </a:r>
            <a:r>
              <a:rPr lang="en-US" altLang="zh-CN" dirty="0">
                <a:solidFill>
                  <a:srgbClr val="0F172A"/>
                </a:solidFill>
                <a:latin typeface="Inter" panose="02000503000000020004"/>
              </a:rPr>
              <a:t>)</a:t>
            </a:r>
          </a:p>
          <a:p>
            <a:pPr>
              <a:lnSpc>
                <a:spcPct val="150000"/>
              </a:lnSpc>
            </a:pPr>
            <a:r>
              <a:rPr lang="en-GB" altLang="zh-CN" dirty="0">
                <a:solidFill>
                  <a:srgbClr val="0F172A"/>
                </a:solidFill>
                <a:latin typeface="Inter" panose="02000503000000020004"/>
              </a:rPr>
              <a:t>std::vector&lt;std::</a:t>
            </a:r>
            <a:r>
              <a:rPr lang="en-GB" altLang="zh-CN" dirty="0" err="1">
                <a:solidFill>
                  <a:srgbClr val="0F172A"/>
                </a:solidFill>
                <a:latin typeface="Inter" panose="02000503000000020004"/>
              </a:rPr>
              <a:t>unique_ptr</a:t>
            </a:r>
            <a:r>
              <a:rPr lang="en-GB" altLang="zh-CN" dirty="0">
                <a:solidFill>
                  <a:srgbClr val="0F172A"/>
                </a:solidFill>
                <a:latin typeface="Inter" panose="02000503000000020004"/>
              </a:rPr>
              <a:t>&lt;</a:t>
            </a:r>
            <a:r>
              <a:rPr lang="en-GB" altLang="zh-CN" dirty="0" err="1">
                <a:solidFill>
                  <a:srgbClr val="0F172A"/>
                </a:solidFill>
                <a:latin typeface="Inter" panose="02000503000000020004"/>
              </a:rPr>
              <a:t>AStarNode</a:t>
            </a:r>
            <a:r>
              <a:rPr lang="en-GB" altLang="zh-CN" dirty="0">
                <a:solidFill>
                  <a:srgbClr val="0F172A"/>
                </a:solidFill>
                <a:latin typeface="Inter" panose="02000503000000020004"/>
              </a:rPr>
              <a:t>&gt;&gt; </a:t>
            </a:r>
            <a:r>
              <a:rPr lang="en-GB" altLang="zh-CN" dirty="0" err="1">
                <a:solidFill>
                  <a:srgbClr val="0F172A"/>
                </a:solidFill>
                <a:latin typeface="Inter" panose="02000503000000020004"/>
              </a:rPr>
              <a:t>nodePool</a:t>
            </a:r>
            <a:r>
              <a:rPr kumimoji="1" lang="en-GB" altLang="zh-CN" dirty="0"/>
              <a:t>;</a:t>
            </a:r>
            <a:endParaRPr kumimoji="1" lang="zh-CN" altLang="en-US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5" name="Google Shape;275;p24" descr="image.png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6" name="Google Shape;276;p24" descr="image.png"/>
          <p:cNvPicPr preferRelativeResize="0"/>
          <p:nvPr/>
        </p:nvPicPr>
        <p:blipFill rotWithShape="1">
          <a:blip r:embed="rId4"/>
          <a:srcRect/>
          <a:stretch>
            <a:fillRect/>
          </a:stretch>
        </p:blipFill>
        <p:spPr>
          <a:xfrm>
            <a:off x="571500" y="1472505"/>
            <a:ext cx="11049000" cy="4909244"/>
          </a:xfrm>
          <a:prstGeom prst="rect">
            <a:avLst/>
          </a:prstGeom>
          <a:noFill/>
          <a:ln>
            <a:noFill/>
          </a:ln>
        </p:spPr>
      </p:pic>
      <p:sp>
        <p:nvSpPr>
          <p:cNvPr id="277" name="Google Shape;277;p24"/>
          <p:cNvSpPr txBox="1"/>
          <p:nvPr/>
        </p:nvSpPr>
        <p:spPr>
          <a:xfrm>
            <a:off x="714375" y="476250"/>
            <a:ext cx="11451431" cy="434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1" i="0" u="none" strike="noStrike" cap="none">
                <a:solidFill>
                  <a:srgbClr val="1E40A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高效的模块化团队协作</a:t>
            </a:r>
          </a:p>
        </p:txBody>
      </p:sp>
      <p:sp>
        <p:nvSpPr>
          <p:cNvPr id="278" name="Google Shape;278;p24"/>
          <p:cNvSpPr/>
          <p:nvPr/>
        </p:nvSpPr>
        <p:spPr>
          <a:xfrm>
            <a:off x="571500" y="476250"/>
            <a:ext cx="57150" cy="43428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79" name="Google Shape;279;p24"/>
          <p:cNvSpPr txBox="1"/>
          <p:nvPr/>
        </p:nvSpPr>
        <p:spPr>
          <a:xfrm>
            <a:off x="771525" y="967680"/>
            <a:ext cx="10848975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0891B2"/>
                </a:solidFill>
                <a:latin typeface="JetBrains Mono Medium" panose="02000009000000000000"/>
                <a:ea typeface="JetBrains Mono Medium" panose="02000009000000000000"/>
                <a:cs typeface="JetBrains Mono Medium" panose="02000009000000000000"/>
                <a:sym typeface="JetBrains Mono Medium" panose="02000009000000000000"/>
              </a:rPr>
              <a:t>TEAM ROLES AND COLLABORATIVE WORKFLOW</a:t>
            </a:r>
          </a:p>
        </p:txBody>
      </p:sp>
      <p:graphicFrame>
        <p:nvGraphicFramePr>
          <p:cNvPr id="280" name="Google Shape;280;p24"/>
          <p:cNvGraphicFramePr/>
          <p:nvPr/>
        </p:nvGraphicFramePr>
        <p:xfrm>
          <a:off x="581025" y="1482030"/>
          <a:ext cx="11029950" cy="3362375"/>
        </p:xfrm>
        <a:graphic>
          <a:graphicData uri="http://schemas.openxmlformats.org/drawingml/2006/table">
            <a:tbl>
              <a:tblPr firstRow="1" bandRow="1">
                <a:noFill/>
                <a:tableStyleId>{4579CC66-B2EF-4C60-BFF7-A1B67CE13D10}</a:tableStyleId>
              </a:tblPr>
              <a:tblGrid>
                <a:gridCol w="16543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059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9634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062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724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1E40AF"/>
                          </a:solidFill>
                          <a:latin typeface="Inter" panose="02000503000000020004"/>
                          <a:ea typeface="Inter" panose="02000503000000020004"/>
                          <a:cs typeface="Inter" panose="02000503000000020004"/>
                          <a:sym typeface="Inter" panose="02000503000000020004"/>
                        </a:rPr>
                        <a:t>姓名</a:t>
                      </a: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1E40AF"/>
                          </a:solidFill>
                          <a:latin typeface="Inter" panose="02000503000000020004"/>
                          <a:ea typeface="Inter" panose="02000503000000020004"/>
                          <a:cs typeface="Inter" panose="02000503000000020004"/>
                          <a:sym typeface="Inter" panose="02000503000000020004"/>
                        </a:rPr>
                        <a:t>职责分工</a:t>
                      </a: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1E40AF"/>
                          </a:solidFill>
                          <a:latin typeface="Inter" panose="02000503000000020004"/>
                          <a:ea typeface="Inter" panose="02000503000000020004"/>
                          <a:cs typeface="Inter" panose="02000503000000020004"/>
                          <a:sym typeface="Inter" panose="02000503000000020004"/>
                        </a:rPr>
                        <a:t>核心贡献与产出</a:t>
                      </a: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1E40AF"/>
                          </a:solidFill>
                          <a:latin typeface="Inter" panose="02000503000000020004"/>
                          <a:ea typeface="Inter" panose="02000503000000020004"/>
                          <a:cs typeface="Inter" panose="02000503000000020004"/>
                          <a:sym typeface="Inter" panose="02000503000000020004"/>
                        </a:rPr>
                        <a:t>状态</a:t>
                      </a: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724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25" b="1" i="0" u="none" strike="noStrike" cap="none">
                          <a:solidFill>
                            <a:srgbClr val="0F172A"/>
                          </a:solidFill>
                          <a:latin typeface="Inter" panose="02000503000000020004"/>
                          <a:ea typeface="Inter" panose="02000503000000020004"/>
                          <a:cs typeface="Inter" panose="02000503000000020004"/>
                          <a:sym typeface="Inter" panose="02000503000000020004"/>
                        </a:rPr>
                        <a:t>陆辰睿</a:t>
                      </a:r>
                      <a:r>
                        <a:rPr lang="en-US" sz="1125" b="0" i="0" u="none" strike="noStrike" cap="none">
                          <a:solidFill>
                            <a:srgbClr val="0F172A"/>
                          </a:solidFill>
                          <a:latin typeface="Inter" panose="02000503000000020004"/>
                          <a:ea typeface="Inter" panose="02000503000000020004"/>
                          <a:cs typeface="Inter" panose="02000503000000020004"/>
                          <a:sym typeface="Inter" panose="02000503000000020004"/>
                        </a:rPr>
                        <a:t> (组长)</a:t>
                      </a: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25" b="0" i="0" u="none" strike="noStrike" cap="none">
                          <a:solidFill>
                            <a:srgbClr val="0F172A"/>
                          </a:solidFill>
                          <a:latin typeface="Inter" panose="02000503000000020004"/>
                          <a:ea typeface="Inter" panose="02000503000000020004"/>
                          <a:cs typeface="Inter" panose="02000503000000020004"/>
                          <a:sym typeface="Inter" panose="02000503000000020004"/>
                        </a:rPr>
                        <a:t>架构设计 / 业务逻辑</a:t>
                      </a: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25" b="0" i="0" u="none" strike="noStrike" cap="none">
                          <a:solidFill>
                            <a:srgbClr val="0F172A"/>
                          </a:solidFill>
                          <a:latin typeface="Inter" panose="02000503000000020004"/>
                          <a:ea typeface="Inter" panose="02000503000000020004"/>
                          <a:cs typeface="Inter" panose="02000503000000020004"/>
                          <a:sym typeface="Inter" panose="02000503000000020004"/>
                        </a:rPr>
                        <a:t>编写全部基础头文件、定义面向对象基类、打通核心逻辑与数据流。</a:t>
                      </a: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25" b="0" i="0" u="none" strike="noStrike" cap="none">
                          <a:solidFill>
                            <a:srgbClr val="0F172A"/>
                          </a:solidFill>
                          <a:latin typeface="Inter" panose="02000503000000020004"/>
                          <a:ea typeface="Inter" panose="02000503000000020004"/>
                          <a:cs typeface="Inter" panose="02000503000000020004"/>
                          <a:sym typeface="Inter" panose="02000503000000020004"/>
                        </a:rPr>
                        <a:t>已完成</a:t>
                      </a: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724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25" b="1" i="0" u="none" strike="noStrike" cap="none">
                          <a:solidFill>
                            <a:srgbClr val="0F172A"/>
                          </a:solidFill>
                          <a:latin typeface="Inter" panose="02000503000000020004"/>
                          <a:ea typeface="Inter" panose="02000503000000020004"/>
                          <a:cs typeface="Inter" panose="02000503000000020004"/>
                          <a:sym typeface="Inter" panose="02000503000000020004"/>
                        </a:rPr>
                        <a:t>陈律举</a:t>
                      </a: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25" b="0" i="0" u="none" strike="noStrike" cap="none">
                          <a:solidFill>
                            <a:srgbClr val="0F172A"/>
                          </a:solidFill>
                          <a:latin typeface="Inter" panose="02000503000000020004"/>
                          <a:ea typeface="Inter" panose="02000503000000020004"/>
                          <a:cs typeface="Inter" panose="02000503000000020004"/>
                          <a:sym typeface="Inter" panose="02000503000000020004"/>
                        </a:rPr>
                        <a:t>图形化重构 / UI 交付</a:t>
                      </a: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25" b="0" i="0" u="none" strike="noStrike" cap="none">
                          <a:solidFill>
                            <a:srgbClr val="0F172A"/>
                          </a:solidFill>
                          <a:latin typeface="Inter" panose="02000503000000020004"/>
                          <a:ea typeface="Inter" panose="02000503000000020004"/>
                          <a:cs typeface="Inter" panose="02000503000000020004"/>
                          <a:sym typeface="Inter" panose="02000503000000020004"/>
                        </a:rPr>
                        <a:t>主导接入 Qt6 框架、设计 QGraphicsView 跑图逻辑、完成键鼠事件拦截与无卡顿重构。</a:t>
                      </a: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25" b="0" i="0" u="none" strike="noStrike" cap="none">
                          <a:solidFill>
                            <a:srgbClr val="0F172A"/>
                          </a:solidFill>
                          <a:latin typeface="Inter" panose="02000503000000020004"/>
                          <a:ea typeface="Inter" panose="02000503000000020004"/>
                          <a:cs typeface="Inter" panose="02000503000000020004"/>
                          <a:sym typeface="Inter" panose="02000503000000020004"/>
                        </a:rPr>
                        <a:t>已完成</a:t>
                      </a: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724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25" b="1" i="0" u="none" strike="noStrike" cap="none">
                          <a:solidFill>
                            <a:srgbClr val="0F172A"/>
                          </a:solidFill>
                          <a:latin typeface="Inter" panose="02000503000000020004"/>
                          <a:ea typeface="Inter" panose="02000503000000020004"/>
                          <a:cs typeface="Inter" panose="02000503000000020004"/>
                          <a:sym typeface="Inter" panose="02000503000000020004"/>
                        </a:rPr>
                        <a:t>王铭钊</a:t>
                      </a: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25" b="0" i="0" u="none" strike="noStrike" cap="none">
                          <a:solidFill>
                            <a:srgbClr val="0F172A"/>
                          </a:solidFill>
                          <a:latin typeface="Inter" panose="02000503000000020004"/>
                          <a:ea typeface="Inter" panose="02000503000000020004"/>
                          <a:cs typeface="Inter" panose="02000503000000020004"/>
                          <a:sym typeface="Inter" panose="02000503000000020004"/>
                        </a:rPr>
                        <a:t>文档编写 / 功能测试</a:t>
                      </a: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25" b="0" i="0" u="none" strike="noStrike" cap="none">
                          <a:solidFill>
                            <a:srgbClr val="0F172A"/>
                          </a:solidFill>
                          <a:latin typeface="Inter" panose="02000503000000020004"/>
                          <a:ea typeface="Inter" panose="02000503000000020004"/>
                          <a:cs typeface="Inter" panose="02000503000000020004"/>
                          <a:sym typeface="Inter" panose="02000503000000020004"/>
                        </a:rPr>
                        <a:t>整理全阶段需求与开发白皮书，进行多平台边界测试，建立覆盖核心算法的测试用例集。</a:t>
                      </a: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25" b="0" i="0" u="none" strike="noStrike" cap="none">
                          <a:solidFill>
                            <a:srgbClr val="0F172A"/>
                          </a:solidFill>
                          <a:latin typeface="Inter" panose="02000503000000020004"/>
                          <a:ea typeface="Inter" panose="02000503000000020004"/>
                          <a:cs typeface="Inter" panose="02000503000000020004"/>
                          <a:sym typeface="Inter" panose="02000503000000020004"/>
                        </a:rPr>
                        <a:t>已完成</a:t>
                      </a: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724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25" b="1" i="0" u="none" strike="noStrike" cap="none">
                          <a:solidFill>
                            <a:srgbClr val="0F172A"/>
                          </a:solidFill>
                          <a:latin typeface="Inter" panose="02000503000000020004"/>
                          <a:ea typeface="Inter" panose="02000503000000020004"/>
                          <a:cs typeface="Inter" panose="02000503000000020004"/>
                          <a:sym typeface="Inter" panose="02000503000000020004"/>
                        </a:rPr>
                        <a:t>游云</a:t>
                      </a: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25" b="0" i="0" u="none" strike="noStrike" cap="none">
                          <a:solidFill>
                            <a:srgbClr val="0F172A"/>
                          </a:solidFill>
                          <a:latin typeface="Inter" panose="02000503000000020004"/>
                          <a:ea typeface="Inter" panose="02000503000000020004"/>
                          <a:cs typeface="Inter" panose="02000503000000020004"/>
                          <a:sym typeface="Inter" panose="02000503000000020004"/>
                        </a:rPr>
                        <a:t>美术资产 / 地图与剧情</a:t>
                      </a: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25" b="0" i="0" u="none" strike="noStrike" cap="none">
                          <a:solidFill>
                            <a:srgbClr val="0F172A"/>
                          </a:solidFill>
                          <a:latin typeface="Inter" panose="02000503000000020004"/>
                          <a:ea typeface="Inter" panose="02000503000000020004"/>
                          <a:cs typeface="Inter" panose="02000503000000020004"/>
                          <a:sym typeface="Inter" panose="02000503000000020004"/>
                        </a:rPr>
                        <a:t>完成 2D JSON 格式地图的手工绘制，编写并注入全部校园剧情任务与黑市剧本事件。</a:t>
                      </a: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25" b="0" i="0" u="none" strike="noStrike" cap="none">
                          <a:solidFill>
                            <a:srgbClr val="0F172A"/>
                          </a:solidFill>
                          <a:latin typeface="Inter" panose="02000503000000020004"/>
                          <a:ea typeface="Inter" panose="02000503000000020004"/>
                          <a:cs typeface="Inter" panose="02000503000000020004"/>
                          <a:sym typeface="Inter" panose="02000503000000020004"/>
                        </a:rPr>
                        <a:t>已完成</a:t>
                      </a: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81" name="Google Shape;281;p24"/>
          <p:cNvSpPr/>
          <p:nvPr/>
        </p:nvSpPr>
        <p:spPr>
          <a:xfrm>
            <a:off x="581025" y="2024955"/>
            <a:ext cx="1654373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82" name="Google Shape;282;p24"/>
          <p:cNvSpPr/>
          <p:nvPr/>
        </p:nvSpPr>
        <p:spPr>
          <a:xfrm>
            <a:off x="2235398" y="2024955"/>
            <a:ext cx="220593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83" name="Google Shape;283;p24"/>
          <p:cNvSpPr/>
          <p:nvPr/>
        </p:nvSpPr>
        <p:spPr>
          <a:xfrm>
            <a:off x="4441328" y="2024955"/>
            <a:ext cx="4963417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84" name="Google Shape;284;p24"/>
          <p:cNvSpPr/>
          <p:nvPr/>
        </p:nvSpPr>
        <p:spPr>
          <a:xfrm>
            <a:off x="9404746" y="2024955"/>
            <a:ext cx="2206228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85" name="Google Shape;285;p24"/>
          <p:cNvSpPr/>
          <p:nvPr/>
        </p:nvSpPr>
        <p:spPr>
          <a:xfrm>
            <a:off x="581025" y="2639317"/>
            <a:ext cx="1654373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86" name="Google Shape;286;p24"/>
          <p:cNvSpPr/>
          <p:nvPr/>
        </p:nvSpPr>
        <p:spPr>
          <a:xfrm>
            <a:off x="2235398" y="2639317"/>
            <a:ext cx="220593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87" name="Google Shape;287;p24"/>
          <p:cNvSpPr/>
          <p:nvPr/>
        </p:nvSpPr>
        <p:spPr>
          <a:xfrm>
            <a:off x="4441328" y="2639317"/>
            <a:ext cx="4963417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88" name="Google Shape;288;p24"/>
          <p:cNvSpPr/>
          <p:nvPr/>
        </p:nvSpPr>
        <p:spPr>
          <a:xfrm>
            <a:off x="9404746" y="2639317"/>
            <a:ext cx="2206228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89" name="Google Shape;289;p24"/>
          <p:cNvSpPr/>
          <p:nvPr/>
        </p:nvSpPr>
        <p:spPr>
          <a:xfrm>
            <a:off x="581025" y="3372742"/>
            <a:ext cx="1654373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90" name="Google Shape;290;p24"/>
          <p:cNvSpPr/>
          <p:nvPr/>
        </p:nvSpPr>
        <p:spPr>
          <a:xfrm>
            <a:off x="2235398" y="3372742"/>
            <a:ext cx="220593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91" name="Google Shape;291;p24"/>
          <p:cNvSpPr/>
          <p:nvPr/>
        </p:nvSpPr>
        <p:spPr>
          <a:xfrm>
            <a:off x="4441328" y="3372742"/>
            <a:ext cx="4963417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92" name="Google Shape;292;p24"/>
          <p:cNvSpPr/>
          <p:nvPr/>
        </p:nvSpPr>
        <p:spPr>
          <a:xfrm>
            <a:off x="9404746" y="3372742"/>
            <a:ext cx="2206228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93" name="Google Shape;293;p24"/>
          <p:cNvSpPr/>
          <p:nvPr/>
        </p:nvSpPr>
        <p:spPr>
          <a:xfrm>
            <a:off x="581025" y="4106167"/>
            <a:ext cx="1654373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94" name="Google Shape;294;p24"/>
          <p:cNvSpPr/>
          <p:nvPr/>
        </p:nvSpPr>
        <p:spPr>
          <a:xfrm>
            <a:off x="2235398" y="4106167"/>
            <a:ext cx="220593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95" name="Google Shape;295;p24"/>
          <p:cNvSpPr/>
          <p:nvPr/>
        </p:nvSpPr>
        <p:spPr>
          <a:xfrm>
            <a:off x="4441328" y="4106167"/>
            <a:ext cx="4963417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96" name="Google Shape;296;p24"/>
          <p:cNvSpPr/>
          <p:nvPr/>
        </p:nvSpPr>
        <p:spPr>
          <a:xfrm>
            <a:off x="9404746" y="4106167"/>
            <a:ext cx="2206228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5" name="Google Shape;305;p25" descr="image.png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6" name="Google Shape;306;p25" descr="image.png"/>
          <p:cNvPicPr preferRelativeResize="0"/>
          <p:nvPr/>
        </p:nvPicPr>
        <p:blipFill rotWithShape="1">
          <a:blip r:embed="rId4"/>
          <a:srcRect/>
          <a:stretch>
            <a:fillRect/>
          </a:stretch>
        </p:blipFill>
        <p:spPr>
          <a:xfrm>
            <a:off x="571500" y="1472505"/>
            <a:ext cx="5334000" cy="4909244"/>
          </a:xfrm>
          <a:prstGeom prst="rect">
            <a:avLst/>
          </a:prstGeom>
          <a:noFill/>
          <a:ln>
            <a:noFill/>
          </a:ln>
        </p:spPr>
      </p:pic>
      <p:pic>
        <p:nvPicPr>
          <p:cNvPr id="307" name="Google Shape;307;p25" descr="image.png"/>
          <p:cNvPicPr preferRelativeResize="0"/>
          <p:nvPr/>
        </p:nvPicPr>
        <p:blipFill rotWithShape="1">
          <a:blip r:embed="rId5"/>
          <a:srcRect/>
          <a:stretch>
            <a:fillRect/>
          </a:stretch>
        </p:blipFill>
        <p:spPr>
          <a:xfrm>
            <a:off x="6286500" y="1472505"/>
            <a:ext cx="5334000" cy="4909244"/>
          </a:xfrm>
          <a:prstGeom prst="rect">
            <a:avLst/>
          </a:prstGeom>
          <a:noFill/>
          <a:ln>
            <a:noFill/>
          </a:ln>
        </p:spPr>
      </p:pic>
      <p:sp>
        <p:nvSpPr>
          <p:cNvPr id="308" name="Google Shape;308;p25"/>
          <p:cNvSpPr txBox="1"/>
          <p:nvPr/>
        </p:nvSpPr>
        <p:spPr>
          <a:xfrm>
            <a:off x="714375" y="476250"/>
            <a:ext cx="11451431" cy="434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1" i="0" u="none" strike="noStrike" cap="none">
                <a:solidFill>
                  <a:srgbClr val="1E40A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总结与未来展望</a:t>
            </a:r>
          </a:p>
        </p:txBody>
      </p:sp>
      <p:sp>
        <p:nvSpPr>
          <p:cNvPr id="309" name="Google Shape;309;p25"/>
          <p:cNvSpPr/>
          <p:nvPr/>
        </p:nvSpPr>
        <p:spPr>
          <a:xfrm>
            <a:off x="571500" y="476250"/>
            <a:ext cx="57150" cy="43428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10" name="Google Shape;310;p25"/>
          <p:cNvSpPr txBox="1"/>
          <p:nvPr/>
        </p:nvSpPr>
        <p:spPr>
          <a:xfrm>
            <a:off x="771525" y="967680"/>
            <a:ext cx="10848975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0891B2"/>
                </a:solidFill>
                <a:latin typeface="JetBrains Mono Medium" panose="02000009000000000000"/>
                <a:ea typeface="JetBrains Mono Medium" panose="02000009000000000000"/>
                <a:cs typeface="JetBrains Mono Medium" panose="02000009000000000000"/>
                <a:sym typeface="JetBrains Mono Medium" panose="02000009000000000000"/>
              </a:rPr>
              <a:t>CONCLUSIONS &amp; PROJECT ROADMAP</a:t>
            </a:r>
          </a:p>
        </p:txBody>
      </p:sp>
      <p:sp>
        <p:nvSpPr>
          <p:cNvPr id="311" name="Google Shape;311;p25"/>
          <p:cNvSpPr txBox="1"/>
          <p:nvPr/>
        </p:nvSpPr>
        <p:spPr>
          <a:xfrm>
            <a:off x="1219200" y="1767780"/>
            <a:ext cx="4610576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1E40A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课设攻坚总结</a:t>
            </a:r>
          </a:p>
        </p:txBody>
      </p:sp>
      <p:sp>
        <p:nvSpPr>
          <p:cNvPr id="312" name="Google Shape;312;p25"/>
          <p:cNvSpPr txBox="1"/>
          <p:nvPr/>
        </p:nvSpPr>
        <p:spPr>
          <a:xfrm>
            <a:off x="771525" y="2540843"/>
            <a:ext cx="4743450" cy="2214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 err="1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项目最终顺利交付。通过精益求精的开发实践，本小组成功攻克了</a:t>
            </a:r>
            <a:r>
              <a:rPr lang="en-US" sz="1800" b="1" i="0" u="none" strike="noStrike" cap="none" dirty="0" err="1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“图形化高效重构、多线程异步流控、A</a:t>
            </a:r>
            <a:r>
              <a:rPr lang="en-US" sz="1800" b="1" i="0" u="none" strike="noStrike" cap="none" dirty="0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*</a:t>
            </a:r>
            <a:r>
              <a:rPr lang="en-US" sz="1800" b="1" i="0" u="none" strike="noStrike" cap="none" dirty="0" err="1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寻路高阶STL应用”</a:t>
            </a:r>
            <a:r>
              <a:rPr lang="en-US" sz="1800" b="0" i="0" u="none" strike="noStrike" cap="none" dirty="0" err="1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三大高壁垒课设难关，形成了一套具备极佳可重用性、可读性与模块化的高内聚</a:t>
            </a:r>
            <a:r>
              <a:rPr lang="en-US" sz="1800" b="0" i="0" u="none" strike="noStrike" cap="none" dirty="0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 2D </a:t>
            </a:r>
            <a:r>
              <a:rPr lang="en-US" sz="1800" b="0" i="0" u="none" strike="noStrike" cap="none" dirty="0" err="1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校园游戏底层代码库</a:t>
            </a:r>
            <a:r>
              <a:rPr lang="en-US" sz="1800" b="0" i="0" u="none" strike="noStrike" cap="none" dirty="0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。</a:t>
            </a:r>
            <a:endParaRPr sz="1800" dirty="0"/>
          </a:p>
        </p:txBody>
      </p:sp>
      <p:sp>
        <p:nvSpPr>
          <p:cNvPr id="313" name="Google Shape;313;p25"/>
          <p:cNvSpPr txBox="1"/>
          <p:nvPr/>
        </p:nvSpPr>
        <p:spPr>
          <a:xfrm>
            <a:off x="6905625" y="1767780"/>
            <a:ext cx="464058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1E40A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下一阶段优化蓝图</a:t>
            </a:r>
          </a:p>
        </p:txBody>
      </p:sp>
      <p:sp>
        <p:nvSpPr>
          <p:cNvPr id="314" name="Google Shape;314;p25"/>
          <p:cNvSpPr txBox="1"/>
          <p:nvPr/>
        </p:nvSpPr>
        <p:spPr>
          <a:xfrm>
            <a:off x="6581775" y="2540842"/>
            <a:ext cx="4743450" cy="17773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1. </a:t>
            </a:r>
            <a:r>
              <a:rPr lang="en-US" sz="1800" b="1" i="0" u="none" strike="noStrike" cap="none" dirty="0" err="1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声音引擎：</a:t>
            </a:r>
            <a:r>
              <a:rPr lang="en-US" sz="1800" b="0" i="0" u="none" strike="noStrike" cap="none" dirty="0" err="1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引入多路音频管理器，实现不同场景背景</a:t>
            </a:r>
            <a:r>
              <a:rPr lang="en-US" sz="1800" b="0" i="0" u="none" strike="noStrike" cap="none" dirty="0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 BGM </a:t>
            </a:r>
            <a:r>
              <a:rPr lang="en-US" sz="1800" b="0" i="0" u="none" strike="noStrike" cap="none" dirty="0" err="1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无缝转场及玩家攻击的音效联动</a:t>
            </a:r>
            <a:r>
              <a:rPr lang="en-US" sz="1800" b="0" i="0" u="none" strike="noStrike" cap="none" dirty="0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。</a:t>
            </a:r>
            <a:br>
              <a:rPr lang="en-US" sz="1800" b="0" i="0" u="none" strike="noStrike" cap="none" dirty="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</a:br>
            <a:r>
              <a:rPr lang="en-US" sz="1800" b="1" i="0" u="none" strike="noStrike" cap="none" dirty="0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2. AI </a:t>
            </a:r>
            <a:r>
              <a:rPr lang="en-US" sz="1800" b="1" i="0" u="none" strike="noStrike" cap="none" dirty="0" err="1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与动态剧情：</a:t>
            </a:r>
            <a:r>
              <a:rPr lang="en-US" sz="1800" b="0" i="0" u="none" strike="noStrike" cap="none" dirty="0" err="1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大幅扩展具有行为树属性的智能</a:t>
            </a:r>
            <a:r>
              <a:rPr lang="en-US" sz="1800" b="0" i="0" u="none" strike="noStrike" cap="none" dirty="0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 NPC </a:t>
            </a:r>
            <a:r>
              <a:rPr lang="en-US" sz="1800" b="0" i="0" u="none" strike="noStrike" cap="none" dirty="0" err="1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交互网络，设计更加复杂的校园多线网状支线任务与多元化结局走向</a:t>
            </a:r>
            <a:r>
              <a:rPr lang="en-US" sz="1800" b="0" i="0" u="none" strike="noStrike" cap="none" dirty="0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。</a:t>
            </a:r>
            <a:endParaRPr sz="1800" dirty="0"/>
          </a:p>
        </p:txBody>
      </p:sp>
      <p:pic>
        <p:nvPicPr>
          <p:cNvPr id="315" name="Google Shape;315;p25" descr="image.png"/>
          <p:cNvPicPr preferRelativeResize="0"/>
          <p:nvPr/>
        </p:nvPicPr>
        <p:blipFill rotWithShape="1">
          <a:blip r:embed="rId6"/>
          <a:srcRect/>
          <a:stretch>
            <a:fillRect/>
          </a:stretch>
        </p:blipFill>
        <p:spPr>
          <a:xfrm>
            <a:off x="866775" y="1805880"/>
            <a:ext cx="257175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6" name="Google Shape;316;p25" descr="image.png"/>
          <p:cNvPicPr preferRelativeResize="0"/>
          <p:nvPr/>
        </p:nvPicPr>
        <p:blipFill rotWithShape="1">
          <a:blip r:embed="rId7"/>
          <a:srcRect/>
          <a:stretch>
            <a:fillRect/>
          </a:stretch>
        </p:blipFill>
        <p:spPr>
          <a:xfrm>
            <a:off x="6581775" y="1805880"/>
            <a:ext cx="228600" cy="228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1" name="Google Shape;321;p26" descr="image.png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22" name="Google Shape;322;p26" descr="image.png"/>
          <p:cNvPicPr preferRelativeResize="0"/>
          <p:nvPr/>
        </p:nvPicPr>
        <p:blipFill rotWithShape="1">
          <a:blip r:embed="rId4"/>
          <a:srcRect/>
          <a:stretch>
            <a:fillRect/>
          </a:stretch>
        </p:blipFill>
        <p:spPr>
          <a:xfrm>
            <a:off x="5524500" y="2028825"/>
            <a:ext cx="1143000" cy="38100"/>
          </a:xfrm>
          <a:prstGeom prst="rect">
            <a:avLst/>
          </a:prstGeom>
          <a:noFill/>
          <a:ln>
            <a:noFill/>
          </a:ln>
        </p:spPr>
      </p:pic>
      <p:sp>
        <p:nvSpPr>
          <p:cNvPr id="323" name="Google Shape;323;p26"/>
          <p:cNvSpPr txBox="1"/>
          <p:nvPr/>
        </p:nvSpPr>
        <p:spPr>
          <a:xfrm>
            <a:off x="3215639" y="476250"/>
            <a:ext cx="5760720" cy="828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u="none" strike="noStrike" cap="none">
                <a:solidFill>
                  <a:srgbClr val="1E40AF"/>
                </a:solidFill>
                <a:latin typeface="Comfortaa"/>
                <a:ea typeface="Comfortaa"/>
                <a:cs typeface="Comfortaa"/>
                <a:sym typeface="Comfortaa"/>
              </a:rPr>
              <a:t>感谢聆听，请多指教</a:t>
            </a:r>
          </a:p>
        </p:txBody>
      </p:sp>
      <p:sp>
        <p:nvSpPr>
          <p:cNvPr id="324" name="Google Shape;324;p26"/>
          <p:cNvSpPr txBox="1"/>
          <p:nvPr/>
        </p:nvSpPr>
        <p:spPr>
          <a:xfrm>
            <a:off x="4986337" y="1495425"/>
            <a:ext cx="2219325" cy="247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0891B2"/>
                </a:solidFill>
                <a:latin typeface="Inter Medium" panose="02000503000000020004"/>
                <a:ea typeface="Inter Medium" panose="02000503000000020004"/>
                <a:cs typeface="Inter Medium" panose="02000503000000020004"/>
                <a:sym typeface="Inter Medium" panose="02000503000000020004"/>
              </a:rPr>
              <a:t>Q &amp; A T H A N K Y O U</a:t>
            </a:r>
          </a:p>
        </p:txBody>
      </p:sp>
      <p:sp>
        <p:nvSpPr>
          <p:cNvPr id="325" name="Google Shape;325;p26"/>
          <p:cNvSpPr txBox="1"/>
          <p:nvPr/>
        </p:nvSpPr>
        <p:spPr>
          <a:xfrm>
            <a:off x="3438525" y="2495550"/>
            <a:ext cx="5676265" cy="516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b="0" i="0" u="none" strike="noStrike" cap="none" dirty="0" err="1">
                <a:solidFill>
                  <a:srgbClr val="475569"/>
                </a:solidFill>
                <a:latin typeface="Inter Medium" panose="02000503000000020004"/>
                <a:ea typeface="Inter Medium" panose="02000503000000020004"/>
                <a:cs typeface="Inter Medium" panose="02000503000000020004"/>
                <a:sym typeface="Inter Medium" panose="02000503000000020004"/>
              </a:rPr>
              <a:t>衷心感谢各位评委老师百忙之中的聆听与蒋敏老师的精心指导</a:t>
            </a:r>
            <a:r>
              <a:rPr lang="en-US" b="0" i="0" u="none" strike="noStrike" cap="none" dirty="0">
                <a:solidFill>
                  <a:srgbClr val="475569"/>
                </a:solidFill>
                <a:latin typeface="Inter Medium" panose="02000503000000020004"/>
                <a:ea typeface="Inter Medium" panose="02000503000000020004"/>
                <a:cs typeface="Inter Medium" panose="02000503000000020004"/>
                <a:sym typeface="Inter Medium" panose="02000503000000020004"/>
              </a:rPr>
              <a:t>！</a:t>
            </a:r>
            <a:br>
              <a:rPr lang="en-US" b="0" i="0" u="none" strike="noStrike" cap="none" dirty="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</a:br>
            <a:r>
              <a:rPr lang="en-US" b="0" i="0" u="none" strike="noStrike" cap="none" dirty="0">
                <a:solidFill>
                  <a:srgbClr val="475569"/>
                </a:solidFill>
                <a:latin typeface="Inter Medium" panose="02000503000000020004"/>
                <a:ea typeface="Inter Medium" panose="02000503000000020004"/>
                <a:cs typeface="Inter Medium" panose="02000503000000020004"/>
                <a:sym typeface="Inter Medium" panose="02000503000000020004"/>
              </a:rPr>
              <a:t> </a:t>
            </a:r>
            <a:r>
              <a:rPr lang="en-US" b="0" i="0" u="none" strike="noStrike" cap="none" dirty="0" err="1">
                <a:solidFill>
                  <a:srgbClr val="475569"/>
                </a:solidFill>
                <a:latin typeface="Inter Medium" panose="02000503000000020004"/>
                <a:ea typeface="Inter Medium" panose="02000503000000020004"/>
                <a:cs typeface="Inter Medium" panose="02000503000000020004"/>
                <a:sym typeface="Inter Medium" panose="02000503000000020004"/>
              </a:rPr>
              <a:t>诚挚欢迎各位老师对我们项目不完善之处提出批评、指正与宝贵提问</a:t>
            </a:r>
            <a:r>
              <a:rPr lang="en-US" b="0" i="0" u="none" strike="noStrike" cap="none" dirty="0">
                <a:solidFill>
                  <a:srgbClr val="475569"/>
                </a:solidFill>
                <a:latin typeface="Inter Medium" panose="02000503000000020004"/>
                <a:ea typeface="Inter Medium" panose="02000503000000020004"/>
                <a:cs typeface="Inter Medium" panose="02000503000000020004"/>
                <a:sym typeface="Inter Medium" panose="02000503000000020004"/>
              </a:rPr>
              <a:t>。</a:t>
            </a:r>
          </a:p>
        </p:txBody>
      </p:sp>
      <p:sp>
        <p:nvSpPr>
          <p:cNvPr id="326" name="Google Shape;326;p26"/>
          <p:cNvSpPr txBox="1"/>
          <p:nvPr/>
        </p:nvSpPr>
        <p:spPr>
          <a:xfrm>
            <a:off x="4314825" y="3882390"/>
            <a:ext cx="4273550" cy="2152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0" i="0" u="none" strike="noStrike" cap="none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《校园RPG：大学生存物语》项目开发组 2026年7月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86.5546456692913,&quot;left&quot;:45,&quot;top&quot;:115.94527559055118,&quot;width&quot;:870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86.5546456692913,&quot;left&quot;:45,&quot;top&quot;:115.94527559055118,&quot;width&quot;:870}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86.5546456692913,&quot;left&quot;:45,&quot;top&quot;:115.94527559055118,&quot;width&quot;:870}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86.5546456692913,&quot;left&quot;:45,&quot;top&quot;:115.94527559055118,&quot;width&quot;:870}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86.5546456692913,&quot;left&quot;:45,&quot;top&quot;:115.94527559055118,&quot;width&quot;:870}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86.5546456692913,&quot;left&quot;:45,&quot;top&quot;:115.94527559055118,&quot;width&quot;:870}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86.5546456692913,&quot;left&quot;:45,&quot;top&quot;:115.94527559055118,&quot;width&quot;:870}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86.5546456692913,&quot;left&quot;:45,&quot;top&quot;:115.94527559055118,&quot;width&quot;:870}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67.25,&quot;left&quot;:45,&quot;top&quot;:115.94527559055118,&quot;width&quot;:870}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67.25,&quot;left&quot;:45,&quot;top&quot;:115.94527559055118,&quot;width&quot;:870}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67.25,&quot;left&quot;:45,&quot;top&quot;:115.94527559055118,&quot;width&quot;:870}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67.25,&quot;left&quot;:45,&quot;top&quot;:115.94527559055118,&quot;width&quot;:870}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67.25,&quot;left&quot;:45,&quot;top&quot;:115.94527559055118,&quot;width&quot;:870}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67.25,&quot;left&quot;:45,&quot;top&quot;:115.94527559055118,&quot;width&quot;:870}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67.25,&quot;left&quot;:45,&quot;top&quot;:115.94527559055118,&quot;width&quot;:870}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67.25,&quot;left&quot;:45,&quot;top&quot;:115.94527559055118,&quot;width&quot;:870}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67.25,&quot;left&quot;:45,&quot;top&quot;:115.94527559055118,&quot;width&quot;:870}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67.25,&quot;left&quot;:45,&quot;top&quot;:115.94527559055118,&quot;width&quot;:870}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67.25,&quot;left&quot;:45,&quot;top&quot;:115.94527559055118,&quot;width&quot;:870}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1.25,&quot;left&quot;:45,&quot;top&quot;:115.94527559055118,&quot;width&quot;:870}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1.25,&quot;left&quot;:45,&quot;top&quot;:115.94527559055118,&quot;width&quot;:870}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1.25,&quot;left&quot;:45,&quot;top&quot;:115.94527559055118,&quot;width&quot;:870}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1.25,&quot;left&quot;:45,&quot;top&quot;:115.94527559055118,&quot;width&quot;:870}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1.25,&quot;left&quot;:45,&quot;top&quot;:115.94527559055118,&quot;width&quot;:870}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1.25,&quot;left&quot;:45,&quot;top&quot;:115.94527559055118,&quot;width&quot;:870}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1.25,&quot;left&quot;:45,&quot;top&quot;:115.94527559055118,&quot;width&quot;:870}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1.25,&quot;left&quot;:45,&quot;top&quot;:115.94527559055118,&quot;width&quot;:870}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1.25,&quot;left&quot;:45,&quot;top&quot;:115.94527559055118,&quot;width&quot;:870}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1.25,&quot;left&quot;:45,&quot;top&quot;:115.94527559055118,&quot;width&quot;:870}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1.25,&quot;left&quot;:45,&quot;top&quot;:115.94527559055118,&quot;width&quot;:870}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1.25,&quot;left&quot;:45,&quot;top&quot;:115.94527559055118,&quot;width&quot;:870}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87.2734645669292,&quot;left&quot;:45,&quot;top&quot;:115.94527559055118,&quot;width&quot;:870}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87.2734645669292,&quot;left&quot;:45,&quot;top&quot;:115.94527559055118,&quot;width&quot;:870}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87.2734645669292,&quot;left&quot;:45,&quot;top&quot;:115.94527559055118,&quot;width&quot;:870}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87.2734645669292,&quot;left&quot;:45,&quot;top&quot;:115.94527559055118,&quot;width&quot;:870}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87.2734645669292,&quot;left&quot;:45,&quot;top&quot;:115.94527559055118,&quot;width&quot;:870}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87.2734645669292,&quot;left&quot;:45,&quot;top&quot;:115.94527559055118,&quot;width&quot;:870}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87.2734645669292,&quot;left&quot;:45,&quot;top&quot;:115.94527559055118,&quot;width&quot;:870}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87.2734645669292,&quot;left&quot;:45,&quot;top&quot;:115.94527559055118,&quot;width&quot;:870}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87.2734645669292,&quot;left&quot;:45,&quot;top&quot;:115.94527559055118,&quot;width&quot;:870}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87.2734645669292,&quot;left&quot;:45,&quot;top&quot;:115.94527559055118,&quot;width&quot;:870}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41.93984251968504,&quot;left&quot;:45,&quot;top&quot;:115.94527559055118,&quot;width&quot;:870}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41.93984251968504,&quot;left&quot;:45,&quot;top&quot;:115.94527559055118,&quot;width&quot;:870}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41.93984251968504,&quot;left&quot;:45,&quot;top&quot;:115.94527559055118,&quot;width&quot;:870}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41.93984251968504,&quot;left&quot;:45,&quot;top&quot;:115.94527559055118,&quot;width&quot;:870}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41.93984251968504,&quot;left&quot;:45,&quot;top&quot;:115.94527559055118,&quot;width&quot;:870}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41.93984251968504,&quot;left&quot;:45,&quot;top&quot;:115.94527559055118,&quot;width&quot;:870}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41.93984251968504,&quot;left&quot;:45,&quot;top&quot;:115.94527559055118,&quot;width&quot;:870}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41.93984251968504,&quot;left&quot;:45,&quot;top&quot;:115.94527559055118,&quot;width&quot;:870}"/>
</p:tagLst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1748</Words>
  <Application>Microsoft Macintosh PowerPoint</Application>
  <PresentationFormat>宽屏</PresentationFormat>
  <Paragraphs>149</Paragraphs>
  <Slides>14</Slides>
  <Notes>14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14</vt:i4>
      </vt:variant>
    </vt:vector>
  </HeadingPairs>
  <TitlesOfParts>
    <vt:vector size="22" baseType="lpstr">
      <vt:lpstr>Inter</vt:lpstr>
      <vt:lpstr>黑体</vt:lpstr>
      <vt:lpstr>Inter Medium</vt:lpstr>
      <vt:lpstr>JetBrains Mono Medium</vt:lpstr>
      <vt:lpstr>Arial</vt:lpstr>
      <vt:lpstr>Comfortaa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LuQie</cp:lastModifiedBy>
  <cp:revision>28</cp:revision>
  <dcterms:created xsi:type="dcterms:W3CDTF">2026-07-15T11:23:59Z</dcterms:created>
  <dcterms:modified xsi:type="dcterms:W3CDTF">2026-07-15T15:09:21Z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2052-12.1.0.26895</vt:lpwstr>
  </property>
  <property fmtid="{D5CDD505-2E9C-101B-9397-08002B2CF9AE}" pid="3" name="ICV">
    <vt:lpwstr>3FBFC04D36D7485D8571030B580D048E_12</vt:lpwstr>
  </property>
</Properties>
</file>