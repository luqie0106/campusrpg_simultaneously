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JetBrains Mono Medium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79CC66-B2EF-4C60-BFF7-A1B67CE13D10}">
  <a:tblStyle styleId="{4579CC66-B2EF-4C60-BFF7-A1B67CE13D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JetBrainsMonoMedium-italic.fntdata"/><Relationship Id="rId27" Type="http://schemas.openxmlformats.org/officeDocument/2006/relationships/font" Target="fonts/JetBrainsMono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35" Type="http://schemas.openxmlformats.org/officeDocument/2006/relationships/font" Target="fonts/Comfortaa-bold.fntdata"/><Relationship Id="rId12" Type="http://schemas.openxmlformats.org/officeDocument/2006/relationships/slide" Target="slides/slide6.xml"/><Relationship Id="rId34" Type="http://schemas.openxmlformats.org/officeDocument/2006/relationships/font" Target="fonts/Comfortaa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4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10" Type="http://schemas.openxmlformats.org/officeDocument/2006/relationships/image" Target="../media/image58.png"/><Relationship Id="rId9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38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5133975"/>
            <a:ext cx="8572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8562" y="2790825"/>
            <a:ext cx="47148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95487" y="1771650"/>
            <a:ext cx="820102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40AF"/>
                </a:solidFill>
                <a:latin typeface="Comfortaa"/>
                <a:ea typeface="Comfortaa"/>
                <a:cs typeface="Comfortaa"/>
                <a:sym typeface="Comfortaa"/>
              </a:rPr>
              <a:t>《校园RPG：</a:t>
            </a:r>
            <a:r>
              <a:rPr b="1" i="0" lang="en-US" sz="4800" u="none" cap="none" strike="noStrike">
                <a:solidFill>
                  <a:srgbClr val="06B6D4"/>
                </a:solidFill>
                <a:latin typeface="Comfortaa"/>
                <a:ea typeface="Comfortaa"/>
                <a:cs typeface="Comfortaa"/>
                <a:sym typeface="Comfortaa"/>
              </a:rPr>
              <a:t>大学生存物语</a:t>
            </a:r>
            <a:r>
              <a:rPr b="1" i="0" lang="en-US" sz="4800" u="none" cap="none" strike="noStrike">
                <a:solidFill>
                  <a:srgbClr val="1E40AF"/>
                </a:solidFill>
                <a:latin typeface="Comfortaa"/>
                <a:ea typeface="Comfortaa"/>
                <a:cs typeface="Comfortaa"/>
                <a:sym typeface="Comfortaa"/>
              </a:rPr>
              <a:t>》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09775" y="5334000"/>
            <a:ext cx="19002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答辩汇报人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陆辰睿 (组长)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00512" y="5334000"/>
            <a:ext cx="19002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课程名称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C++面向对象程序设计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0" y="5334000"/>
            <a:ext cx="19002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指导教师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蒋敏 老师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81987" y="5334000"/>
            <a:ext cx="19002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汇报日期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2026年7月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项目初衷与重构蜕变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FROM CONSOLE TO MODERN GRAPHICS GUI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47775" y="1767780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项目背景与题材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5355133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本作是一款极具校园情怀与代入感的 RPG 生存游戏。玩家将扮演在校大学生，真实体验涵盖“排课、考评、消费、生存”的多重日常。精心模拟的多样校园生活机制，极大增强了游戏的沉浸感与真实性。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05625" y="1767780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图形重构与跃迁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5111353"/>
            <a:ext cx="4743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项目设计之初为基于纯控制台的黑框字符游戏，后经联合技术攻坚，平滑升级为基于 Qt6 框架的高性能 2D 像素俯视角图形系统。底层不仅深度体现了 C++ 的三大支柱（封装、继承、多态），且做到了业务逻辑的完全复用。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588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0588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1382" y="2117377"/>
            <a:ext cx="484911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游戏特色与核心玩法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IMMERSIVE CAMPUS EXPLORATION GAMEPLAY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0432" y="2136427"/>
            <a:ext cx="4811017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04875" y="2798415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自由跑图系统：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支持 WASD 极速响应，通过自研定时器融合键盘事件拦截，实现 60FPS 顺滑的地图探索与场景无缝切换。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3398490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真实昼夜交替：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后台独立时钟推进机制。昼夜光影效果和 NPC 行为随系统时间动态更新。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3998565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双态经济结构：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白天小卖部出售标准的补血、增益装备；深夜触发地下“暗影黑市”，解锁绝版隐藏道具。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4598640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硬核回合战斗：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基于轻量状态机的行为判定，集成装备道具实时响应与数值成长算法。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2222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2230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2237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3524250" cy="3243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72505"/>
            <a:ext cx="3524250" cy="3243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472505"/>
            <a:ext cx="3524250" cy="32431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MVC 彻底解耦的底层架构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ARCHITECTURE: DECOUPLING MODEL, VIEW AND CONTROLLER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3075012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19150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Model (数据模型层)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2682180"/>
            <a:ext cx="30289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由 GameEngine 及纯业务逻辑类（Player、Map、Clock 等）组成。独立编译，内部不引入任何界面组件代码，做到彻底的数据逻辑内聚。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343400" y="3075012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581525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View (图形渲染层)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581525" y="2682180"/>
            <a:ext cx="30289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基于 Qt6 Graphics View 框架。由 QGraphicsScene 对瓦片、障碍物、玩家进行坐标映射与高性能绘制，完全通过信号槽接收数据变化。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8105775" y="3075012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8343900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Controller (控制调度)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43900" y="2682180"/>
            <a:ext cx="30289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封装键鼠硬件操作，实现状态判定。将用户交互转化为事件指令传入核心模型，同时起到逻辑响应主线程的分发媒介作用。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559623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057275" y="5572422"/>
            <a:ext cx="714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解耦优势：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4873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1525" y="1748730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14375" y="476250"/>
            <a:ext cx="54006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2D 瓦片地图与物理防穿模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967680"/>
            <a:ext cx="5086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MAP RENDERING &amp; COLLISION SYSTEM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2906166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数据驱动解析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3344316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通过独立开发的地图加载器，代码可动态解析外部 JSON 瓦片文件，将贴图图块信息映射至二维网格。极大地增强了后续扩展新地图关卡的便捷性。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4022377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高效防穿模机制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4460527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抛弃粗暴的坐标硬编码判定，利用 QGraphicsItem 的 Bounding Rect（包围盒）计算建立物理障碍物阻挡层，完美防御角色意外越界的恶性 Bug。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34741"/>
            <a:ext cx="20002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0952"/>
            <a:ext cx="15240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3524250" cy="3136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72505"/>
            <a:ext cx="3524250" cy="3136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472505"/>
            <a:ext cx="3524250" cy="3136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动态时钟驱动的校园环境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TIME TICK ENGINE &amp; DAY-NIGHT SYSTEMS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3021657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819150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时钟驱动引擎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19150" y="2682180"/>
            <a:ext cx="30289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采用高性能独立后台进程控制游戏时间的流转，精准划分早、中、晚三个核心战略阶段，为全天候任务逻辑提供确定性时钟源。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343400" y="3021657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581525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日间小卖部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581525" y="2682180"/>
            <a:ext cx="30289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提供合规的补血、复活道具与常规装备购买通道。玩家可在日间整理行囊，通过合理的金币消费规划后续行动。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8105775" y="3021657"/>
            <a:ext cx="35052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8343900" y="2282130"/>
            <a:ext cx="31803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深夜秘密黑市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343900" y="2682180"/>
            <a:ext cx="30289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触发极高性价比的珍惜黑市交易。额外添加“宵禁强制驱逐”机制，如玩家强行逗留会触发惩罚事件，大幅提升游戏策略纵深。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554295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057275" y="5519142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底层防冲突：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4873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1525" y="174873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43900" y="1748730"/>
            <a:ext cx="2286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面向对象：角色与背包系统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OOP BEST PRACTICES: INHERITANCE AND POLYMORPHISM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247775" y="1767780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角色属性高度封装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5355133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抽象统一的 Character 实体类，集成生命值（HP）、攻击力（ATK）、精力与防御等丰富属性，并在内部进行属性值变动安全阈值的边界限制，向外只暴露纯净的 API 接口。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905625" y="1767780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继承与多态的实战典范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81775" y="5111353"/>
            <a:ext cx="4743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构建抽象基类 Item，衍生派生出 Weapon (武器)、Consumable (消耗品) 等。背包统一采用 std::vector&gt; 管理，在玩家使用特定道具时利用虚函数机制（Polymorphism）在运行期动态判定具体的属性变更效果，极大精简了条件分支判断代码。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588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0588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6515"/>
            <a:ext cx="42291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3987" y="3227040"/>
            <a:ext cx="252412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面向对象的战斗引擎判定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STATE MACHINE DRIVEN COMBAT SYSTEM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2019300" y="4370040"/>
            <a:ext cx="1333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状态机控制判定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610225" y="3098452"/>
            <a:ext cx="6010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回合转换状态机：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采用经典状态模式设计战斗流程，统合玩家阶段、计算阶段、怪物阶段及结算状态，结构边界极佳。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610225" y="3698527"/>
            <a:ext cx="6010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精确伤害计算：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伤害 = 攻击力 * (1 - 减伤比率)，并加入暴击及特殊反击逻辑判定，使得攻守过程富有战术变化。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610225" y="4298602"/>
            <a:ext cx="6010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多态优先级调度：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特殊道具在战斗轮次中具有高优先权（先手使用治愈），而受控负面状态（如瘫痪、冰冻）则会静止相应回合的判定。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6850" y="3122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6850" y="4322415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核心挑战：图形界面的全面升级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CHALLENGE I: COMMAND LINE RESTRUCTURING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162050" y="1767780"/>
            <a:ext cx="46705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1. 业务逻辑“零创伤”迁徙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66775" y="5355133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在原有纯黑框字符版业务代码毫不知情的情况下，将其整体打包内嵌至 Qt6 视口视图架构中。在视图刷新阶段通过映射指针直接提取数据源渲染图元，完美规避重写旧逻辑的巨大工作量。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877050" y="1767780"/>
            <a:ext cx="46705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2. 彻底解决按键迟滞卡顿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581775" y="5111353"/>
            <a:ext cx="4743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原生的键盘响应常伴随首字卡顿，项目创造性地采用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“按键信号拦截器 + 状态机记录 + 16ms 频率定时器轮询”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的技术方案。该底层改造可顺畅处理斜向同按在内的复杂手柄化按键组合，将玩家行走操纵帧率直接抬升到丝滑的 60FPS 水准。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588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0588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核心挑战：多线程与异步调度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CHALLENGE II: ASYNCHRONOUS MULTI-THREADING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90625" y="1767780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界面主渲染线程完全解放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5355133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高负荷的后台磁盘数据加载（如新区域地图载入）及非即时运算均通过 QThread 派发到后台专属计算线程执行，确保游戏在前台跑图时没有任何卡顿感。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934200" y="1767780"/>
            <a:ext cx="46105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平滑的黑屏淡入淡出动画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581775" y="5355133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切换地图时，利用后台计算线程的时间计数周期，控制 UI 遮罩的 alpha 透明度从 0 渐进累加到 255。这种异步时间线控制方式优雅实现了老一代 RPG 经典的渐变过场效果。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588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05880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1382" y="2117377"/>
            <a:ext cx="484911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STL 高阶应用与 A* 寻路算法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CHALLENGE III: STL INTEGRATION &amp; A-STAR ALGORITHM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2650777"/>
            <a:ext cx="581888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为了让怪物行为更有拟真智慧，告别僵硬的直线和障碍卡死，我们实现了经典的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A* 启发式搜索寻路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。在实现过程中，我们重度依赖了 C++ 标准模板库（STL）的高级特性：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0432" y="2136427"/>
            <a:ext cx="4811017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904875" y="3317527"/>
            <a:ext cx="548550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std::priority_queue：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用于存储待拓展的 Open List，以代价评估公式 自动从小到大重载排序，从而以 O(1) 的时间开销获取最优下步节点。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04875" y="4146202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std::unordered_set / map：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Closed List 采用无序哈希结构进行节点状态记录及溯源回溯，实现 O(1) 的超高历史路径查找过滤效率。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04875" y="4746277"/>
            <a:ext cx="54855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std::vector：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从终点回溯父节点生成的坐标点存放在向量中，并反转回正后由角色作为移动路径队列平滑驶入。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3603277"/>
            <a:ext cx="158457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4134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70015"/>
            <a:ext cx="161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77009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11049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高效的模块化团队协作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TEAM ROLES AND COLLABORATIVE WORKFLOW</a:t>
            </a:r>
            <a:endParaRPr/>
          </a:p>
        </p:txBody>
      </p:sp>
      <p:graphicFrame>
        <p:nvGraphicFramePr>
          <p:cNvPr id="280" name="Google Shape;280;p24"/>
          <p:cNvGraphicFramePr/>
          <p:nvPr/>
        </p:nvGraphicFramePr>
        <p:xfrm>
          <a:off x="581025" y="1482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{4579CC66-B2EF-4C60-BFF7-A1B67CE13D10}</a:tableStyleId>
              </a:tblPr>
              <a:tblGrid>
                <a:gridCol w="1654375"/>
                <a:gridCol w="2205925"/>
                <a:gridCol w="4963425"/>
                <a:gridCol w="2206225"/>
              </a:tblGrid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姓名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职责分工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核心贡献与产出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状态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陆辰睿</a:t>
                      </a: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(组长)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架构设计 / 业务逻辑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编写全部基础头文件、定义面向对象基类、打通核心逻辑与数据流。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已完成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陈律举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图形化重构 / UI 交付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主导接入 Qt6 框架、设计 QGraphicsView 跑图逻辑、完成键鼠事件拦截与无卡顿重构。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已完成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王铭钊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文档编写 / 功能测试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整理全阶段需求与开发白皮书，进行多平台边界测试，建立覆盖核心算法的测试用例集。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已完成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游云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美术资产 / 地图与剧情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完成 2D JSON 格式地图的手工绘制，编写并注入全部校园剧情任务与黑市剧本事件。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已完成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4"/>
          <p:cNvSpPr/>
          <p:nvPr/>
        </p:nvSpPr>
        <p:spPr>
          <a:xfrm>
            <a:off x="581025" y="2024955"/>
            <a:ext cx="16543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2235398" y="2024955"/>
            <a:ext cx="22059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441328" y="2024955"/>
            <a:ext cx="49634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9404746" y="2024955"/>
            <a:ext cx="220622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81025" y="263931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2235398" y="263931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441328" y="2639317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9404746" y="2639317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581025" y="337274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2235398" y="337274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441328" y="3372742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9404746" y="3372742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81025" y="410616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2235398" y="410616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441328" y="4106167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9404746" y="4106167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3346" y="2224980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3346" y="2891730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3346" y="362515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3346" y="4358580"/>
            <a:ext cx="5619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72505"/>
            <a:ext cx="5334000" cy="490924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总结与未来展望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771525" y="967680"/>
            <a:ext cx="10848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891B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CONCLUSIONS &amp; PROJECT ROADMAP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219200" y="1767780"/>
            <a:ext cx="46105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课设攻坚总结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66775" y="5111353"/>
            <a:ext cx="4743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项目最终顺利交付。通过精益求精的开发实践，本小组成功攻克了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“图形化高效重构、多线程异步流控、A*寻路高阶STL应用”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三大高壁垒课设难关，形成了一套具备极佳可重用性、可读性与模块化的高内聚 2D 校园游戏底层代码库。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905625" y="1767780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下一阶段优化蓝图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581775" y="5111353"/>
            <a:ext cx="4743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声音引擎：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引入多路音频管理器，实现不同场景背景 BGM 无缝转场及玩家攻击的音效联动。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AI 与动态剧情：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大幅扩展具有行为树属性的智能 NPC 交互网络，设计更加复杂的校园多线网状支线任务与多元化结局走向。</a:t>
            </a:r>
            <a:endParaRPr/>
          </a:p>
        </p:txBody>
      </p:sp>
      <p:pic>
        <p:nvPicPr>
          <p:cNvPr descr="image.png" id="315" name="Google Shape;31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588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0588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2028825"/>
            <a:ext cx="1143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3215639" y="476250"/>
            <a:ext cx="576072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40AF"/>
                </a:solidFill>
                <a:latin typeface="Comfortaa"/>
                <a:ea typeface="Comfortaa"/>
                <a:cs typeface="Comfortaa"/>
                <a:sym typeface="Comfortaa"/>
              </a:rPr>
              <a:t>感谢聆听，请多指教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986337" y="1495425"/>
            <a:ext cx="2219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891B2"/>
                </a:solidFill>
                <a:latin typeface="Inter Medium"/>
                <a:ea typeface="Inter Medium"/>
                <a:cs typeface="Inter Medium"/>
                <a:sym typeface="Inter Medium"/>
              </a:rPr>
              <a:t>Q &amp; A T H A N K Y O U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3438525" y="2495550"/>
            <a:ext cx="5314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衷心感谢各位评委老师百忙之中的聆听与蒋敏老师的精心指导！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诚挚欢迎各位老师对我们项目不完善之处提出批评、指正与宝贵提问。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4314825" y="3520380"/>
            <a:ext cx="3562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《校园RPG：大学生存物语》项目开发组 2026年7月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714375" y="476250"/>
            <a:ext cx="11451431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571500" y="91053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71500" y="1682055"/>
            <a:ext cx="1104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571500" y="16725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71500" y="16725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571500" y="25107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571500" y="25107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0" name="Google Shape;3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53405"/>
            <a:ext cx="9715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1666875" y="1096267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https://img.itch.zone/aW1nLzIzNzcwMTIyLnBuZw==/original/BrwdwH.png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1666875" y="1296292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zedpxl.itch.io</a:t>
            </a:r>
            <a:endParaRPr/>
          </a:p>
        </p:txBody>
      </p:sp>
      <p:pic>
        <p:nvPicPr>
          <p:cNvPr descr="image.png" id="343" name="Google Shape;3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58267"/>
            <a:ext cx="13525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 txBox="1"/>
          <p:nvPr/>
        </p:nvSpPr>
        <p:spPr>
          <a:xfrm>
            <a:off x="1666875" y="1824930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https://i.ytimg.com/vi/3v0QDx4L3No/hq720.jpg?sqp=-oaymwEhCK4FEIIDSFryq4qpAxMIARUAAAAAGAElAADIQj0AgKJD&amp;rs=AOn4CLD3RXi985mKIE7hHJq6RRnOZNgG_A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1666875" y="2177355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www.youtube.com</a:t>
            </a:r>
            <a:endParaRPr/>
          </a:p>
        </p:txBody>
      </p:sp>
      <p:pic>
        <p:nvPicPr>
          <p:cNvPr descr="image.png" id="346" name="Google Shape;34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631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7"/>
          <p:cNvSpPr txBox="1"/>
          <p:nvPr/>
        </p:nvSpPr>
        <p:spPr>
          <a:xfrm>
            <a:off x="1666875" y="270599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https://media.geeksforgeeks.org/wp-content/uploads/a_-search-algorithm-1.png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1666875" y="290601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